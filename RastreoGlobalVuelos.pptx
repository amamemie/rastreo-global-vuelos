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Presentar el proyecto con énfasis en el desafío tecnológico: monitorear miles de aeronaves en tiempo real requiere una arquitectura que ninguna base de datos relacional puede manejar. Esta solución usa Redis para velocidad y MongoDB para profundidad histórica.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Destacar que en logística aérea, cada segundo de latencia impacta directamente en pérdidas millonarias. Los RDBMS tradicionales no están diseñados para ingerir miles de coordenadas GPS por segundo de cientos de aeronaves simultáneas. La rigidez de esquemas también bloquea la integración de nuevos tipos de sensores.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clave de la arquitectura es el patrón SNAPSHOT: Redis actúa como buffer de alta velocidad para el estado vivo de cada aeronave, mientras que un proceso de sincronización periódica consolida esos estados efímeros en documentos históricos inmutables en MongoDB. Esto permite hacer auditorías completas sin jamás impactar el rendimiento del sistema en vivo.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Cada elección tecnológica tiene justificación técnica específica. Python con su ecosistema científico es ideal para el procesamiento de datos masivos. Redis no es un simple cache: sus comandos GEORADIUS y estructuras de datos especializadas lo convierten en el motor perfecto para telemetría. MongoDB con su motor de índices geoespaciales 2dsphere permite queries de proximidad que un SQL convencional no puede hacer eficientemente.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Redis no es solo un cache: el comando GEOADD almacena las coordenadas GPS en una estructura geoespacial optimizada. GEORADIUS permite en milisegundos encontrar todas las aeronaves en un radio dado. El modelo Pub/Sub permite que cuando llega una actualización de OpenSky, múltiples suscriptores reaccionen de forma independiente: la UI se actualiza, el geofencing se evalúa y el snapshot se sincroniza.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flexibilidad de MongoDB es esencial aquí: cada fabricante de sensor IoT tiene un formato diferente. Con un esquema fijo, cada nuevo sensor requeriría una migración costosa. Con MongoDB, simplemente se agrega el campo. El índice 2dsphere permite hacer la query 'dame todos los aeropuertos a 200km de esta coordenada' en milisegundos, algo imposible de hacer eficientemente en SQL sin extensiones especializadas.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DDD nos permite separar claramente qué parte del sistema se preocupa por la velocidad (Redis) y qué parte por la profundidad histórica (MongoDB). El Contexto de Telemetría es volátil: sus datos desaparecen. El Core Context es el puente que decide cuándo un snapshot merece ser persistido. Este diseño evita el acoplamiento entre velocidad y persistencia.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agregados son la unidad mínima de consistencia en DDD. Solo se puede modificar el interior de un agregado a través de su raíz. Esto es crítico: si se cancela un Manifiesto de Carga, automáticamente todos sus Contenedores actualizan su estado. Si se actualiza la trayectoria de un Vuelo, es siempre a través de la entidad Vuelo, no directamente en los puntos GPS. Esto previene inconsistencias de datos.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esta slide se puede hacer la demo en vivo: mostrar el dashboard con aeronaves moviendose en el mapa global. Hacer clic en una aeronave para ver su trayectoria histórica en MongoDB. Forzar un desvío de ruta para demostrar el GeofencingAlertService disparando la alerta en tiempo real. El flujo completo de dato: OpenSky → Redis → Pub/Sub → MongoDB → UI toma menos de 100ms.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Cerrar con fuerza: este proyecto no es solo académico, es un blueprint para sistemas de producción real. La combinación de Redis para velocidad extrema, MongoDB para flexibilidad y profundidad, DDD para claridad de dominio, y Docker para portabilidad, crea una arquitectura que puede crecer de cientos a millones de aeronaves rastreadas simultáneamente con cambios mínimos de configuración.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00B4D8"/>
          </a:solidFill>
          <a:ln w="12700">
            <a:solidFill>
              <a:srgbClr val="00B4D8"/>
            </a:solidFill>
            <a:prstDash val="solid"/>
          </a:ln>
        </p:spPr>
      </p:sp>
      <p:sp>
        <p:nvSpPr>
          <p:cNvPr id="3" name="Shape 1"/>
          <p:cNvSpPr/>
          <p:nvPr/>
        </p:nvSpPr>
        <p:spPr>
          <a:xfrm>
            <a:off x="914400" y="182880"/>
            <a:ext cx="45720" cy="45720"/>
          </a:xfrm>
          <a:prstGeom prst="ellipse">
            <a:avLst/>
          </a:prstGeom>
          <a:solidFill>
            <a:srgbClr val="00B4D8">
              <a:alpha val="25000"/>
            </a:srgbClr>
          </a:solidFill>
          <a:ln w="12700">
            <a:solidFill>
              <a:srgbClr val="00B4D8">
                <a:alpha val="25000"/>
              </a:srgbClr>
            </a:solidFill>
            <a:prstDash val="solid"/>
          </a:ln>
        </p:spPr>
      </p:sp>
      <p:sp>
        <p:nvSpPr>
          <p:cNvPr id="4" name="Shape 2"/>
          <p:cNvSpPr/>
          <p:nvPr/>
        </p:nvSpPr>
        <p:spPr>
          <a:xfrm>
            <a:off x="914400" y="1005840"/>
            <a:ext cx="45720" cy="45720"/>
          </a:xfrm>
          <a:prstGeom prst="ellipse">
            <a:avLst/>
          </a:prstGeom>
          <a:solidFill>
            <a:srgbClr val="00B4D8">
              <a:alpha val="25000"/>
            </a:srgbClr>
          </a:solidFill>
          <a:ln w="12700">
            <a:solidFill>
              <a:srgbClr val="00B4D8">
                <a:alpha val="25000"/>
              </a:srgbClr>
            </a:solidFill>
            <a:prstDash val="solid"/>
          </a:ln>
        </p:spPr>
      </p:sp>
      <p:sp>
        <p:nvSpPr>
          <p:cNvPr id="5" name="Shape 3"/>
          <p:cNvSpPr/>
          <p:nvPr/>
        </p:nvSpPr>
        <p:spPr>
          <a:xfrm>
            <a:off x="914400" y="1828800"/>
            <a:ext cx="45720" cy="45720"/>
          </a:xfrm>
          <a:prstGeom prst="ellipse">
            <a:avLst/>
          </a:prstGeom>
          <a:solidFill>
            <a:srgbClr val="00B4D8">
              <a:alpha val="25000"/>
            </a:srgbClr>
          </a:solidFill>
          <a:ln w="12700">
            <a:solidFill>
              <a:srgbClr val="00B4D8">
                <a:alpha val="25000"/>
              </a:srgbClr>
            </a:solidFill>
            <a:prstDash val="solid"/>
          </a:ln>
        </p:spPr>
      </p:sp>
      <p:sp>
        <p:nvSpPr>
          <p:cNvPr id="6" name="Shape 4"/>
          <p:cNvSpPr/>
          <p:nvPr/>
        </p:nvSpPr>
        <p:spPr>
          <a:xfrm>
            <a:off x="914400" y="2651760"/>
            <a:ext cx="45720" cy="45720"/>
          </a:xfrm>
          <a:prstGeom prst="ellipse">
            <a:avLst/>
          </a:prstGeom>
          <a:solidFill>
            <a:srgbClr val="00B4D8">
              <a:alpha val="25000"/>
            </a:srgbClr>
          </a:solidFill>
          <a:ln w="12700">
            <a:solidFill>
              <a:srgbClr val="00B4D8">
                <a:alpha val="25000"/>
              </a:srgbClr>
            </a:solidFill>
            <a:prstDash val="solid"/>
          </a:ln>
        </p:spPr>
      </p:sp>
      <p:sp>
        <p:nvSpPr>
          <p:cNvPr id="7" name="Shape 5"/>
          <p:cNvSpPr/>
          <p:nvPr/>
        </p:nvSpPr>
        <p:spPr>
          <a:xfrm>
            <a:off x="914400" y="3474720"/>
            <a:ext cx="45720" cy="45720"/>
          </a:xfrm>
          <a:prstGeom prst="ellipse">
            <a:avLst/>
          </a:prstGeom>
          <a:solidFill>
            <a:srgbClr val="00B4D8">
              <a:alpha val="25000"/>
            </a:srgbClr>
          </a:solidFill>
          <a:ln w="12700">
            <a:solidFill>
              <a:srgbClr val="00B4D8">
                <a:alpha val="25000"/>
              </a:srgbClr>
            </a:solidFill>
            <a:prstDash val="solid"/>
          </a:ln>
        </p:spPr>
      </p:sp>
      <p:sp>
        <p:nvSpPr>
          <p:cNvPr id="8" name="Shape 6"/>
          <p:cNvSpPr/>
          <p:nvPr/>
        </p:nvSpPr>
        <p:spPr>
          <a:xfrm>
            <a:off x="914400" y="4297680"/>
            <a:ext cx="45720" cy="45720"/>
          </a:xfrm>
          <a:prstGeom prst="ellipse">
            <a:avLst/>
          </a:prstGeom>
          <a:solidFill>
            <a:srgbClr val="00B4D8">
              <a:alpha val="25000"/>
            </a:srgbClr>
          </a:solidFill>
          <a:ln w="12700">
            <a:solidFill>
              <a:srgbClr val="00B4D8">
                <a:alpha val="25000"/>
              </a:srgbClr>
            </a:solidFill>
            <a:prstDash val="solid"/>
          </a:ln>
        </p:spPr>
      </p:sp>
      <p:sp>
        <p:nvSpPr>
          <p:cNvPr id="9" name="Shape 7"/>
          <p:cNvSpPr/>
          <p:nvPr/>
        </p:nvSpPr>
        <p:spPr>
          <a:xfrm>
            <a:off x="1920240" y="182880"/>
            <a:ext cx="45720" cy="45720"/>
          </a:xfrm>
          <a:prstGeom prst="ellipse">
            <a:avLst/>
          </a:prstGeom>
          <a:solidFill>
            <a:srgbClr val="00B4D8">
              <a:alpha val="25000"/>
            </a:srgbClr>
          </a:solidFill>
          <a:ln w="12700">
            <a:solidFill>
              <a:srgbClr val="00B4D8">
                <a:alpha val="25000"/>
              </a:srgbClr>
            </a:solidFill>
            <a:prstDash val="solid"/>
          </a:ln>
        </p:spPr>
      </p:sp>
      <p:sp>
        <p:nvSpPr>
          <p:cNvPr id="10" name="Shape 8"/>
          <p:cNvSpPr/>
          <p:nvPr/>
        </p:nvSpPr>
        <p:spPr>
          <a:xfrm>
            <a:off x="1920240" y="1005840"/>
            <a:ext cx="45720" cy="45720"/>
          </a:xfrm>
          <a:prstGeom prst="ellipse">
            <a:avLst/>
          </a:prstGeom>
          <a:solidFill>
            <a:srgbClr val="00B4D8">
              <a:alpha val="25000"/>
            </a:srgbClr>
          </a:solidFill>
          <a:ln w="12700">
            <a:solidFill>
              <a:srgbClr val="00B4D8">
                <a:alpha val="25000"/>
              </a:srgbClr>
            </a:solidFill>
            <a:prstDash val="solid"/>
          </a:ln>
        </p:spPr>
      </p:sp>
      <p:sp>
        <p:nvSpPr>
          <p:cNvPr id="11" name="Shape 9"/>
          <p:cNvSpPr/>
          <p:nvPr/>
        </p:nvSpPr>
        <p:spPr>
          <a:xfrm>
            <a:off x="1920240" y="1828800"/>
            <a:ext cx="45720" cy="45720"/>
          </a:xfrm>
          <a:prstGeom prst="ellipse">
            <a:avLst/>
          </a:prstGeom>
          <a:solidFill>
            <a:srgbClr val="00B4D8">
              <a:alpha val="25000"/>
            </a:srgbClr>
          </a:solidFill>
          <a:ln w="12700">
            <a:solidFill>
              <a:srgbClr val="00B4D8">
                <a:alpha val="25000"/>
              </a:srgbClr>
            </a:solidFill>
            <a:prstDash val="solid"/>
          </a:ln>
        </p:spPr>
      </p:sp>
      <p:sp>
        <p:nvSpPr>
          <p:cNvPr id="12" name="Shape 10"/>
          <p:cNvSpPr/>
          <p:nvPr/>
        </p:nvSpPr>
        <p:spPr>
          <a:xfrm>
            <a:off x="1920240" y="2651760"/>
            <a:ext cx="45720" cy="45720"/>
          </a:xfrm>
          <a:prstGeom prst="ellipse">
            <a:avLst/>
          </a:prstGeom>
          <a:solidFill>
            <a:srgbClr val="00B4D8">
              <a:alpha val="25000"/>
            </a:srgbClr>
          </a:solidFill>
          <a:ln w="12700">
            <a:solidFill>
              <a:srgbClr val="00B4D8">
                <a:alpha val="25000"/>
              </a:srgbClr>
            </a:solidFill>
            <a:prstDash val="solid"/>
          </a:ln>
        </p:spPr>
      </p:sp>
      <p:sp>
        <p:nvSpPr>
          <p:cNvPr id="13" name="Shape 11"/>
          <p:cNvSpPr/>
          <p:nvPr/>
        </p:nvSpPr>
        <p:spPr>
          <a:xfrm>
            <a:off x="1920240" y="3474720"/>
            <a:ext cx="45720" cy="45720"/>
          </a:xfrm>
          <a:prstGeom prst="ellipse">
            <a:avLst/>
          </a:prstGeom>
          <a:solidFill>
            <a:srgbClr val="00B4D8">
              <a:alpha val="25000"/>
            </a:srgbClr>
          </a:solidFill>
          <a:ln w="12700">
            <a:solidFill>
              <a:srgbClr val="00B4D8">
                <a:alpha val="25000"/>
              </a:srgbClr>
            </a:solidFill>
            <a:prstDash val="solid"/>
          </a:ln>
        </p:spPr>
      </p:sp>
      <p:sp>
        <p:nvSpPr>
          <p:cNvPr id="14" name="Shape 12"/>
          <p:cNvSpPr/>
          <p:nvPr/>
        </p:nvSpPr>
        <p:spPr>
          <a:xfrm>
            <a:off x="1920240" y="4297680"/>
            <a:ext cx="45720" cy="45720"/>
          </a:xfrm>
          <a:prstGeom prst="ellipse">
            <a:avLst/>
          </a:prstGeom>
          <a:solidFill>
            <a:srgbClr val="00B4D8">
              <a:alpha val="25000"/>
            </a:srgbClr>
          </a:solidFill>
          <a:ln w="12700">
            <a:solidFill>
              <a:srgbClr val="00B4D8">
                <a:alpha val="25000"/>
              </a:srgbClr>
            </a:solidFill>
            <a:prstDash val="solid"/>
          </a:ln>
        </p:spPr>
      </p:sp>
      <p:sp>
        <p:nvSpPr>
          <p:cNvPr id="15" name="Shape 13"/>
          <p:cNvSpPr/>
          <p:nvPr/>
        </p:nvSpPr>
        <p:spPr>
          <a:xfrm>
            <a:off x="2926080" y="182880"/>
            <a:ext cx="45720" cy="45720"/>
          </a:xfrm>
          <a:prstGeom prst="ellipse">
            <a:avLst/>
          </a:prstGeom>
          <a:solidFill>
            <a:srgbClr val="00B4D8">
              <a:alpha val="25000"/>
            </a:srgbClr>
          </a:solidFill>
          <a:ln w="12700">
            <a:solidFill>
              <a:srgbClr val="00B4D8">
                <a:alpha val="25000"/>
              </a:srgbClr>
            </a:solidFill>
            <a:prstDash val="solid"/>
          </a:ln>
        </p:spPr>
      </p:sp>
      <p:sp>
        <p:nvSpPr>
          <p:cNvPr id="16" name="Shape 14"/>
          <p:cNvSpPr/>
          <p:nvPr/>
        </p:nvSpPr>
        <p:spPr>
          <a:xfrm>
            <a:off x="2926080" y="1005840"/>
            <a:ext cx="45720" cy="45720"/>
          </a:xfrm>
          <a:prstGeom prst="ellipse">
            <a:avLst/>
          </a:prstGeom>
          <a:solidFill>
            <a:srgbClr val="00B4D8">
              <a:alpha val="25000"/>
            </a:srgbClr>
          </a:solidFill>
          <a:ln w="12700">
            <a:solidFill>
              <a:srgbClr val="00B4D8">
                <a:alpha val="25000"/>
              </a:srgbClr>
            </a:solidFill>
            <a:prstDash val="solid"/>
          </a:ln>
        </p:spPr>
      </p:sp>
      <p:sp>
        <p:nvSpPr>
          <p:cNvPr id="17" name="Shape 15"/>
          <p:cNvSpPr/>
          <p:nvPr/>
        </p:nvSpPr>
        <p:spPr>
          <a:xfrm>
            <a:off x="2926080" y="1828800"/>
            <a:ext cx="45720" cy="45720"/>
          </a:xfrm>
          <a:prstGeom prst="ellipse">
            <a:avLst/>
          </a:prstGeom>
          <a:solidFill>
            <a:srgbClr val="00B4D8">
              <a:alpha val="25000"/>
            </a:srgbClr>
          </a:solidFill>
          <a:ln w="12700">
            <a:solidFill>
              <a:srgbClr val="00B4D8">
                <a:alpha val="25000"/>
              </a:srgbClr>
            </a:solidFill>
            <a:prstDash val="solid"/>
          </a:ln>
        </p:spPr>
      </p:sp>
      <p:sp>
        <p:nvSpPr>
          <p:cNvPr id="18" name="Shape 16"/>
          <p:cNvSpPr/>
          <p:nvPr/>
        </p:nvSpPr>
        <p:spPr>
          <a:xfrm>
            <a:off x="2926080" y="2651760"/>
            <a:ext cx="45720" cy="45720"/>
          </a:xfrm>
          <a:prstGeom prst="ellipse">
            <a:avLst/>
          </a:prstGeom>
          <a:solidFill>
            <a:srgbClr val="00B4D8">
              <a:alpha val="25000"/>
            </a:srgbClr>
          </a:solidFill>
          <a:ln w="12700">
            <a:solidFill>
              <a:srgbClr val="00B4D8">
                <a:alpha val="25000"/>
              </a:srgbClr>
            </a:solidFill>
            <a:prstDash val="solid"/>
          </a:ln>
        </p:spPr>
      </p:sp>
      <p:sp>
        <p:nvSpPr>
          <p:cNvPr id="19" name="Shape 17"/>
          <p:cNvSpPr/>
          <p:nvPr/>
        </p:nvSpPr>
        <p:spPr>
          <a:xfrm>
            <a:off x="2926080" y="3474720"/>
            <a:ext cx="45720" cy="45720"/>
          </a:xfrm>
          <a:prstGeom prst="ellipse">
            <a:avLst/>
          </a:prstGeom>
          <a:solidFill>
            <a:srgbClr val="00B4D8">
              <a:alpha val="25000"/>
            </a:srgbClr>
          </a:solidFill>
          <a:ln w="12700">
            <a:solidFill>
              <a:srgbClr val="00B4D8">
                <a:alpha val="25000"/>
              </a:srgbClr>
            </a:solidFill>
            <a:prstDash val="solid"/>
          </a:ln>
        </p:spPr>
      </p:sp>
      <p:sp>
        <p:nvSpPr>
          <p:cNvPr id="20" name="Shape 18"/>
          <p:cNvSpPr/>
          <p:nvPr/>
        </p:nvSpPr>
        <p:spPr>
          <a:xfrm>
            <a:off x="2926080" y="4297680"/>
            <a:ext cx="45720" cy="45720"/>
          </a:xfrm>
          <a:prstGeom prst="ellipse">
            <a:avLst/>
          </a:prstGeom>
          <a:solidFill>
            <a:srgbClr val="00B4D8">
              <a:alpha val="25000"/>
            </a:srgbClr>
          </a:solidFill>
          <a:ln w="12700">
            <a:solidFill>
              <a:srgbClr val="00B4D8">
                <a:alpha val="25000"/>
              </a:srgbClr>
            </a:solidFill>
            <a:prstDash val="solid"/>
          </a:ln>
        </p:spPr>
      </p:sp>
      <p:sp>
        <p:nvSpPr>
          <p:cNvPr id="21" name="Shape 19"/>
          <p:cNvSpPr/>
          <p:nvPr/>
        </p:nvSpPr>
        <p:spPr>
          <a:xfrm>
            <a:off x="3931920" y="182880"/>
            <a:ext cx="45720" cy="45720"/>
          </a:xfrm>
          <a:prstGeom prst="ellipse">
            <a:avLst/>
          </a:prstGeom>
          <a:solidFill>
            <a:srgbClr val="00B4D8">
              <a:alpha val="25000"/>
            </a:srgbClr>
          </a:solidFill>
          <a:ln w="12700">
            <a:solidFill>
              <a:srgbClr val="00B4D8">
                <a:alpha val="25000"/>
              </a:srgbClr>
            </a:solidFill>
            <a:prstDash val="solid"/>
          </a:ln>
        </p:spPr>
      </p:sp>
      <p:sp>
        <p:nvSpPr>
          <p:cNvPr id="22" name="Shape 20"/>
          <p:cNvSpPr/>
          <p:nvPr/>
        </p:nvSpPr>
        <p:spPr>
          <a:xfrm>
            <a:off x="3931920" y="1005840"/>
            <a:ext cx="45720" cy="45720"/>
          </a:xfrm>
          <a:prstGeom prst="ellipse">
            <a:avLst/>
          </a:prstGeom>
          <a:solidFill>
            <a:srgbClr val="00B4D8">
              <a:alpha val="25000"/>
            </a:srgbClr>
          </a:solidFill>
          <a:ln w="12700">
            <a:solidFill>
              <a:srgbClr val="00B4D8">
                <a:alpha val="25000"/>
              </a:srgbClr>
            </a:solidFill>
            <a:prstDash val="solid"/>
          </a:ln>
        </p:spPr>
      </p:sp>
      <p:sp>
        <p:nvSpPr>
          <p:cNvPr id="23" name="Shape 21"/>
          <p:cNvSpPr/>
          <p:nvPr/>
        </p:nvSpPr>
        <p:spPr>
          <a:xfrm>
            <a:off x="3931920" y="1828800"/>
            <a:ext cx="45720" cy="45720"/>
          </a:xfrm>
          <a:prstGeom prst="ellipse">
            <a:avLst/>
          </a:prstGeom>
          <a:solidFill>
            <a:srgbClr val="00B4D8">
              <a:alpha val="25000"/>
            </a:srgbClr>
          </a:solidFill>
          <a:ln w="12700">
            <a:solidFill>
              <a:srgbClr val="00B4D8">
                <a:alpha val="25000"/>
              </a:srgbClr>
            </a:solidFill>
            <a:prstDash val="solid"/>
          </a:ln>
        </p:spPr>
      </p:sp>
      <p:sp>
        <p:nvSpPr>
          <p:cNvPr id="24" name="Shape 22"/>
          <p:cNvSpPr/>
          <p:nvPr/>
        </p:nvSpPr>
        <p:spPr>
          <a:xfrm>
            <a:off x="3931920" y="2651760"/>
            <a:ext cx="45720" cy="45720"/>
          </a:xfrm>
          <a:prstGeom prst="ellipse">
            <a:avLst/>
          </a:prstGeom>
          <a:solidFill>
            <a:srgbClr val="00B4D8">
              <a:alpha val="25000"/>
            </a:srgbClr>
          </a:solidFill>
          <a:ln w="12700">
            <a:solidFill>
              <a:srgbClr val="00B4D8">
                <a:alpha val="25000"/>
              </a:srgbClr>
            </a:solidFill>
            <a:prstDash val="solid"/>
          </a:ln>
        </p:spPr>
      </p:sp>
      <p:sp>
        <p:nvSpPr>
          <p:cNvPr id="25" name="Shape 23"/>
          <p:cNvSpPr/>
          <p:nvPr/>
        </p:nvSpPr>
        <p:spPr>
          <a:xfrm>
            <a:off x="3931920" y="3474720"/>
            <a:ext cx="45720" cy="45720"/>
          </a:xfrm>
          <a:prstGeom prst="ellipse">
            <a:avLst/>
          </a:prstGeom>
          <a:solidFill>
            <a:srgbClr val="00B4D8">
              <a:alpha val="25000"/>
            </a:srgbClr>
          </a:solidFill>
          <a:ln w="12700">
            <a:solidFill>
              <a:srgbClr val="00B4D8">
                <a:alpha val="25000"/>
              </a:srgbClr>
            </a:solidFill>
            <a:prstDash val="solid"/>
          </a:ln>
        </p:spPr>
      </p:sp>
      <p:sp>
        <p:nvSpPr>
          <p:cNvPr id="26" name="Shape 24"/>
          <p:cNvSpPr/>
          <p:nvPr/>
        </p:nvSpPr>
        <p:spPr>
          <a:xfrm>
            <a:off x="3931920" y="4297680"/>
            <a:ext cx="45720" cy="45720"/>
          </a:xfrm>
          <a:prstGeom prst="ellipse">
            <a:avLst/>
          </a:prstGeom>
          <a:solidFill>
            <a:srgbClr val="00B4D8">
              <a:alpha val="25000"/>
            </a:srgbClr>
          </a:solidFill>
          <a:ln w="12700">
            <a:solidFill>
              <a:srgbClr val="00B4D8">
                <a:alpha val="25000"/>
              </a:srgbClr>
            </a:solidFill>
            <a:prstDash val="solid"/>
          </a:ln>
        </p:spPr>
      </p:sp>
      <p:sp>
        <p:nvSpPr>
          <p:cNvPr id="27" name="Shape 25"/>
          <p:cNvSpPr/>
          <p:nvPr/>
        </p:nvSpPr>
        <p:spPr>
          <a:xfrm>
            <a:off x="4937760" y="182880"/>
            <a:ext cx="45720" cy="45720"/>
          </a:xfrm>
          <a:prstGeom prst="ellipse">
            <a:avLst/>
          </a:prstGeom>
          <a:solidFill>
            <a:srgbClr val="00B4D8">
              <a:alpha val="25000"/>
            </a:srgbClr>
          </a:solidFill>
          <a:ln w="12700">
            <a:solidFill>
              <a:srgbClr val="00B4D8">
                <a:alpha val="25000"/>
              </a:srgbClr>
            </a:solidFill>
            <a:prstDash val="solid"/>
          </a:ln>
        </p:spPr>
      </p:sp>
      <p:sp>
        <p:nvSpPr>
          <p:cNvPr id="28" name="Shape 26"/>
          <p:cNvSpPr/>
          <p:nvPr/>
        </p:nvSpPr>
        <p:spPr>
          <a:xfrm>
            <a:off x="4937760" y="1005840"/>
            <a:ext cx="45720" cy="45720"/>
          </a:xfrm>
          <a:prstGeom prst="ellipse">
            <a:avLst/>
          </a:prstGeom>
          <a:solidFill>
            <a:srgbClr val="00B4D8">
              <a:alpha val="25000"/>
            </a:srgbClr>
          </a:solidFill>
          <a:ln w="12700">
            <a:solidFill>
              <a:srgbClr val="00B4D8">
                <a:alpha val="25000"/>
              </a:srgbClr>
            </a:solidFill>
            <a:prstDash val="solid"/>
          </a:ln>
        </p:spPr>
      </p:sp>
      <p:sp>
        <p:nvSpPr>
          <p:cNvPr id="29" name="Shape 27"/>
          <p:cNvSpPr/>
          <p:nvPr/>
        </p:nvSpPr>
        <p:spPr>
          <a:xfrm>
            <a:off x="4937760" y="1828800"/>
            <a:ext cx="45720" cy="45720"/>
          </a:xfrm>
          <a:prstGeom prst="ellipse">
            <a:avLst/>
          </a:prstGeom>
          <a:solidFill>
            <a:srgbClr val="00B4D8">
              <a:alpha val="25000"/>
            </a:srgbClr>
          </a:solidFill>
          <a:ln w="12700">
            <a:solidFill>
              <a:srgbClr val="00B4D8">
                <a:alpha val="25000"/>
              </a:srgbClr>
            </a:solidFill>
            <a:prstDash val="solid"/>
          </a:ln>
        </p:spPr>
      </p:sp>
      <p:sp>
        <p:nvSpPr>
          <p:cNvPr id="30" name="Shape 28"/>
          <p:cNvSpPr/>
          <p:nvPr/>
        </p:nvSpPr>
        <p:spPr>
          <a:xfrm>
            <a:off x="4937760" y="2651760"/>
            <a:ext cx="45720" cy="45720"/>
          </a:xfrm>
          <a:prstGeom prst="ellipse">
            <a:avLst/>
          </a:prstGeom>
          <a:solidFill>
            <a:srgbClr val="00B4D8">
              <a:alpha val="25000"/>
            </a:srgbClr>
          </a:solidFill>
          <a:ln w="12700">
            <a:solidFill>
              <a:srgbClr val="00B4D8">
                <a:alpha val="25000"/>
              </a:srgbClr>
            </a:solidFill>
            <a:prstDash val="solid"/>
          </a:ln>
        </p:spPr>
      </p:sp>
      <p:sp>
        <p:nvSpPr>
          <p:cNvPr id="31" name="Shape 29"/>
          <p:cNvSpPr/>
          <p:nvPr/>
        </p:nvSpPr>
        <p:spPr>
          <a:xfrm>
            <a:off x="4937760" y="3474720"/>
            <a:ext cx="45720" cy="45720"/>
          </a:xfrm>
          <a:prstGeom prst="ellipse">
            <a:avLst/>
          </a:prstGeom>
          <a:solidFill>
            <a:srgbClr val="00B4D8">
              <a:alpha val="25000"/>
            </a:srgbClr>
          </a:solidFill>
          <a:ln w="12700">
            <a:solidFill>
              <a:srgbClr val="00B4D8">
                <a:alpha val="25000"/>
              </a:srgbClr>
            </a:solidFill>
            <a:prstDash val="solid"/>
          </a:ln>
        </p:spPr>
      </p:sp>
      <p:sp>
        <p:nvSpPr>
          <p:cNvPr id="32" name="Shape 30"/>
          <p:cNvSpPr/>
          <p:nvPr/>
        </p:nvSpPr>
        <p:spPr>
          <a:xfrm>
            <a:off x="4937760" y="4297680"/>
            <a:ext cx="45720" cy="45720"/>
          </a:xfrm>
          <a:prstGeom prst="ellipse">
            <a:avLst/>
          </a:prstGeom>
          <a:solidFill>
            <a:srgbClr val="00B4D8">
              <a:alpha val="25000"/>
            </a:srgbClr>
          </a:solidFill>
          <a:ln w="12700">
            <a:solidFill>
              <a:srgbClr val="00B4D8">
                <a:alpha val="25000"/>
              </a:srgbClr>
            </a:solidFill>
            <a:prstDash val="solid"/>
          </a:ln>
        </p:spPr>
      </p:sp>
      <p:sp>
        <p:nvSpPr>
          <p:cNvPr id="33" name="Shape 31"/>
          <p:cNvSpPr/>
          <p:nvPr/>
        </p:nvSpPr>
        <p:spPr>
          <a:xfrm>
            <a:off x="5943600" y="182880"/>
            <a:ext cx="45720" cy="45720"/>
          </a:xfrm>
          <a:prstGeom prst="ellipse">
            <a:avLst/>
          </a:prstGeom>
          <a:solidFill>
            <a:srgbClr val="00B4D8">
              <a:alpha val="25000"/>
            </a:srgbClr>
          </a:solidFill>
          <a:ln w="12700">
            <a:solidFill>
              <a:srgbClr val="00B4D8">
                <a:alpha val="25000"/>
              </a:srgbClr>
            </a:solidFill>
            <a:prstDash val="solid"/>
          </a:ln>
        </p:spPr>
      </p:sp>
      <p:sp>
        <p:nvSpPr>
          <p:cNvPr id="34" name="Shape 32"/>
          <p:cNvSpPr/>
          <p:nvPr/>
        </p:nvSpPr>
        <p:spPr>
          <a:xfrm>
            <a:off x="5943600" y="1005840"/>
            <a:ext cx="45720" cy="45720"/>
          </a:xfrm>
          <a:prstGeom prst="ellipse">
            <a:avLst/>
          </a:prstGeom>
          <a:solidFill>
            <a:srgbClr val="00B4D8">
              <a:alpha val="25000"/>
            </a:srgbClr>
          </a:solidFill>
          <a:ln w="12700">
            <a:solidFill>
              <a:srgbClr val="00B4D8">
                <a:alpha val="25000"/>
              </a:srgbClr>
            </a:solidFill>
            <a:prstDash val="solid"/>
          </a:ln>
        </p:spPr>
      </p:sp>
      <p:sp>
        <p:nvSpPr>
          <p:cNvPr id="35" name="Shape 33"/>
          <p:cNvSpPr/>
          <p:nvPr/>
        </p:nvSpPr>
        <p:spPr>
          <a:xfrm>
            <a:off x="5943600" y="1828800"/>
            <a:ext cx="45720" cy="45720"/>
          </a:xfrm>
          <a:prstGeom prst="ellipse">
            <a:avLst/>
          </a:prstGeom>
          <a:solidFill>
            <a:srgbClr val="00B4D8">
              <a:alpha val="25000"/>
            </a:srgbClr>
          </a:solidFill>
          <a:ln w="12700">
            <a:solidFill>
              <a:srgbClr val="00B4D8">
                <a:alpha val="25000"/>
              </a:srgbClr>
            </a:solidFill>
            <a:prstDash val="solid"/>
          </a:ln>
        </p:spPr>
      </p:sp>
      <p:sp>
        <p:nvSpPr>
          <p:cNvPr id="36" name="Shape 34"/>
          <p:cNvSpPr/>
          <p:nvPr/>
        </p:nvSpPr>
        <p:spPr>
          <a:xfrm>
            <a:off x="5943600" y="2651760"/>
            <a:ext cx="45720" cy="45720"/>
          </a:xfrm>
          <a:prstGeom prst="ellipse">
            <a:avLst/>
          </a:prstGeom>
          <a:solidFill>
            <a:srgbClr val="00B4D8">
              <a:alpha val="25000"/>
            </a:srgbClr>
          </a:solidFill>
          <a:ln w="12700">
            <a:solidFill>
              <a:srgbClr val="00B4D8">
                <a:alpha val="25000"/>
              </a:srgbClr>
            </a:solidFill>
            <a:prstDash val="solid"/>
          </a:ln>
        </p:spPr>
      </p:sp>
      <p:sp>
        <p:nvSpPr>
          <p:cNvPr id="37" name="Shape 35"/>
          <p:cNvSpPr/>
          <p:nvPr/>
        </p:nvSpPr>
        <p:spPr>
          <a:xfrm>
            <a:off x="5943600" y="3474720"/>
            <a:ext cx="45720" cy="45720"/>
          </a:xfrm>
          <a:prstGeom prst="ellipse">
            <a:avLst/>
          </a:prstGeom>
          <a:solidFill>
            <a:srgbClr val="00B4D8">
              <a:alpha val="25000"/>
            </a:srgbClr>
          </a:solidFill>
          <a:ln w="12700">
            <a:solidFill>
              <a:srgbClr val="00B4D8">
                <a:alpha val="25000"/>
              </a:srgbClr>
            </a:solidFill>
            <a:prstDash val="solid"/>
          </a:ln>
        </p:spPr>
      </p:sp>
      <p:sp>
        <p:nvSpPr>
          <p:cNvPr id="38" name="Shape 36"/>
          <p:cNvSpPr/>
          <p:nvPr/>
        </p:nvSpPr>
        <p:spPr>
          <a:xfrm>
            <a:off x="5943600" y="4297680"/>
            <a:ext cx="45720" cy="45720"/>
          </a:xfrm>
          <a:prstGeom prst="ellipse">
            <a:avLst/>
          </a:prstGeom>
          <a:solidFill>
            <a:srgbClr val="00B4D8">
              <a:alpha val="25000"/>
            </a:srgbClr>
          </a:solidFill>
          <a:ln w="12700">
            <a:solidFill>
              <a:srgbClr val="00B4D8">
                <a:alpha val="25000"/>
              </a:srgbClr>
            </a:solidFill>
            <a:prstDash val="solid"/>
          </a:ln>
        </p:spPr>
      </p:sp>
      <p:sp>
        <p:nvSpPr>
          <p:cNvPr id="39" name="Shape 37"/>
          <p:cNvSpPr/>
          <p:nvPr/>
        </p:nvSpPr>
        <p:spPr>
          <a:xfrm>
            <a:off x="6949440" y="182880"/>
            <a:ext cx="45720" cy="45720"/>
          </a:xfrm>
          <a:prstGeom prst="ellipse">
            <a:avLst/>
          </a:prstGeom>
          <a:solidFill>
            <a:srgbClr val="00B4D8">
              <a:alpha val="25000"/>
            </a:srgbClr>
          </a:solidFill>
          <a:ln w="12700">
            <a:solidFill>
              <a:srgbClr val="00B4D8">
                <a:alpha val="25000"/>
              </a:srgbClr>
            </a:solidFill>
            <a:prstDash val="solid"/>
          </a:ln>
        </p:spPr>
      </p:sp>
      <p:sp>
        <p:nvSpPr>
          <p:cNvPr id="40" name="Shape 38"/>
          <p:cNvSpPr/>
          <p:nvPr/>
        </p:nvSpPr>
        <p:spPr>
          <a:xfrm>
            <a:off x="6949440" y="1005840"/>
            <a:ext cx="45720" cy="45720"/>
          </a:xfrm>
          <a:prstGeom prst="ellipse">
            <a:avLst/>
          </a:prstGeom>
          <a:solidFill>
            <a:srgbClr val="00B4D8">
              <a:alpha val="25000"/>
            </a:srgbClr>
          </a:solidFill>
          <a:ln w="12700">
            <a:solidFill>
              <a:srgbClr val="00B4D8">
                <a:alpha val="25000"/>
              </a:srgbClr>
            </a:solidFill>
            <a:prstDash val="solid"/>
          </a:ln>
        </p:spPr>
      </p:sp>
      <p:sp>
        <p:nvSpPr>
          <p:cNvPr id="41" name="Shape 39"/>
          <p:cNvSpPr/>
          <p:nvPr/>
        </p:nvSpPr>
        <p:spPr>
          <a:xfrm>
            <a:off x="6949440" y="1828800"/>
            <a:ext cx="45720" cy="45720"/>
          </a:xfrm>
          <a:prstGeom prst="ellipse">
            <a:avLst/>
          </a:prstGeom>
          <a:solidFill>
            <a:srgbClr val="00B4D8">
              <a:alpha val="25000"/>
            </a:srgbClr>
          </a:solidFill>
          <a:ln w="12700">
            <a:solidFill>
              <a:srgbClr val="00B4D8">
                <a:alpha val="25000"/>
              </a:srgbClr>
            </a:solidFill>
            <a:prstDash val="solid"/>
          </a:ln>
        </p:spPr>
      </p:sp>
      <p:sp>
        <p:nvSpPr>
          <p:cNvPr id="42" name="Shape 40"/>
          <p:cNvSpPr/>
          <p:nvPr/>
        </p:nvSpPr>
        <p:spPr>
          <a:xfrm>
            <a:off x="6949440" y="2651760"/>
            <a:ext cx="45720" cy="45720"/>
          </a:xfrm>
          <a:prstGeom prst="ellipse">
            <a:avLst/>
          </a:prstGeom>
          <a:solidFill>
            <a:srgbClr val="00B4D8">
              <a:alpha val="25000"/>
            </a:srgbClr>
          </a:solidFill>
          <a:ln w="12700">
            <a:solidFill>
              <a:srgbClr val="00B4D8">
                <a:alpha val="25000"/>
              </a:srgbClr>
            </a:solidFill>
            <a:prstDash val="solid"/>
          </a:ln>
        </p:spPr>
      </p:sp>
      <p:sp>
        <p:nvSpPr>
          <p:cNvPr id="43" name="Shape 41"/>
          <p:cNvSpPr/>
          <p:nvPr/>
        </p:nvSpPr>
        <p:spPr>
          <a:xfrm>
            <a:off x="6949440" y="3474720"/>
            <a:ext cx="45720" cy="45720"/>
          </a:xfrm>
          <a:prstGeom prst="ellipse">
            <a:avLst/>
          </a:prstGeom>
          <a:solidFill>
            <a:srgbClr val="00B4D8">
              <a:alpha val="25000"/>
            </a:srgbClr>
          </a:solidFill>
          <a:ln w="12700">
            <a:solidFill>
              <a:srgbClr val="00B4D8">
                <a:alpha val="25000"/>
              </a:srgbClr>
            </a:solidFill>
            <a:prstDash val="solid"/>
          </a:ln>
        </p:spPr>
      </p:sp>
      <p:sp>
        <p:nvSpPr>
          <p:cNvPr id="44" name="Shape 42"/>
          <p:cNvSpPr/>
          <p:nvPr/>
        </p:nvSpPr>
        <p:spPr>
          <a:xfrm>
            <a:off x="6949440" y="4297680"/>
            <a:ext cx="45720" cy="45720"/>
          </a:xfrm>
          <a:prstGeom prst="ellipse">
            <a:avLst/>
          </a:prstGeom>
          <a:solidFill>
            <a:srgbClr val="00B4D8">
              <a:alpha val="25000"/>
            </a:srgbClr>
          </a:solidFill>
          <a:ln w="12700">
            <a:solidFill>
              <a:srgbClr val="00B4D8">
                <a:alpha val="25000"/>
              </a:srgbClr>
            </a:solidFill>
            <a:prstDash val="solid"/>
          </a:ln>
        </p:spPr>
      </p:sp>
      <p:sp>
        <p:nvSpPr>
          <p:cNvPr id="45" name="Shape 43"/>
          <p:cNvSpPr/>
          <p:nvPr/>
        </p:nvSpPr>
        <p:spPr>
          <a:xfrm>
            <a:off x="7955280" y="182880"/>
            <a:ext cx="45720" cy="45720"/>
          </a:xfrm>
          <a:prstGeom prst="ellipse">
            <a:avLst/>
          </a:prstGeom>
          <a:solidFill>
            <a:srgbClr val="00B4D8">
              <a:alpha val="25000"/>
            </a:srgbClr>
          </a:solidFill>
          <a:ln w="12700">
            <a:solidFill>
              <a:srgbClr val="00B4D8">
                <a:alpha val="25000"/>
              </a:srgbClr>
            </a:solidFill>
            <a:prstDash val="solid"/>
          </a:ln>
        </p:spPr>
      </p:sp>
      <p:sp>
        <p:nvSpPr>
          <p:cNvPr id="46" name="Shape 44"/>
          <p:cNvSpPr/>
          <p:nvPr/>
        </p:nvSpPr>
        <p:spPr>
          <a:xfrm>
            <a:off x="7955280" y="1005840"/>
            <a:ext cx="45720" cy="45720"/>
          </a:xfrm>
          <a:prstGeom prst="ellipse">
            <a:avLst/>
          </a:prstGeom>
          <a:solidFill>
            <a:srgbClr val="00B4D8">
              <a:alpha val="25000"/>
            </a:srgbClr>
          </a:solidFill>
          <a:ln w="12700">
            <a:solidFill>
              <a:srgbClr val="00B4D8">
                <a:alpha val="25000"/>
              </a:srgbClr>
            </a:solidFill>
            <a:prstDash val="solid"/>
          </a:ln>
        </p:spPr>
      </p:sp>
      <p:sp>
        <p:nvSpPr>
          <p:cNvPr id="47" name="Shape 45"/>
          <p:cNvSpPr/>
          <p:nvPr/>
        </p:nvSpPr>
        <p:spPr>
          <a:xfrm>
            <a:off x="7955280" y="1828800"/>
            <a:ext cx="45720" cy="45720"/>
          </a:xfrm>
          <a:prstGeom prst="ellipse">
            <a:avLst/>
          </a:prstGeom>
          <a:solidFill>
            <a:srgbClr val="00B4D8">
              <a:alpha val="25000"/>
            </a:srgbClr>
          </a:solidFill>
          <a:ln w="12700">
            <a:solidFill>
              <a:srgbClr val="00B4D8">
                <a:alpha val="25000"/>
              </a:srgbClr>
            </a:solidFill>
            <a:prstDash val="solid"/>
          </a:ln>
        </p:spPr>
      </p:sp>
      <p:sp>
        <p:nvSpPr>
          <p:cNvPr id="48" name="Shape 46"/>
          <p:cNvSpPr/>
          <p:nvPr/>
        </p:nvSpPr>
        <p:spPr>
          <a:xfrm>
            <a:off x="7955280" y="2651760"/>
            <a:ext cx="45720" cy="45720"/>
          </a:xfrm>
          <a:prstGeom prst="ellipse">
            <a:avLst/>
          </a:prstGeom>
          <a:solidFill>
            <a:srgbClr val="00B4D8">
              <a:alpha val="25000"/>
            </a:srgbClr>
          </a:solidFill>
          <a:ln w="12700">
            <a:solidFill>
              <a:srgbClr val="00B4D8">
                <a:alpha val="25000"/>
              </a:srgbClr>
            </a:solidFill>
            <a:prstDash val="solid"/>
          </a:ln>
        </p:spPr>
      </p:sp>
      <p:sp>
        <p:nvSpPr>
          <p:cNvPr id="49" name="Shape 47"/>
          <p:cNvSpPr/>
          <p:nvPr/>
        </p:nvSpPr>
        <p:spPr>
          <a:xfrm>
            <a:off x="7955280" y="3474720"/>
            <a:ext cx="45720" cy="45720"/>
          </a:xfrm>
          <a:prstGeom prst="ellipse">
            <a:avLst/>
          </a:prstGeom>
          <a:solidFill>
            <a:srgbClr val="00B4D8">
              <a:alpha val="25000"/>
            </a:srgbClr>
          </a:solidFill>
          <a:ln w="12700">
            <a:solidFill>
              <a:srgbClr val="00B4D8">
                <a:alpha val="25000"/>
              </a:srgbClr>
            </a:solidFill>
            <a:prstDash val="solid"/>
          </a:ln>
        </p:spPr>
      </p:sp>
      <p:sp>
        <p:nvSpPr>
          <p:cNvPr id="50" name="Shape 48"/>
          <p:cNvSpPr/>
          <p:nvPr/>
        </p:nvSpPr>
        <p:spPr>
          <a:xfrm>
            <a:off x="7955280" y="4297680"/>
            <a:ext cx="45720" cy="45720"/>
          </a:xfrm>
          <a:prstGeom prst="ellipse">
            <a:avLst/>
          </a:prstGeom>
          <a:solidFill>
            <a:srgbClr val="00B4D8">
              <a:alpha val="25000"/>
            </a:srgbClr>
          </a:solidFill>
          <a:ln w="12700">
            <a:solidFill>
              <a:srgbClr val="00B4D8">
                <a:alpha val="25000"/>
              </a:srgbClr>
            </a:solidFill>
            <a:prstDash val="solid"/>
          </a:ln>
        </p:spPr>
      </p:sp>
      <p:sp>
        <p:nvSpPr>
          <p:cNvPr id="51" name="Text 49"/>
          <p:cNvSpPr/>
          <p:nvPr/>
        </p:nvSpPr>
        <p:spPr>
          <a:xfrm>
            <a:off x="274320" y="1005840"/>
            <a:ext cx="8595360" cy="822960"/>
          </a:xfrm>
          <a:prstGeom prst="rect">
            <a:avLst/>
          </a:prstGeom>
          <a:noFill/>
          <a:ln/>
        </p:spPr>
        <p:txBody>
          <a:bodyPr wrap="square" rtlCol="0" anchor="ctr"/>
          <a:lstStyle/>
          <a:p>
            <a:pPr algn="ctr" indent="0" marL="0">
              <a:buNone/>
            </a:pPr>
            <a:r>
              <a:rPr lang="en-US" sz="3800" b="1" spc="200" kern="0" dirty="0">
                <a:solidFill>
                  <a:srgbClr val="FFFFFF"/>
                </a:solidFill>
                <a:latin typeface="Calibri" pitchFamily="34" charset="0"/>
                <a:ea typeface="Calibri" pitchFamily="34" charset="-122"/>
                <a:cs typeface="Calibri" pitchFamily="34" charset="-120"/>
              </a:rPr>
              <a:t>RASTREO GLOBAL DE VUELOS</a:t>
            </a:r>
            <a:endParaRPr lang="en-US" sz="3800" dirty="0"/>
          </a:p>
        </p:txBody>
      </p:sp>
      <p:sp>
        <p:nvSpPr>
          <p:cNvPr id="52" name="Text 50"/>
          <p:cNvSpPr/>
          <p:nvPr/>
        </p:nvSpPr>
        <p:spPr>
          <a:xfrm>
            <a:off x="274320" y="1783080"/>
            <a:ext cx="8595360" cy="685800"/>
          </a:xfrm>
          <a:prstGeom prst="rect">
            <a:avLst/>
          </a:prstGeom>
          <a:noFill/>
          <a:ln/>
        </p:spPr>
        <p:txBody>
          <a:bodyPr wrap="square" rtlCol="0" anchor="ctr"/>
          <a:lstStyle/>
          <a:p>
            <a:pPr algn="ctr" indent="0" marL="0">
              <a:buNone/>
            </a:pPr>
            <a:r>
              <a:rPr lang="en-US" sz="3200" b="1" spc="200" kern="0" dirty="0">
                <a:solidFill>
                  <a:srgbClr val="00B4D8"/>
                </a:solidFill>
                <a:latin typeface="Calibri" pitchFamily="34" charset="0"/>
                <a:ea typeface="Calibri" pitchFamily="34" charset="-122"/>
                <a:cs typeface="Calibri" pitchFamily="34" charset="-120"/>
              </a:rPr>
              <a:t>Y LOGÍSTICA EN TIEMPO REAL</a:t>
            </a:r>
            <a:endParaRPr lang="en-US" sz="3200" dirty="0"/>
          </a:p>
        </p:txBody>
      </p:sp>
      <p:sp>
        <p:nvSpPr>
          <p:cNvPr id="53" name="Shape 51"/>
          <p:cNvSpPr/>
          <p:nvPr/>
        </p:nvSpPr>
        <p:spPr>
          <a:xfrm>
            <a:off x="2286000" y="2606040"/>
            <a:ext cx="4572000" cy="36576"/>
          </a:xfrm>
          <a:prstGeom prst="rect">
            <a:avLst/>
          </a:prstGeom>
          <a:solidFill>
            <a:srgbClr val="00B4D8"/>
          </a:solidFill>
          <a:ln w="12700">
            <a:solidFill>
              <a:srgbClr val="00B4D8"/>
            </a:solidFill>
            <a:prstDash val="solid"/>
          </a:ln>
        </p:spPr>
      </p:sp>
      <p:sp>
        <p:nvSpPr>
          <p:cNvPr id="54" name="Text 52"/>
          <p:cNvSpPr/>
          <p:nvPr/>
        </p:nvSpPr>
        <p:spPr>
          <a:xfrm>
            <a:off x="274320" y="2743200"/>
            <a:ext cx="8595360" cy="457200"/>
          </a:xfrm>
          <a:prstGeom prst="rect">
            <a:avLst/>
          </a:prstGeom>
          <a:noFill/>
          <a:ln/>
        </p:spPr>
        <p:txBody>
          <a:bodyPr wrap="square" rtlCol="0" anchor="ctr"/>
          <a:lstStyle/>
          <a:p>
            <a:pPr algn="ctr" indent="0" marL="0">
              <a:buNone/>
            </a:pPr>
            <a:r>
              <a:rPr lang="en-US" sz="1500" dirty="0">
                <a:solidFill>
                  <a:srgbClr val="8BA8BE"/>
                </a:solidFill>
                <a:latin typeface="Calibri" pitchFamily="34" charset="0"/>
                <a:ea typeface="Calibri" pitchFamily="34" charset="-122"/>
                <a:cs typeface="Calibri" pitchFamily="34" charset="-120"/>
              </a:rPr>
              <a:t>Arquitectura Híbrida | Redis · MongoDB · Python · Docker</a:t>
            </a:r>
            <a:endParaRPr lang="en-US" sz="1500" dirty="0"/>
          </a:p>
        </p:txBody>
      </p:sp>
      <p:sp>
        <p:nvSpPr>
          <p:cNvPr id="55" name="Text 53"/>
          <p:cNvSpPr/>
          <p:nvPr/>
        </p:nvSpPr>
        <p:spPr>
          <a:xfrm>
            <a:off x="274320" y="3474720"/>
            <a:ext cx="8595360" cy="777240"/>
          </a:xfrm>
          <a:prstGeom prst="rect">
            <a:avLst/>
          </a:prstGeom>
          <a:noFill/>
          <a:ln/>
        </p:spPr>
        <p:txBody>
          <a:bodyPr wrap="square" rtlCol="0" anchor="ctr"/>
          <a:lstStyle/>
          <a:p>
            <a:pPr algn="ctr" indent="0" marL="0">
              <a:buNone/>
            </a:pPr>
            <a:r>
              <a:rPr lang="en-US" sz="1200" dirty="0">
                <a:solidFill>
                  <a:srgbClr val="8BA8BE"/>
                </a:solidFill>
                <a:latin typeface="Calibri" pitchFamily="34" charset="0"/>
                <a:ea typeface="Calibri" pitchFamily="34" charset="-122"/>
                <a:cs typeface="Calibri" pitchFamily="34" charset="-120"/>
              </a:rPr>
              <a:t>Galarza Salguero Andres William  ·  Rojas Cerda Luis Alejandro</a:t>
            </a:r>
            <a:endParaRPr lang="en-US" sz="1200" dirty="0"/>
          </a:p>
          <a:p>
            <a:pPr algn="ctr" indent="0" marL="0">
              <a:buNone/>
            </a:pPr>
            <a:r>
              <a:rPr lang="en-US" sz="1200" dirty="0">
                <a:solidFill>
                  <a:srgbClr val="8BA8BE"/>
                </a:solidFill>
                <a:latin typeface="Calibri" pitchFamily="34" charset="0"/>
                <a:ea typeface="Calibri" pitchFamily="34" charset="-122"/>
                <a:cs typeface="Calibri" pitchFamily="34" charset="-120"/>
              </a:rPr>
              <a:t>Docente: Celia Elena Tarquino Peralta</a:t>
            </a:r>
            <a:endParaRPr lang="en-US" sz="1200" dirty="0"/>
          </a:p>
        </p:txBody>
      </p:sp>
      <p:sp>
        <p:nvSpPr>
          <p:cNvPr id="56" name="Text 54"/>
          <p:cNvSpPr/>
          <p:nvPr/>
        </p:nvSpPr>
        <p:spPr>
          <a:xfrm>
            <a:off x="274320" y="4663440"/>
            <a:ext cx="8595360" cy="320040"/>
          </a:xfrm>
          <a:prstGeom prst="rect">
            <a:avLst/>
          </a:prstGeom>
          <a:noFill/>
          <a:ln/>
        </p:spPr>
        <p:txBody>
          <a:bodyPr wrap="square" rtlCol="0" anchor="ctr"/>
          <a:lstStyle/>
          <a:p>
            <a:pPr algn="ctr" indent="0" marL="0">
              <a:buNone/>
            </a:pPr>
            <a:r>
              <a:rPr lang="en-US" sz="1000" dirty="0">
                <a:solidFill>
                  <a:srgbClr val="8BA8BE"/>
                </a:solidFill>
                <a:latin typeface="Calibri" pitchFamily="34" charset="0"/>
                <a:ea typeface="Calibri" pitchFamily="34" charset="-122"/>
                <a:cs typeface="Calibri" pitchFamily="34" charset="-120"/>
              </a:rPr>
              <a:t>Universidad Mayor de San Andrés · Carrera de Informática · 2026</a:t>
            </a:r>
            <a:endParaRPr lang="en-US" sz="1000" dirty="0"/>
          </a:p>
        </p:txBody>
      </p:sp>
      <p:sp>
        <p:nvSpPr>
          <p:cNvPr id="57" name="Shape 55"/>
          <p:cNvSpPr/>
          <p:nvPr/>
        </p:nvSpPr>
        <p:spPr>
          <a:xfrm>
            <a:off x="1280160" y="4114800"/>
            <a:ext cx="1371600" cy="411480"/>
          </a:xfrm>
          <a:prstGeom prst="roundRect">
            <a:avLst>
              <a:gd name="adj" fmla="val 17778"/>
            </a:avLst>
          </a:prstGeom>
          <a:solidFill>
            <a:srgbClr val="FF4444">
              <a:alpha val="25000"/>
            </a:srgbClr>
          </a:solidFill>
          <a:ln w="12700">
            <a:solidFill>
              <a:srgbClr val="FF4444"/>
            </a:solidFill>
            <a:prstDash val="solid"/>
          </a:ln>
        </p:spPr>
      </p:sp>
      <p:sp>
        <p:nvSpPr>
          <p:cNvPr id="58" name="Text 56"/>
          <p:cNvSpPr/>
          <p:nvPr/>
        </p:nvSpPr>
        <p:spPr>
          <a:xfrm>
            <a:off x="1280160" y="4114800"/>
            <a:ext cx="1371600" cy="41148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Redis</a:t>
            </a:r>
            <a:endParaRPr lang="en-US" sz="1200" dirty="0"/>
          </a:p>
        </p:txBody>
      </p:sp>
      <p:sp>
        <p:nvSpPr>
          <p:cNvPr id="59" name="Shape 57"/>
          <p:cNvSpPr/>
          <p:nvPr/>
        </p:nvSpPr>
        <p:spPr>
          <a:xfrm>
            <a:off x="2971800" y="4114800"/>
            <a:ext cx="1371600" cy="411480"/>
          </a:xfrm>
          <a:prstGeom prst="roundRect">
            <a:avLst>
              <a:gd name="adj" fmla="val 17778"/>
            </a:avLst>
          </a:prstGeom>
          <a:solidFill>
            <a:srgbClr val="00ED64">
              <a:alpha val="25000"/>
            </a:srgbClr>
          </a:solidFill>
          <a:ln w="12700">
            <a:solidFill>
              <a:srgbClr val="00ED64"/>
            </a:solidFill>
            <a:prstDash val="solid"/>
          </a:ln>
        </p:spPr>
      </p:sp>
      <p:sp>
        <p:nvSpPr>
          <p:cNvPr id="60" name="Text 58"/>
          <p:cNvSpPr/>
          <p:nvPr/>
        </p:nvSpPr>
        <p:spPr>
          <a:xfrm>
            <a:off x="2971800" y="4114800"/>
            <a:ext cx="1371600" cy="41148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MongoDB</a:t>
            </a:r>
            <a:endParaRPr lang="en-US" sz="1200" dirty="0"/>
          </a:p>
        </p:txBody>
      </p:sp>
      <p:sp>
        <p:nvSpPr>
          <p:cNvPr id="61" name="Shape 59"/>
          <p:cNvSpPr/>
          <p:nvPr/>
        </p:nvSpPr>
        <p:spPr>
          <a:xfrm>
            <a:off x="4663440" y="4114800"/>
            <a:ext cx="1371600" cy="411480"/>
          </a:xfrm>
          <a:prstGeom prst="roundRect">
            <a:avLst>
              <a:gd name="adj" fmla="val 17778"/>
            </a:avLst>
          </a:prstGeom>
          <a:solidFill>
            <a:srgbClr val="FFD43B">
              <a:alpha val="25000"/>
            </a:srgbClr>
          </a:solidFill>
          <a:ln w="12700">
            <a:solidFill>
              <a:srgbClr val="FFD43B"/>
            </a:solidFill>
            <a:prstDash val="solid"/>
          </a:ln>
        </p:spPr>
      </p:sp>
      <p:sp>
        <p:nvSpPr>
          <p:cNvPr id="62" name="Text 60"/>
          <p:cNvSpPr/>
          <p:nvPr/>
        </p:nvSpPr>
        <p:spPr>
          <a:xfrm>
            <a:off x="4663440" y="4114800"/>
            <a:ext cx="1371600" cy="41148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Python</a:t>
            </a:r>
            <a:endParaRPr lang="en-US" sz="1200" dirty="0"/>
          </a:p>
        </p:txBody>
      </p:sp>
      <p:sp>
        <p:nvSpPr>
          <p:cNvPr id="63" name="Shape 61"/>
          <p:cNvSpPr/>
          <p:nvPr/>
        </p:nvSpPr>
        <p:spPr>
          <a:xfrm>
            <a:off x="6355080" y="4114800"/>
            <a:ext cx="1371600" cy="411480"/>
          </a:xfrm>
          <a:prstGeom prst="roundRect">
            <a:avLst>
              <a:gd name="adj" fmla="val 17778"/>
            </a:avLst>
          </a:prstGeom>
          <a:solidFill>
            <a:srgbClr val="2496ED">
              <a:alpha val="25000"/>
            </a:srgbClr>
          </a:solidFill>
          <a:ln w="12700">
            <a:solidFill>
              <a:srgbClr val="2496ED"/>
            </a:solidFill>
            <a:prstDash val="solid"/>
          </a:ln>
        </p:spPr>
      </p:sp>
      <p:sp>
        <p:nvSpPr>
          <p:cNvPr id="64" name="Text 62"/>
          <p:cNvSpPr/>
          <p:nvPr/>
        </p:nvSpPr>
        <p:spPr>
          <a:xfrm>
            <a:off x="6355080" y="4114800"/>
            <a:ext cx="1371600" cy="41148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Docker</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2137"/>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EL DESAFÍO LOGÍSTICO</a:t>
            </a:r>
            <a:endParaRPr lang="en-US" sz="3000" dirty="0"/>
          </a:p>
        </p:txBody>
      </p:sp>
      <p:sp>
        <p:nvSpPr>
          <p:cNvPr id="3" name="Shape 1"/>
          <p:cNvSpPr/>
          <p:nvPr/>
        </p:nvSpPr>
        <p:spPr>
          <a:xfrm>
            <a:off x="457200" y="822960"/>
            <a:ext cx="1371600" cy="45720"/>
          </a:xfrm>
          <a:prstGeom prst="rect">
            <a:avLst/>
          </a:prstGeom>
          <a:solidFill>
            <a:srgbClr val="00B4D8"/>
          </a:solidFill>
          <a:ln w="12700">
            <a:solidFill>
              <a:srgbClr val="00B4D8"/>
            </a:solidFill>
            <a:prstDash val="solid"/>
          </a:ln>
        </p:spPr>
      </p:sp>
      <p:sp>
        <p:nvSpPr>
          <p:cNvPr id="4" name="Text 2"/>
          <p:cNvSpPr/>
          <p:nvPr/>
        </p:nvSpPr>
        <p:spPr>
          <a:xfrm>
            <a:off x="457200" y="841248"/>
            <a:ext cx="8229600" cy="365760"/>
          </a:xfrm>
          <a:prstGeom prst="rect">
            <a:avLst/>
          </a:prstGeom>
          <a:noFill/>
          <a:ln/>
        </p:spPr>
        <p:txBody>
          <a:bodyPr wrap="square" rtlCol="0" anchor="ctr"/>
          <a:lstStyle/>
          <a:p>
            <a:pPr indent="0" marL="0">
              <a:buNone/>
            </a:pPr>
            <a:r>
              <a:rPr lang="en-US" sz="1300" dirty="0">
                <a:solidFill>
                  <a:srgbClr val="8BA8BE"/>
                </a:solidFill>
                <a:latin typeface="Calibri" pitchFamily="34" charset="0"/>
                <a:ea typeface="Calibri" pitchFamily="34" charset="-122"/>
                <a:cs typeface="Calibri" pitchFamily="34" charset="-120"/>
              </a:rPr>
              <a:t>Latencia crítica en el rastreo aéreo global</a:t>
            </a:r>
            <a:endParaRPr lang="en-US" sz="1300" dirty="0"/>
          </a:p>
        </p:txBody>
      </p:sp>
      <p:sp>
        <p:nvSpPr>
          <p:cNvPr id="5" name="Shape 3"/>
          <p:cNvSpPr/>
          <p:nvPr/>
        </p:nvSpPr>
        <p:spPr>
          <a:xfrm>
            <a:off x="365760" y="1371600"/>
            <a:ext cx="3977640" cy="1508760"/>
          </a:xfrm>
          <a:prstGeom prst="rect">
            <a:avLst/>
          </a:prstGeom>
          <a:solidFill>
            <a:srgbClr val="112236"/>
          </a:solidFill>
          <a:ln w="12700">
            <a:solidFill>
              <a:srgbClr val="1A3A5C"/>
            </a:solidFill>
            <a:prstDash val="solid"/>
          </a:ln>
          <a:effectLst>
            <a:outerShdw sx="100000" sy="100000" kx="0" ky="0" algn="bl" rotWithShape="0" blurRad="101600" dist="38100" dir="8100000">
              <a:srgbClr val="000000">
                <a:alpha val="25000"/>
              </a:srgbClr>
            </a:outerShdw>
          </a:effectLst>
        </p:spPr>
      </p:sp>
      <p:sp>
        <p:nvSpPr>
          <p:cNvPr id="6" name="Shape 4"/>
          <p:cNvSpPr/>
          <p:nvPr/>
        </p:nvSpPr>
        <p:spPr>
          <a:xfrm>
            <a:off x="365760" y="1371600"/>
            <a:ext cx="64008" cy="1508760"/>
          </a:xfrm>
          <a:prstGeom prst="rect">
            <a:avLst/>
          </a:prstGeom>
          <a:solidFill>
            <a:srgbClr val="FF4444"/>
          </a:solidFill>
          <a:ln w="12700">
            <a:solidFill>
              <a:srgbClr val="FF4444"/>
            </a:solidFill>
            <a:prstDash val="solid"/>
          </a:ln>
        </p:spPr>
      </p:sp>
      <p:sp>
        <p:nvSpPr>
          <p:cNvPr id="7" name="Text 5"/>
          <p:cNvSpPr/>
          <p:nvPr/>
        </p:nvSpPr>
        <p:spPr>
          <a:xfrm>
            <a:off x="530352" y="1481328"/>
            <a:ext cx="3749040" cy="347472"/>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Latencia Intolerable</a:t>
            </a:r>
            <a:endParaRPr lang="en-US" sz="1400" dirty="0"/>
          </a:p>
        </p:txBody>
      </p:sp>
      <p:sp>
        <p:nvSpPr>
          <p:cNvPr id="8" name="Text 6"/>
          <p:cNvSpPr/>
          <p:nvPr/>
        </p:nvSpPr>
        <p:spPr>
          <a:xfrm>
            <a:off x="530352" y="1847088"/>
            <a:ext cx="3749040" cy="868680"/>
          </a:xfrm>
          <a:prstGeom prst="rect">
            <a:avLst/>
          </a:prstGeom>
          <a:noFill/>
          <a:ln/>
        </p:spPr>
        <p:txBody>
          <a:bodyPr wrap="square" rtlCol="0" anchor="ctr"/>
          <a:lstStyle/>
          <a:p>
            <a:pPr indent="0" marL="0">
              <a:buNone/>
            </a:pPr>
            <a:r>
              <a:rPr lang="en-US" sz="1200" dirty="0">
                <a:solidFill>
                  <a:srgbClr val="E8F4F8"/>
                </a:solidFill>
                <a:latin typeface="Calibri" pitchFamily="34" charset="0"/>
                <a:ea typeface="Calibri" pitchFamily="34" charset="-122"/>
                <a:cs typeface="Calibri" pitchFamily="34" charset="-120"/>
              </a:rPr>
              <a:t>Miles de actualizaciones GPS/seg colapsan bases de datos relacionales</a:t>
            </a:r>
            <a:endParaRPr lang="en-US" sz="1200" dirty="0"/>
          </a:p>
        </p:txBody>
      </p:sp>
      <p:sp>
        <p:nvSpPr>
          <p:cNvPr id="9" name="Shape 7"/>
          <p:cNvSpPr/>
          <p:nvPr/>
        </p:nvSpPr>
        <p:spPr>
          <a:xfrm>
            <a:off x="4663440" y="1371600"/>
            <a:ext cx="3977640" cy="1508760"/>
          </a:xfrm>
          <a:prstGeom prst="rect">
            <a:avLst/>
          </a:prstGeom>
          <a:solidFill>
            <a:srgbClr val="112236"/>
          </a:solidFill>
          <a:ln w="12700">
            <a:solidFill>
              <a:srgbClr val="1A3A5C"/>
            </a:solidFill>
            <a:prstDash val="solid"/>
          </a:ln>
          <a:effectLst>
            <a:outerShdw sx="100000" sy="100000" kx="0" ky="0" algn="bl" rotWithShape="0" blurRad="101600" dist="38100" dir="8100000">
              <a:srgbClr val="000000">
                <a:alpha val="25000"/>
              </a:srgbClr>
            </a:outerShdw>
          </a:effectLst>
        </p:spPr>
      </p:sp>
      <p:sp>
        <p:nvSpPr>
          <p:cNvPr id="10" name="Shape 8"/>
          <p:cNvSpPr/>
          <p:nvPr/>
        </p:nvSpPr>
        <p:spPr>
          <a:xfrm>
            <a:off x="4663440" y="1371600"/>
            <a:ext cx="64008" cy="1508760"/>
          </a:xfrm>
          <a:prstGeom prst="rect">
            <a:avLst/>
          </a:prstGeom>
          <a:solidFill>
            <a:srgbClr val="FFB703"/>
          </a:solidFill>
          <a:ln w="12700">
            <a:solidFill>
              <a:srgbClr val="FFB703"/>
            </a:solidFill>
            <a:prstDash val="solid"/>
          </a:ln>
        </p:spPr>
      </p:sp>
      <p:sp>
        <p:nvSpPr>
          <p:cNvPr id="11" name="Text 9"/>
          <p:cNvSpPr/>
          <p:nvPr/>
        </p:nvSpPr>
        <p:spPr>
          <a:xfrm>
            <a:off x="4828032" y="1481328"/>
            <a:ext cx="3749040" cy="347472"/>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Datos Perdidos</a:t>
            </a:r>
            <a:endParaRPr lang="en-US" sz="1400" dirty="0"/>
          </a:p>
        </p:txBody>
      </p:sp>
      <p:sp>
        <p:nvSpPr>
          <p:cNvPr id="12" name="Text 10"/>
          <p:cNvSpPr/>
          <p:nvPr/>
        </p:nvSpPr>
        <p:spPr>
          <a:xfrm>
            <a:off x="4828032" y="1847088"/>
            <a:ext cx="3749040" cy="868680"/>
          </a:xfrm>
          <a:prstGeom prst="rect">
            <a:avLst/>
          </a:prstGeom>
          <a:noFill/>
          <a:ln/>
        </p:spPr>
        <p:txBody>
          <a:bodyPr wrap="square" rtlCol="0" anchor="ctr"/>
          <a:lstStyle/>
          <a:p>
            <a:pPr indent="0" marL="0">
              <a:buNone/>
            </a:pPr>
            <a:r>
              <a:rPr lang="en-US" sz="1200" dirty="0">
                <a:solidFill>
                  <a:srgbClr val="E8F4F8"/>
                </a:solidFill>
                <a:latin typeface="Calibri" pitchFamily="34" charset="0"/>
                <a:ea typeface="Calibri" pitchFamily="34" charset="-122"/>
                <a:cs typeface="Calibri" pitchFamily="34" charset="-120"/>
              </a:rPr>
              <a:t>Sin caché inteligente, la última posición conocida se pierde bajo carga</a:t>
            </a:r>
            <a:endParaRPr lang="en-US" sz="1200" dirty="0"/>
          </a:p>
        </p:txBody>
      </p:sp>
      <p:sp>
        <p:nvSpPr>
          <p:cNvPr id="13" name="Shape 11"/>
          <p:cNvSpPr/>
          <p:nvPr/>
        </p:nvSpPr>
        <p:spPr>
          <a:xfrm>
            <a:off x="365760" y="3063240"/>
            <a:ext cx="3977640" cy="1508760"/>
          </a:xfrm>
          <a:prstGeom prst="rect">
            <a:avLst/>
          </a:prstGeom>
          <a:solidFill>
            <a:srgbClr val="112236"/>
          </a:solidFill>
          <a:ln w="12700">
            <a:solidFill>
              <a:srgbClr val="1A3A5C"/>
            </a:solidFill>
            <a:prstDash val="solid"/>
          </a:ln>
          <a:effectLst>
            <a:outerShdw sx="100000" sy="100000" kx="0" ky="0" algn="bl" rotWithShape="0" blurRad="101600" dist="38100" dir="8100000">
              <a:srgbClr val="000000">
                <a:alpha val="25000"/>
              </a:srgbClr>
            </a:outerShdw>
          </a:effectLst>
        </p:spPr>
      </p:sp>
      <p:sp>
        <p:nvSpPr>
          <p:cNvPr id="14" name="Shape 12"/>
          <p:cNvSpPr/>
          <p:nvPr/>
        </p:nvSpPr>
        <p:spPr>
          <a:xfrm>
            <a:off x="365760" y="3063240"/>
            <a:ext cx="64008" cy="1508760"/>
          </a:xfrm>
          <a:prstGeom prst="rect">
            <a:avLst/>
          </a:prstGeom>
          <a:solidFill>
            <a:srgbClr val="00B4D8"/>
          </a:solidFill>
          <a:ln w="12700">
            <a:solidFill>
              <a:srgbClr val="00B4D8"/>
            </a:solidFill>
            <a:prstDash val="solid"/>
          </a:ln>
        </p:spPr>
      </p:sp>
      <p:sp>
        <p:nvSpPr>
          <p:cNvPr id="15" name="Text 13"/>
          <p:cNvSpPr/>
          <p:nvPr/>
        </p:nvSpPr>
        <p:spPr>
          <a:xfrm>
            <a:off x="530352" y="3172968"/>
            <a:ext cx="3749040" cy="347472"/>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Esquemas Rígidos</a:t>
            </a:r>
            <a:endParaRPr lang="en-US" sz="1400" dirty="0"/>
          </a:p>
        </p:txBody>
      </p:sp>
      <p:sp>
        <p:nvSpPr>
          <p:cNvPr id="16" name="Text 14"/>
          <p:cNvSpPr/>
          <p:nvPr/>
        </p:nvSpPr>
        <p:spPr>
          <a:xfrm>
            <a:off x="530352" y="3538728"/>
            <a:ext cx="3749040" cy="868680"/>
          </a:xfrm>
          <a:prstGeom prst="rect">
            <a:avLst/>
          </a:prstGeom>
          <a:noFill/>
          <a:ln/>
        </p:spPr>
        <p:txBody>
          <a:bodyPr wrap="square" rtlCol="0" anchor="ctr"/>
          <a:lstStyle/>
          <a:p>
            <a:pPr indent="0" marL="0">
              <a:buNone/>
            </a:pPr>
            <a:r>
              <a:rPr lang="en-US" sz="1200" dirty="0">
                <a:solidFill>
                  <a:srgbClr val="E8F4F8"/>
                </a:solidFill>
                <a:latin typeface="Calibri" pitchFamily="34" charset="0"/>
                <a:ea typeface="Calibri" pitchFamily="34" charset="-122"/>
                <a:cs typeface="Calibri" pitchFamily="34" charset="-120"/>
              </a:rPr>
              <a:t>Sensores IoT heterogéneos no encajan en modelos de tabla fija</a:t>
            </a:r>
            <a:endParaRPr lang="en-US" sz="1200" dirty="0"/>
          </a:p>
        </p:txBody>
      </p:sp>
      <p:sp>
        <p:nvSpPr>
          <p:cNvPr id="17" name="Shape 15"/>
          <p:cNvSpPr/>
          <p:nvPr/>
        </p:nvSpPr>
        <p:spPr>
          <a:xfrm>
            <a:off x="4663440" y="3063240"/>
            <a:ext cx="3977640" cy="1508760"/>
          </a:xfrm>
          <a:prstGeom prst="rect">
            <a:avLst/>
          </a:prstGeom>
          <a:solidFill>
            <a:srgbClr val="112236"/>
          </a:solidFill>
          <a:ln w="12700">
            <a:solidFill>
              <a:srgbClr val="1A3A5C"/>
            </a:solidFill>
            <a:prstDash val="solid"/>
          </a:ln>
          <a:effectLst>
            <a:outerShdw sx="100000" sy="100000" kx="0" ky="0" algn="bl" rotWithShape="0" blurRad="101600" dist="38100" dir="8100000">
              <a:srgbClr val="000000">
                <a:alpha val="25000"/>
              </a:srgbClr>
            </a:outerShdw>
          </a:effectLst>
        </p:spPr>
      </p:sp>
      <p:sp>
        <p:nvSpPr>
          <p:cNvPr id="18" name="Shape 16"/>
          <p:cNvSpPr/>
          <p:nvPr/>
        </p:nvSpPr>
        <p:spPr>
          <a:xfrm>
            <a:off x="4663440" y="3063240"/>
            <a:ext cx="64008" cy="1508760"/>
          </a:xfrm>
          <a:prstGeom prst="rect">
            <a:avLst/>
          </a:prstGeom>
          <a:solidFill>
            <a:srgbClr val="00ED64"/>
          </a:solidFill>
          <a:ln w="12700">
            <a:solidFill>
              <a:srgbClr val="00ED64"/>
            </a:solidFill>
            <a:prstDash val="solid"/>
          </a:ln>
        </p:spPr>
      </p:sp>
      <p:sp>
        <p:nvSpPr>
          <p:cNvPr id="19" name="Text 17"/>
          <p:cNvSpPr/>
          <p:nvPr/>
        </p:nvSpPr>
        <p:spPr>
          <a:xfrm>
            <a:off x="4828032" y="3172968"/>
            <a:ext cx="3749040" cy="347472"/>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Sin Escalabilidad</a:t>
            </a:r>
            <a:endParaRPr lang="en-US" sz="1400" dirty="0"/>
          </a:p>
        </p:txBody>
      </p:sp>
      <p:sp>
        <p:nvSpPr>
          <p:cNvPr id="20" name="Text 18"/>
          <p:cNvSpPr/>
          <p:nvPr/>
        </p:nvSpPr>
        <p:spPr>
          <a:xfrm>
            <a:off x="4828032" y="3538728"/>
            <a:ext cx="3749040" cy="868680"/>
          </a:xfrm>
          <a:prstGeom prst="rect">
            <a:avLst/>
          </a:prstGeom>
          <a:noFill/>
          <a:ln/>
        </p:spPr>
        <p:txBody>
          <a:bodyPr wrap="square" rtlCol="0" anchor="ctr"/>
          <a:lstStyle/>
          <a:p>
            <a:pPr indent="0" marL="0">
              <a:buNone/>
            </a:pPr>
            <a:r>
              <a:rPr lang="en-US" sz="1200" dirty="0">
                <a:solidFill>
                  <a:srgbClr val="E8F4F8"/>
                </a:solidFill>
                <a:latin typeface="Calibri" pitchFamily="34" charset="0"/>
                <a:ea typeface="Calibri" pitchFamily="34" charset="-122"/>
                <a:cs typeface="Calibri" pitchFamily="34" charset="-120"/>
              </a:rPr>
              <a:t>Crisis climáticas disparan consultas: los sistemas monolíticos colapsan</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628"/>
        </a:solidFill>
      </p:bgPr>
    </p:bg>
    <p:spTree>
      <p:nvGrpSpPr>
        <p:cNvPr id="1" name=""/>
        <p:cNvGrpSpPr/>
        <p:nvPr/>
      </p:nvGrpSpPr>
      <p:grpSpPr>
        <a:xfrm>
          <a:off x="0" y="0"/>
          <a:ext cx="0" cy="0"/>
          <a:chOff x="0" y="0"/>
          <a:chExt cx="0" cy="0"/>
        </a:xfrm>
      </p:grpSpPr>
      <p:sp>
        <p:nvSpPr>
          <p:cNvPr id="2" name="Text 0"/>
          <p:cNvSpPr/>
          <p:nvPr/>
        </p:nvSpPr>
        <p:spPr>
          <a:xfrm>
            <a:off x="457200" y="228600"/>
            <a:ext cx="8229600" cy="548640"/>
          </a:xfrm>
          <a:prstGeom prst="rect">
            <a:avLst/>
          </a:prstGeom>
          <a:noFill/>
          <a:ln/>
        </p:spPr>
        <p:txBody>
          <a:bodyPr wrap="square"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SOLUCIÓN ARQUITECTÓNICA</a:t>
            </a:r>
            <a:endParaRPr lang="en-US" sz="3000" dirty="0"/>
          </a:p>
        </p:txBody>
      </p:sp>
      <p:sp>
        <p:nvSpPr>
          <p:cNvPr id="3" name="Shape 1"/>
          <p:cNvSpPr/>
          <p:nvPr/>
        </p:nvSpPr>
        <p:spPr>
          <a:xfrm>
            <a:off x="457200" y="749808"/>
            <a:ext cx="1645920" cy="45720"/>
          </a:xfrm>
          <a:prstGeom prst="rect">
            <a:avLst/>
          </a:prstGeom>
          <a:solidFill>
            <a:srgbClr val="00B4D8"/>
          </a:solidFill>
          <a:ln w="12700">
            <a:solidFill>
              <a:srgbClr val="00B4D8"/>
            </a:solidFill>
            <a:prstDash val="solid"/>
          </a:ln>
        </p:spPr>
      </p:sp>
      <p:sp>
        <p:nvSpPr>
          <p:cNvPr id="4" name="Text 2"/>
          <p:cNvSpPr/>
          <p:nvPr/>
        </p:nvSpPr>
        <p:spPr>
          <a:xfrm>
            <a:off x="457200" y="804672"/>
            <a:ext cx="8229600" cy="320040"/>
          </a:xfrm>
          <a:prstGeom prst="rect">
            <a:avLst/>
          </a:prstGeom>
          <a:noFill/>
          <a:ln/>
        </p:spPr>
        <p:txBody>
          <a:bodyPr wrap="square" rtlCol="0" anchor="ctr"/>
          <a:lstStyle/>
          <a:p>
            <a:pPr indent="0" marL="0">
              <a:buNone/>
            </a:pPr>
            <a:r>
              <a:rPr lang="en-US" sz="1300" dirty="0">
                <a:solidFill>
                  <a:srgbClr val="8BA8BE"/>
                </a:solidFill>
                <a:latin typeface="Calibri" pitchFamily="34" charset="0"/>
                <a:ea typeface="Calibri" pitchFamily="34" charset="-122"/>
                <a:cs typeface="Calibri" pitchFamily="34" charset="-120"/>
              </a:rPr>
              <a:t>Arquitectura políglota: tiempo real + persistencia histórica</a:t>
            </a:r>
            <a:endParaRPr lang="en-US" sz="1300" dirty="0"/>
          </a:p>
        </p:txBody>
      </p:sp>
      <p:sp>
        <p:nvSpPr>
          <p:cNvPr id="5" name="Shape 3"/>
          <p:cNvSpPr/>
          <p:nvPr/>
        </p:nvSpPr>
        <p:spPr>
          <a:xfrm>
            <a:off x="365760" y="1280160"/>
            <a:ext cx="3200400" cy="3017520"/>
          </a:xfrm>
          <a:prstGeom prst="rect">
            <a:avLst/>
          </a:prstGeom>
          <a:solidFill>
            <a:srgbClr val="1A0000"/>
          </a:solidFill>
          <a:ln w="12700">
            <a:solidFill>
              <a:srgbClr val="FF4444"/>
            </a:solidFill>
            <a:prstDash val="solid"/>
          </a:ln>
          <a:effectLst>
            <a:outerShdw sx="100000" sy="100000" kx="0" ky="0" algn="bl" rotWithShape="0" blurRad="101600" dist="38100" dir="8100000">
              <a:srgbClr val="000000">
                <a:alpha val="25000"/>
              </a:srgbClr>
            </a:outerShdw>
          </a:effectLst>
        </p:spPr>
      </p:sp>
      <p:sp>
        <p:nvSpPr>
          <p:cNvPr id="6" name="Text 4"/>
          <p:cNvSpPr/>
          <p:nvPr/>
        </p:nvSpPr>
        <p:spPr>
          <a:xfrm>
            <a:off x="457200" y="1371600"/>
            <a:ext cx="3017520" cy="411480"/>
          </a:xfrm>
          <a:prstGeom prst="rect">
            <a:avLst/>
          </a:prstGeom>
          <a:noFill/>
          <a:ln/>
        </p:spPr>
        <p:txBody>
          <a:bodyPr wrap="square" rtlCol="0" anchor="ctr"/>
          <a:lstStyle/>
          <a:p>
            <a:pPr indent="0" marL="0">
              <a:buNone/>
            </a:pPr>
            <a:r>
              <a:rPr lang="en-US" sz="1400" b="1" dirty="0">
                <a:solidFill>
                  <a:srgbClr val="FF4444"/>
                </a:solidFill>
                <a:latin typeface="Calibri" pitchFamily="34" charset="0"/>
                <a:ea typeface="Calibri" pitchFamily="34" charset="-122"/>
                <a:cs typeface="Calibri" pitchFamily="34" charset="-120"/>
              </a:rPr>
              <a:t>⚡  CAPA TIEMPO REAL</a:t>
            </a:r>
            <a:endParaRPr lang="en-US" sz="1400" dirty="0"/>
          </a:p>
        </p:txBody>
      </p:sp>
      <p:sp>
        <p:nvSpPr>
          <p:cNvPr id="7" name="Text 5"/>
          <p:cNvSpPr/>
          <p:nvPr/>
        </p:nvSpPr>
        <p:spPr>
          <a:xfrm>
            <a:off x="502920" y="1874520"/>
            <a:ext cx="2926080" cy="2103120"/>
          </a:xfrm>
          <a:prstGeom prst="rect">
            <a:avLst/>
          </a:prstGeom>
          <a:noFill/>
          <a:ln/>
        </p:spPr>
        <p:txBody>
          <a:bodyPr wrap="square" rtlCol="0" anchor="ctr"/>
          <a:lstStyle/>
          <a:p>
            <a:pPr indent="0" marL="0">
              <a:buNone/>
            </a:pPr>
            <a:r>
              <a:rPr lang="en-US" sz="1300" b="1" dirty="0">
                <a:solidFill>
                  <a:srgbClr val="E8F4F8"/>
                </a:solidFill>
                <a:latin typeface="Calibri" pitchFamily="34" charset="0"/>
                <a:ea typeface="Calibri" pitchFamily="34" charset="-122"/>
                <a:cs typeface="Calibri" pitchFamily="34" charset="-120"/>
              </a:rPr>
              <a:t>Redis Cache-Live</a:t>
            </a:r>
            <a:endParaRPr lang="en-US" sz="1300" dirty="0"/>
          </a:p>
          <a:p>
            <a:pPr indent="0" marL="0">
              <a:buNone/>
            </a:pPr>
            <a:r>
              <a:rPr lang="en-US" sz="1300" dirty="0">
                <a:solidFill>
                  <a:srgbClr val="E8F4F8"/>
                </a:solidFill>
                <a:latin typeface="Calibri" pitchFamily="34" charset="0"/>
                <a:ea typeface="Calibri" pitchFamily="34" charset="-122"/>
                <a:cs typeface="Calibri" pitchFamily="34" charset="-120"/>
              </a:rPr>
              <a:t>· Posiciones GPS activas</a:t>
            </a:r>
            <a:endParaRPr lang="en-US" sz="1300" dirty="0"/>
          </a:p>
          <a:p>
            <a:pPr indent="0" marL="0">
              <a:buNone/>
            </a:pPr>
            <a:r>
              <a:rPr lang="en-US" sz="1300" dirty="0">
                <a:solidFill>
                  <a:srgbClr val="E8F4F8"/>
                </a:solidFill>
                <a:latin typeface="Calibri" pitchFamily="34" charset="0"/>
                <a:ea typeface="Calibri" pitchFamily="34" charset="-122"/>
                <a:cs typeface="Calibri" pitchFamily="34" charset="-120"/>
              </a:rPr>
              <a:t>· Latencia &lt; 10ms</a:t>
            </a:r>
            <a:endParaRPr lang="en-US" sz="1300" dirty="0"/>
          </a:p>
          <a:p>
            <a:pPr indent="0" marL="0">
              <a:buNone/>
            </a:pPr>
            <a:r>
              <a:rPr lang="en-US" sz="1300" dirty="0">
                <a:solidFill>
                  <a:srgbClr val="E8F4F8"/>
                </a:solidFill>
                <a:latin typeface="Calibri" pitchFamily="34" charset="0"/>
                <a:ea typeface="Calibri" pitchFamily="34" charset="-122"/>
                <a:cs typeface="Calibri" pitchFamily="34" charset="-120"/>
              </a:rPr>
              <a:t>· Pub/Sub para alertas</a:t>
            </a:r>
            <a:endParaRPr lang="en-US" sz="1300" dirty="0"/>
          </a:p>
          <a:p>
            <a:pPr indent="0" marL="0">
              <a:buNone/>
            </a:pPr>
            <a:r>
              <a:rPr lang="en-US" sz="1300" dirty="0">
                <a:solidFill>
                  <a:srgbClr val="E8F4F8"/>
                </a:solidFill>
                <a:latin typeface="Calibri" pitchFamily="34" charset="0"/>
                <a:ea typeface="Calibri" pitchFamily="34" charset="-122"/>
                <a:cs typeface="Calibri" pitchFamily="34" charset="-120"/>
              </a:rPr>
              <a:t>· Sesiones de usuario</a:t>
            </a:r>
            <a:endParaRPr lang="en-US" sz="1300" dirty="0"/>
          </a:p>
        </p:txBody>
      </p:sp>
      <p:sp>
        <p:nvSpPr>
          <p:cNvPr id="8" name="Shape 6"/>
          <p:cNvSpPr/>
          <p:nvPr/>
        </p:nvSpPr>
        <p:spPr>
          <a:xfrm>
            <a:off x="3611880" y="2633472"/>
            <a:ext cx="731520" cy="64008"/>
          </a:xfrm>
          <a:prstGeom prst="rect">
            <a:avLst/>
          </a:prstGeom>
          <a:solidFill>
            <a:srgbClr val="00B4D8"/>
          </a:solidFill>
          <a:ln w="12700">
            <a:solidFill>
              <a:srgbClr val="00B4D8"/>
            </a:solidFill>
            <a:prstDash val="solid"/>
          </a:ln>
        </p:spPr>
      </p:sp>
      <p:sp>
        <p:nvSpPr>
          <p:cNvPr id="9" name="Text 7"/>
          <p:cNvSpPr/>
          <p:nvPr/>
        </p:nvSpPr>
        <p:spPr>
          <a:xfrm>
            <a:off x="3547872" y="2468880"/>
            <a:ext cx="914400" cy="228600"/>
          </a:xfrm>
          <a:prstGeom prst="rect">
            <a:avLst/>
          </a:prstGeom>
          <a:noFill/>
          <a:ln/>
        </p:spPr>
        <p:txBody>
          <a:bodyPr wrap="square" rtlCol="0" anchor="ctr"/>
          <a:lstStyle/>
          <a:p>
            <a:pPr algn="ctr" indent="0" marL="0">
              <a:buNone/>
            </a:pPr>
            <a:r>
              <a:rPr lang="en-US" sz="900" b="1" dirty="0">
                <a:solidFill>
                  <a:srgbClr val="00B4D8"/>
                </a:solidFill>
                <a:latin typeface="Calibri" pitchFamily="34" charset="0"/>
                <a:ea typeface="Calibri" pitchFamily="34" charset="-122"/>
                <a:cs typeface="Calibri" pitchFamily="34" charset="-120"/>
              </a:rPr>
              <a:t>SNAPSHOT</a:t>
            </a:r>
            <a:endParaRPr lang="en-US" sz="900" dirty="0"/>
          </a:p>
        </p:txBody>
      </p:sp>
      <p:sp>
        <p:nvSpPr>
          <p:cNvPr id="10" name="Shape 8"/>
          <p:cNvSpPr/>
          <p:nvPr/>
        </p:nvSpPr>
        <p:spPr>
          <a:xfrm>
            <a:off x="4325112" y="2578608"/>
            <a:ext cx="73152" cy="173736"/>
          </a:xfrm>
          <a:prstGeom prst="rect">
            <a:avLst/>
          </a:prstGeom>
          <a:solidFill>
            <a:srgbClr val="00B4D8"/>
          </a:solidFill>
          <a:ln w="12700">
            <a:solidFill>
              <a:srgbClr val="00B4D8"/>
            </a:solidFill>
            <a:prstDash val="solid"/>
          </a:ln>
        </p:spPr>
      </p:sp>
      <p:sp>
        <p:nvSpPr>
          <p:cNvPr id="11" name="Shape 9"/>
          <p:cNvSpPr/>
          <p:nvPr/>
        </p:nvSpPr>
        <p:spPr>
          <a:xfrm>
            <a:off x="4572000" y="1280160"/>
            <a:ext cx="3200400" cy="3017520"/>
          </a:xfrm>
          <a:prstGeom prst="rect">
            <a:avLst/>
          </a:prstGeom>
          <a:solidFill>
            <a:srgbClr val="001A0A"/>
          </a:solidFill>
          <a:ln w="12700">
            <a:solidFill>
              <a:srgbClr val="00ED64"/>
            </a:solidFill>
            <a:prstDash val="solid"/>
          </a:ln>
          <a:effectLst>
            <a:outerShdw sx="100000" sy="100000" kx="0" ky="0" algn="bl" rotWithShape="0" blurRad="101600" dist="38100" dir="8100000">
              <a:srgbClr val="000000">
                <a:alpha val="25000"/>
              </a:srgbClr>
            </a:outerShdw>
          </a:effectLst>
        </p:spPr>
      </p:sp>
      <p:sp>
        <p:nvSpPr>
          <p:cNvPr id="12" name="Text 10"/>
          <p:cNvSpPr/>
          <p:nvPr/>
        </p:nvSpPr>
        <p:spPr>
          <a:xfrm>
            <a:off x="4663440" y="1371600"/>
            <a:ext cx="3017520" cy="411480"/>
          </a:xfrm>
          <a:prstGeom prst="rect">
            <a:avLst/>
          </a:prstGeom>
          <a:noFill/>
          <a:ln/>
        </p:spPr>
        <p:txBody>
          <a:bodyPr wrap="square" rtlCol="0" anchor="ctr"/>
          <a:lstStyle/>
          <a:p>
            <a:pPr indent="0" marL="0">
              <a:buNone/>
            </a:pPr>
            <a:r>
              <a:rPr lang="en-US" sz="1400" b="1" dirty="0">
                <a:solidFill>
                  <a:srgbClr val="00ED64"/>
                </a:solidFill>
                <a:latin typeface="Calibri" pitchFamily="34" charset="0"/>
                <a:ea typeface="Calibri" pitchFamily="34" charset="-122"/>
                <a:cs typeface="Calibri" pitchFamily="34" charset="-120"/>
              </a:rPr>
              <a:t>🗄  CAPA PERSISTENCIA</a:t>
            </a:r>
            <a:endParaRPr lang="en-US" sz="1400" dirty="0"/>
          </a:p>
        </p:txBody>
      </p:sp>
      <p:sp>
        <p:nvSpPr>
          <p:cNvPr id="13" name="Text 11"/>
          <p:cNvSpPr/>
          <p:nvPr/>
        </p:nvSpPr>
        <p:spPr>
          <a:xfrm>
            <a:off x="4709160" y="1874520"/>
            <a:ext cx="2926080" cy="2103120"/>
          </a:xfrm>
          <a:prstGeom prst="rect">
            <a:avLst/>
          </a:prstGeom>
          <a:noFill/>
          <a:ln/>
        </p:spPr>
        <p:txBody>
          <a:bodyPr wrap="square" rtlCol="0" anchor="ctr"/>
          <a:lstStyle/>
          <a:p>
            <a:pPr indent="0" marL="0">
              <a:buNone/>
            </a:pPr>
            <a:r>
              <a:rPr lang="en-US" sz="1300" b="1" dirty="0">
                <a:solidFill>
                  <a:srgbClr val="E8F4F8"/>
                </a:solidFill>
                <a:latin typeface="Calibri" pitchFamily="34" charset="0"/>
                <a:ea typeface="Calibri" pitchFamily="34" charset="-122"/>
                <a:cs typeface="Calibri" pitchFamily="34" charset="-120"/>
              </a:rPr>
              <a:t>MongoDB Documental</a:t>
            </a:r>
            <a:endParaRPr lang="en-US" sz="1300" dirty="0"/>
          </a:p>
          <a:p>
            <a:pPr indent="0" marL="0">
              <a:buNone/>
            </a:pPr>
            <a:r>
              <a:rPr lang="en-US" sz="1300" dirty="0">
                <a:solidFill>
                  <a:srgbClr val="E8F4F8"/>
                </a:solidFill>
                <a:latin typeface="Calibri" pitchFamily="34" charset="0"/>
                <a:ea typeface="Calibri" pitchFamily="34" charset="-122"/>
                <a:cs typeface="Calibri" pitchFamily="34" charset="-120"/>
              </a:rPr>
              <a:t>· Historial de vuelos</a:t>
            </a:r>
            <a:endParaRPr lang="en-US" sz="1300" dirty="0"/>
          </a:p>
          <a:p>
            <a:pPr indent="0" marL="0">
              <a:buNone/>
            </a:pPr>
            <a:r>
              <a:rPr lang="en-US" sz="1300" dirty="0">
                <a:solidFill>
                  <a:srgbClr val="E8F4F8"/>
                </a:solidFill>
                <a:latin typeface="Calibri" pitchFamily="34" charset="0"/>
                <a:ea typeface="Calibri" pitchFamily="34" charset="-122"/>
                <a:cs typeface="Calibri" pitchFamily="34" charset="-120"/>
              </a:rPr>
              <a:t>· Manifiestos de carga</a:t>
            </a:r>
            <a:endParaRPr lang="en-US" sz="1300" dirty="0"/>
          </a:p>
          <a:p>
            <a:pPr indent="0" marL="0">
              <a:buNone/>
            </a:pPr>
            <a:r>
              <a:rPr lang="en-US" sz="1300" dirty="0">
                <a:solidFill>
                  <a:srgbClr val="E8F4F8"/>
                </a:solidFill>
                <a:latin typeface="Calibri" pitchFamily="34" charset="0"/>
                <a:ea typeface="Calibri" pitchFamily="34" charset="-122"/>
                <a:cs typeface="Calibri" pitchFamily="34" charset="-120"/>
              </a:rPr>
              <a:t>· Índices geoespaciales</a:t>
            </a:r>
            <a:endParaRPr lang="en-US" sz="1300" dirty="0"/>
          </a:p>
          <a:p>
            <a:pPr indent="0" marL="0">
              <a:buNone/>
            </a:pPr>
            <a:r>
              <a:rPr lang="en-US" sz="1300" dirty="0">
                <a:solidFill>
                  <a:srgbClr val="E8F4F8"/>
                </a:solidFill>
                <a:latin typeface="Calibri" pitchFamily="34" charset="0"/>
                <a:ea typeface="Calibri" pitchFamily="34" charset="-122"/>
                <a:cs typeface="Calibri" pitchFamily="34" charset="-120"/>
              </a:rPr>
              <a:t>· Análisis predictivo ETA</a:t>
            </a:r>
            <a:endParaRPr lang="en-US" sz="1300" dirty="0"/>
          </a:p>
        </p:txBody>
      </p:sp>
      <p:sp>
        <p:nvSpPr>
          <p:cNvPr id="14" name="Shape 12"/>
          <p:cNvSpPr/>
          <p:nvPr/>
        </p:nvSpPr>
        <p:spPr>
          <a:xfrm>
            <a:off x="365760" y="4434840"/>
            <a:ext cx="8366760" cy="502920"/>
          </a:xfrm>
          <a:prstGeom prst="rect">
            <a:avLst/>
          </a:prstGeom>
          <a:solidFill>
            <a:srgbClr val="00B4D8">
              <a:alpha val="20000"/>
            </a:srgbClr>
          </a:solidFill>
          <a:ln w="12700">
            <a:solidFill>
              <a:srgbClr val="00B4D8"/>
            </a:solidFill>
            <a:prstDash val="solid"/>
          </a:ln>
        </p:spPr>
      </p:sp>
      <p:sp>
        <p:nvSpPr>
          <p:cNvPr id="15" name="Text 13"/>
          <p:cNvSpPr/>
          <p:nvPr/>
        </p:nvSpPr>
        <p:spPr>
          <a:xfrm>
            <a:off x="457200" y="4453128"/>
            <a:ext cx="8229600" cy="45720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Resultado: Visualización instantánea + Auditoría histórica completa + ETA predictivo</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2137"/>
        </a:solidFill>
      </p:bgPr>
    </p:bg>
    <p:spTree>
      <p:nvGrpSpPr>
        <p:cNvPr id="1" name=""/>
        <p:cNvGrpSpPr/>
        <p:nvPr/>
      </p:nvGrpSpPr>
      <p:grpSpPr>
        <a:xfrm>
          <a:off x="0" y="0"/>
          <a:ext cx="0" cy="0"/>
          <a:chOff x="0" y="0"/>
          <a:chExt cx="0" cy="0"/>
        </a:xfrm>
      </p:grpSpPr>
      <p:sp>
        <p:nvSpPr>
          <p:cNvPr id="2" name="Text 0"/>
          <p:cNvSpPr/>
          <p:nvPr/>
        </p:nvSpPr>
        <p:spPr>
          <a:xfrm>
            <a:off x="457200" y="228600"/>
            <a:ext cx="8229600" cy="548640"/>
          </a:xfrm>
          <a:prstGeom prst="rect">
            <a:avLst/>
          </a:prstGeom>
          <a:noFill/>
          <a:ln/>
        </p:spPr>
        <p:txBody>
          <a:bodyPr wrap="square"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STACK TECNOLÓGICO</a:t>
            </a:r>
            <a:endParaRPr lang="en-US" sz="3000" dirty="0"/>
          </a:p>
        </p:txBody>
      </p:sp>
      <p:sp>
        <p:nvSpPr>
          <p:cNvPr id="3" name="Shape 1"/>
          <p:cNvSpPr/>
          <p:nvPr/>
        </p:nvSpPr>
        <p:spPr>
          <a:xfrm>
            <a:off x="457200" y="749808"/>
            <a:ext cx="1371600" cy="45720"/>
          </a:xfrm>
          <a:prstGeom prst="rect">
            <a:avLst/>
          </a:prstGeom>
          <a:solidFill>
            <a:srgbClr val="00B4D8"/>
          </a:solidFill>
          <a:ln w="12700">
            <a:solidFill>
              <a:srgbClr val="00B4D8"/>
            </a:solidFill>
            <a:prstDash val="solid"/>
          </a:ln>
        </p:spPr>
      </p:sp>
      <p:sp>
        <p:nvSpPr>
          <p:cNvPr id="4" name="Text 2"/>
          <p:cNvSpPr/>
          <p:nvPr/>
        </p:nvSpPr>
        <p:spPr>
          <a:xfrm>
            <a:off x="457200" y="804672"/>
            <a:ext cx="8229600" cy="320040"/>
          </a:xfrm>
          <a:prstGeom prst="rect">
            <a:avLst/>
          </a:prstGeom>
          <a:noFill/>
          <a:ln/>
        </p:spPr>
        <p:txBody>
          <a:bodyPr wrap="square" rtlCol="0" anchor="ctr"/>
          <a:lstStyle/>
          <a:p>
            <a:pPr indent="0" marL="0">
              <a:buNone/>
            </a:pPr>
            <a:r>
              <a:rPr lang="en-US" sz="1300" dirty="0">
                <a:solidFill>
                  <a:srgbClr val="8BA8BE"/>
                </a:solidFill>
                <a:latin typeface="Calibri" pitchFamily="34" charset="0"/>
                <a:ea typeface="Calibri" pitchFamily="34" charset="-122"/>
                <a:cs typeface="Calibri" pitchFamily="34" charset="-120"/>
              </a:rPr>
              <a:t>Tecnologías elegidas por razones técnicas, no por tendencia</a:t>
            </a:r>
            <a:endParaRPr lang="en-US" sz="1300" dirty="0"/>
          </a:p>
        </p:txBody>
      </p:sp>
      <p:sp>
        <p:nvSpPr>
          <p:cNvPr id="5" name="Shape 3"/>
          <p:cNvSpPr/>
          <p:nvPr/>
        </p:nvSpPr>
        <p:spPr>
          <a:xfrm>
            <a:off x="365760" y="1234440"/>
            <a:ext cx="8412480" cy="640080"/>
          </a:xfrm>
          <a:prstGeom prst="rect">
            <a:avLst/>
          </a:prstGeom>
          <a:solidFill>
            <a:srgbClr val="112236"/>
          </a:solidFill>
          <a:ln w="12700">
            <a:solidFill>
              <a:srgbClr val="1A3A5C"/>
            </a:solidFill>
            <a:prstDash val="solid"/>
          </a:ln>
        </p:spPr>
      </p:sp>
      <p:sp>
        <p:nvSpPr>
          <p:cNvPr id="6" name="Shape 4"/>
          <p:cNvSpPr/>
          <p:nvPr/>
        </p:nvSpPr>
        <p:spPr>
          <a:xfrm>
            <a:off x="365760" y="1234440"/>
            <a:ext cx="64008" cy="640080"/>
          </a:xfrm>
          <a:prstGeom prst="rect">
            <a:avLst/>
          </a:prstGeom>
          <a:solidFill>
            <a:srgbClr val="FFD43B"/>
          </a:solidFill>
          <a:ln w="12700">
            <a:solidFill>
              <a:srgbClr val="FFD43B"/>
            </a:solidFill>
            <a:prstDash val="solid"/>
          </a:ln>
        </p:spPr>
      </p:sp>
      <p:sp>
        <p:nvSpPr>
          <p:cNvPr id="7" name="Text 5"/>
          <p:cNvSpPr/>
          <p:nvPr/>
        </p:nvSpPr>
        <p:spPr>
          <a:xfrm>
            <a:off x="548640" y="1280160"/>
            <a:ext cx="1280160" cy="320040"/>
          </a:xfrm>
          <a:prstGeom prst="rect">
            <a:avLst/>
          </a:prstGeom>
          <a:noFill/>
          <a:ln/>
        </p:spPr>
        <p:txBody>
          <a:bodyPr wrap="square" rtlCol="0" anchor="ctr"/>
          <a:lstStyle/>
          <a:p>
            <a:pPr indent="0" marL="0">
              <a:buNone/>
            </a:pPr>
            <a:r>
              <a:rPr lang="en-US" sz="1400" b="1" dirty="0">
                <a:solidFill>
                  <a:srgbClr val="FFD43B"/>
                </a:solidFill>
                <a:latin typeface="Calibri" pitchFamily="34" charset="0"/>
                <a:ea typeface="Calibri" pitchFamily="34" charset="-122"/>
                <a:cs typeface="Calibri" pitchFamily="34" charset="-120"/>
              </a:rPr>
              <a:t>Python</a:t>
            </a:r>
            <a:endParaRPr lang="en-US" sz="1400" dirty="0"/>
          </a:p>
        </p:txBody>
      </p:sp>
      <p:sp>
        <p:nvSpPr>
          <p:cNvPr id="8" name="Text 6"/>
          <p:cNvSpPr/>
          <p:nvPr/>
        </p:nvSpPr>
        <p:spPr>
          <a:xfrm>
            <a:off x="1920240" y="1289304"/>
            <a:ext cx="6766560" cy="502920"/>
          </a:xfrm>
          <a:prstGeom prst="rect">
            <a:avLst/>
          </a:prstGeom>
          <a:noFill/>
          <a:ln/>
        </p:spPr>
        <p:txBody>
          <a:bodyPr wrap="square" rtlCol="0" anchor="ctr"/>
          <a:lstStyle/>
          <a:p>
            <a:pPr indent="0" marL="0">
              <a:buNone/>
            </a:pPr>
            <a:r>
              <a:rPr lang="en-US" sz="1200" dirty="0">
                <a:solidFill>
                  <a:srgbClr val="E8F4F8"/>
                </a:solidFill>
                <a:latin typeface="Calibri" pitchFamily="34" charset="0"/>
                <a:ea typeface="Calibri" pitchFamily="34" charset="-122"/>
                <a:cs typeface="Calibri" pitchFamily="34" charset="-120"/>
              </a:rPr>
              <a:t>Librerías para telemetría (OpenSky API), procesamiento geoespacial y frameworks REST (Flask/FastAPI)</a:t>
            </a:r>
            <a:endParaRPr lang="en-US" sz="1200" dirty="0"/>
          </a:p>
        </p:txBody>
      </p:sp>
      <p:sp>
        <p:nvSpPr>
          <p:cNvPr id="9" name="Shape 7"/>
          <p:cNvSpPr/>
          <p:nvPr/>
        </p:nvSpPr>
        <p:spPr>
          <a:xfrm>
            <a:off x="365760" y="1965960"/>
            <a:ext cx="8412480" cy="640080"/>
          </a:xfrm>
          <a:prstGeom prst="rect">
            <a:avLst/>
          </a:prstGeom>
          <a:solidFill>
            <a:srgbClr val="112236"/>
          </a:solidFill>
          <a:ln w="12700">
            <a:solidFill>
              <a:srgbClr val="1A3A5C"/>
            </a:solidFill>
            <a:prstDash val="solid"/>
          </a:ln>
        </p:spPr>
      </p:sp>
      <p:sp>
        <p:nvSpPr>
          <p:cNvPr id="10" name="Shape 8"/>
          <p:cNvSpPr/>
          <p:nvPr/>
        </p:nvSpPr>
        <p:spPr>
          <a:xfrm>
            <a:off x="365760" y="1965960"/>
            <a:ext cx="64008" cy="640080"/>
          </a:xfrm>
          <a:prstGeom prst="rect">
            <a:avLst/>
          </a:prstGeom>
          <a:solidFill>
            <a:srgbClr val="FF4444"/>
          </a:solidFill>
          <a:ln w="12700">
            <a:solidFill>
              <a:srgbClr val="FF4444"/>
            </a:solidFill>
            <a:prstDash val="solid"/>
          </a:ln>
        </p:spPr>
      </p:sp>
      <p:sp>
        <p:nvSpPr>
          <p:cNvPr id="11" name="Text 9"/>
          <p:cNvSpPr/>
          <p:nvPr/>
        </p:nvSpPr>
        <p:spPr>
          <a:xfrm>
            <a:off x="548640" y="2011680"/>
            <a:ext cx="1280160" cy="320040"/>
          </a:xfrm>
          <a:prstGeom prst="rect">
            <a:avLst/>
          </a:prstGeom>
          <a:noFill/>
          <a:ln/>
        </p:spPr>
        <p:txBody>
          <a:bodyPr wrap="square" rtlCol="0" anchor="ctr"/>
          <a:lstStyle/>
          <a:p>
            <a:pPr indent="0" marL="0">
              <a:buNone/>
            </a:pPr>
            <a:r>
              <a:rPr lang="en-US" sz="1400" b="1" dirty="0">
                <a:solidFill>
                  <a:srgbClr val="FF4444"/>
                </a:solidFill>
                <a:latin typeface="Calibri" pitchFamily="34" charset="0"/>
                <a:ea typeface="Calibri" pitchFamily="34" charset="-122"/>
                <a:cs typeface="Calibri" pitchFamily="34" charset="-120"/>
              </a:rPr>
              <a:t>Redis</a:t>
            </a:r>
            <a:endParaRPr lang="en-US" sz="1400" dirty="0"/>
          </a:p>
        </p:txBody>
      </p:sp>
      <p:sp>
        <p:nvSpPr>
          <p:cNvPr id="12" name="Text 10"/>
          <p:cNvSpPr/>
          <p:nvPr/>
        </p:nvSpPr>
        <p:spPr>
          <a:xfrm>
            <a:off x="1920240" y="2020824"/>
            <a:ext cx="6766560" cy="502920"/>
          </a:xfrm>
          <a:prstGeom prst="rect">
            <a:avLst/>
          </a:prstGeom>
          <a:noFill/>
          <a:ln/>
        </p:spPr>
        <p:txBody>
          <a:bodyPr wrap="square" rtlCol="0" anchor="ctr"/>
          <a:lstStyle/>
          <a:p>
            <a:pPr indent="0" marL="0">
              <a:buNone/>
            </a:pPr>
            <a:r>
              <a:rPr lang="en-US" sz="1200" dirty="0">
                <a:solidFill>
                  <a:srgbClr val="E8F4F8"/>
                </a:solidFill>
                <a:latin typeface="Calibri" pitchFamily="34" charset="0"/>
                <a:ea typeface="Calibri" pitchFamily="34" charset="-122"/>
                <a:cs typeface="Calibri" pitchFamily="34" charset="-120"/>
              </a:rPr>
              <a:t>Motor in-memory para latencia &lt;10ms. Estructuras GEO nativas + Pub/Sub para mensajería reactiva</a:t>
            </a:r>
            <a:endParaRPr lang="en-US" sz="1200" dirty="0"/>
          </a:p>
        </p:txBody>
      </p:sp>
      <p:sp>
        <p:nvSpPr>
          <p:cNvPr id="13" name="Shape 11"/>
          <p:cNvSpPr/>
          <p:nvPr/>
        </p:nvSpPr>
        <p:spPr>
          <a:xfrm>
            <a:off x="365760" y="2697480"/>
            <a:ext cx="8412480" cy="640080"/>
          </a:xfrm>
          <a:prstGeom prst="rect">
            <a:avLst/>
          </a:prstGeom>
          <a:solidFill>
            <a:srgbClr val="112236"/>
          </a:solidFill>
          <a:ln w="12700">
            <a:solidFill>
              <a:srgbClr val="1A3A5C"/>
            </a:solidFill>
            <a:prstDash val="solid"/>
          </a:ln>
        </p:spPr>
      </p:sp>
      <p:sp>
        <p:nvSpPr>
          <p:cNvPr id="14" name="Shape 12"/>
          <p:cNvSpPr/>
          <p:nvPr/>
        </p:nvSpPr>
        <p:spPr>
          <a:xfrm>
            <a:off x="365760" y="2697480"/>
            <a:ext cx="64008" cy="640080"/>
          </a:xfrm>
          <a:prstGeom prst="rect">
            <a:avLst/>
          </a:prstGeom>
          <a:solidFill>
            <a:srgbClr val="00ED64"/>
          </a:solidFill>
          <a:ln w="12700">
            <a:solidFill>
              <a:srgbClr val="00ED64"/>
            </a:solidFill>
            <a:prstDash val="solid"/>
          </a:ln>
        </p:spPr>
      </p:sp>
      <p:sp>
        <p:nvSpPr>
          <p:cNvPr id="15" name="Text 13"/>
          <p:cNvSpPr/>
          <p:nvPr/>
        </p:nvSpPr>
        <p:spPr>
          <a:xfrm>
            <a:off x="548640" y="2743200"/>
            <a:ext cx="1280160" cy="320040"/>
          </a:xfrm>
          <a:prstGeom prst="rect">
            <a:avLst/>
          </a:prstGeom>
          <a:noFill/>
          <a:ln/>
        </p:spPr>
        <p:txBody>
          <a:bodyPr wrap="square" rtlCol="0" anchor="ctr"/>
          <a:lstStyle/>
          <a:p>
            <a:pPr indent="0" marL="0">
              <a:buNone/>
            </a:pPr>
            <a:r>
              <a:rPr lang="en-US" sz="1400" b="1" dirty="0">
                <a:solidFill>
                  <a:srgbClr val="00ED64"/>
                </a:solidFill>
                <a:latin typeface="Calibri" pitchFamily="34" charset="0"/>
                <a:ea typeface="Calibri" pitchFamily="34" charset="-122"/>
                <a:cs typeface="Calibri" pitchFamily="34" charset="-120"/>
              </a:rPr>
              <a:t>MongoDB</a:t>
            </a:r>
            <a:endParaRPr lang="en-US" sz="1400" dirty="0"/>
          </a:p>
        </p:txBody>
      </p:sp>
      <p:sp>
        <p:nvSpPr>
          <p:cNvPr id="16" name="Text 14"/>
          <p:cNvSpPr/>
          <p:nvPr/>
        </p:nvSpPr>
        <p:spPr>
          <a:xfrm>
            <a:off x="1920240" y="2752344"/>
            <a:ext cx="6766560" cy="502920"/>
          </a:xfrm>
          <a:prstGeom prst="rect">
            <a:avLst/>
          </a:prstGeom>
          <a:noFill/>
          <a:ln/>
        </p:spPr>
        <p:txBody>
          <a:bodyPr wrap="square" rtlCol="0" anchor="ctr"/>
          <a:lstStyle/>
          <a:p>
            <a:pPr indent="0" marL="0">
              <a:buNone/>
            </a:pPr>
            <a:r>
              <a:rPr lang="en-US" sz="1200" dirty="0">
                <a:solidFill>
                  <a:srgbClr val="E8F4F8"/>
                </a:solidFill>
                <a:latin typeface="Calibri" pitchFamily="34" charset="0"/>
                <a:ea typeface="Calibri" pitchFamily="34" charset="-122"/>
                <a:cs typeface="Calibri" pitchFamily="34" charset="-120"/>
              </a:rPr>
              <a:t>Modelo documental flexible (BSON) absorbe sensores IoT heterogéneos. Índices geoespaciales 2dsphere</a:t>
            </a:r>
            <a:endParaRPr lang="en-US" sz="1200" dirty="0"/>
          </a:p>
        </p:txBody>
      </p:sp>
      <p:sp>
        <p:nvSpPr>
          <p:cNvPr id="17" name="Shape 15"/>
          <p:cNvSpPr/>
          <p:nvPr/>
        </p:nvSpPr>
        <p:spPr>
          <a:xfrm>
            <a:off x="365760" y="3429000"/>
            <a:ext cx="8412480" cy="640080"/>
          </a:xfrm>
          <a:prstGeom prst="rect">
            <a:avLst/>
          </a:prstGeom>
          <a:solidFill>
            <a:srgbClr val="112236"/>
          </a:solidFill>
          <a:ln w="12700">
            <a:solidFill>
              <a:srgbClr val="1A3A5C"/>
            </a:solidFill>
            <a:prstDash val="solid"/>
          </a:ln>
        </p:spPr>
      </p:sp>
      <p:sp>
        <p:nvSpPr>
          <p:cNvPr id="18" name="Shape 16"/>
          <p:cNvSpPr/>
          <p:nvPr/>
        </p:nvSpPr>
        <p:spPr>
          <a:xfrm>
            <a:off x="365760" y="3429000"/>
            <a:ext cx="64008" cy="640080"/>
          </a:xfrm>
          <a:prstGeom prst="rect">
            <a:avLst/>
          </a:prstGeom>
          <a:solidFill>
            <a:srgbClr val="2496ED"/>
          </a:solidFill>
          <a:ln w="12700">
            <a:solidFill>
              <a:srgbClr val="2496ED"/>
            </a:solidFill>
            <a:prstDash val="solid"/>
          </a:ln>
        </p:spPr>
      </p:sp>
      <p:sp>
        <p:nvSpPr>
          <p:cNvPr id="19" name="Text 17"/>
          <p:cNvSpPr/>
          <p:nvPr/>
        </p:nvSpPr>
        <p:spPr>
          <a:xfrm>
            <a:off x="548640" y="3474720"/>
            <a:ext cx="1280160" cy="320040"/>
          </a:xfrm>
          <a:prstGeom prst="rect">
            <a:avLst/>
          </a:prstGeom>
          <a:noFill/>
          <a:ln/>
        </p:spPr>
        <p:txBody>
          <a:bodyPr wrap="square" rtlCol="0" anchor="ctr"/>
          <a:lstStyle/>
          <a:p>
            <a:pPr indent="0" marL="0">
              <a:buNone/>
            </a:pPr>
            <a:r>
              <a:rPr lang="en-US" sz="1400" b="1" dirty="0">
                <a:solidFill>
                  <a:srgbClr val="2496ED"/>
                </a:solidFill>
                <a:latin typeface="Calibri" pitchFamily="34" charset="0"/>
                <a:ea typeface="Calibri" pitchFamily="34" charset="-122"/>
                <a:cs typeface="Calibri" pitchFamily="34" charset="-120"/>
              </a:rPr>
              <a:t>Docker</a:t>
            </a:r>
            <a:endParaRPr lang="en-US" sz="1400" dirty="0"/>
          </a:p>
        </p:txBody>
      </p:sp>
      <p:sp>
        <p:nvSpPr>
          <p:cNvPr id="20" name="Text 18"/>
          <p:cNvSpPr/>
          <p:nvPr/>
        </p:nvSpPr>
        <p:spPr>
          <a:xfrm>
            <a:off x="1920240" y="3483864"/>
            <a:ext cx="6766560" cy="502920"/>
          </a:xfrm>
          <a:prstGeom prst="rect">
            <a:avLst/>
          </a:prstGeom>
          <a:noFill/>
          <a:ln/>
        </p:spPr>
        <p:txBody>
          <a:bodyPr wrap="square" rtlCol="0" anchor="ctr"/>
          <a:lstStyle/>
          <a:p>
            <a:pPr indent="0" marL="0">
              <a:buNone/>
            </a:pPr>
            <a:r>
              <a:rPr lang="en-US" sz="1200" dirty="0">
                <a:solidFill>
                  <a:srgbClr val="E8F4F8"/>
                </a:solidFill>
                <a:latin typeface="Calibri" pitchFamily="34" charset="0"/>
                <a:ea typeface="Calibri" pitchFamily="34" charset="-122"/>
                <a:cs typeface="Calibri" pitchFamily="34" charset="-120"/>
              </a:rPr>
              <a:t>Contenedores aislados garantizan paridad entre dev y prod en Debian 13 (Trixie)</a:t>
            </a:r>
            <a:endParaRPr lang="en-US" sz="1200" dirty="0"/>
          </a:p>
        </p:txBody>
      </p:sp>
      <p:sp>
        <p:nvSpPr>
          <p:cNvPr id="21" name="Shape 19"/>
          <p:cNvSpPr/>
          <p:nvPr/>
        </p:nvSpPr>
        <p:spPr>
          <a:xfrm>
            <a:off x="365760" y="4160520"/>
            <a:ext cx="8412480" cy="640080"/>
          </a:xfrm>
          <a:prstGeom prst="rect">
            <a:avLst/>
          </a:prstGeom>
          <a:solidFill>
            <a:srgbClr val="112236"/>
          </a:solidFill>
          <a:ln w="12700">
            <a:solidFill>
              <a:srgbClr val="1A3A5C"/>
            </a:solidFill>
            <a:prstDash val="solid"/>
          </a:ln>
        </p:spPr>
      </p:sp>
      <p:sp>
        <p:nvSpPr>
          <p:cNvPr id="22" name="Shape 20"/>
          <p:cNvSpPr/>
          <p:nvPr/>
        </p:nvSpPr>
        <p:spPr>
          <a:xfrm>
            <a:off x="365760" y="4160520"/>
            <a:ext cx="64008" cy="640080"/>
          </a:xfrm>
          <a:prstGeom prst="rect">
            <a:avLst/>
          </a:prstGeom>
          <a:solidFill>
            <a:srgbClr val="9B9B9B"/>
          </a:solidFill>
          <a:ln w="12700">
            <a:solidFill>
              <a:srgbClr val="9B9B9B"/>
            </a:solidFill>
            <a:prstDash val="solid"/>
          </a:ln>
        </p:spPr>
      </p:sp>
      <p:sp>
        <p:nvSpPr>
          <p:cNvPr id="23" name="Text 21"/>
          <p:cNvSpPr/>
          <p:nvPr/>
        </p:nvSpPr>
        <p:spPr>
          <a:xfrm>
            <a:off x="548640" y="4206240"/>
            <a:ext cx="1280160" cy="320040"/>
          </a:xfrm>
          <a:prstGeom prst="rect">
            <a:avLst/>
          </a:prstGeom>
          <a:noFill/>
          <a:ln/>
        </p:spPr>
        <p:txBody>
          <a:bodyPr wrap="square" rtlCol="0" anchor="ctr"/>
          <a:lstStyle/>
          <a:p>
            <a:pPr indent="0" marL="0">
              <a:buNone/>
            </a:pPr>
            <a:r>
              <a:rPr lang="en-US" sz="1400" b="1" dirty="0">
                <a:solidFill>
                  <a:srgbClr val="9B9B9B"/>
                </a:solidFill>
                <a:latin typeface="Calibri" pitchFamily="34" charset="0"/>
                <a:ea typeface="Calibri" pitchFamily="34" charset="-122"/>
                <a:cs typeface="Calibri" pitchFamily="34" charset="-120"/>
              </a:rPr>
              <a:t>Debian 13</a:t>
            </a:r>
            <a:endParaRPr lang="en-US" sz="1400" dirty="0"/>
          </a:p>
        </p:txBody>
      </p:sp>
      <p:sp>
        <p:nvSpPr>
          <p:cNvPr id="24" name="Text 22"/>
          <p:cNvSpPr/>
          <p:nvPr/>
        </p:nvSpPr>
        <p:spPr>
          <a:xfrm>
            <a:off x="1920240" y="4215384"/>
            <a:ext cx="6766560" cy="502920"/>
          </a:xfrm>
          <a:prstGeom prst="rect">
            <a:avLst/>
          </a:prstGeom>
          <a:noFill/>
          <a:ln/>
        </p:spPr>
        <p:txBody>
          <a:bodyPr wrap="square" rtlCol="0" anchor="ctr"/>
          <a:lstStyle/>
          <a:p>
            <a:pPr indent="0" marL="0">
              <a:buNone/>
            </a:pPr>
            <a:r>
              <a:rPr lang="en-US" sz="1200" dirty="0">
                <a:solidFill>
                  <a:srgbClr val="E8F4F8"/>
                </a:solidFill>
                <a:latin typeface="Calibri" pitchFamily="34" charset="0"/>
                <a:ea typeface="Calibri" pitchFamily="34" charset="-122"/>
                <a:cs typeface="Calibri" pitchFamily="34" charset="-120"/>
              </a:rPr>
              <a:t>Base estable para servicios de servidor de larga duración con gestión robusta de paquetes APT</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F4444"/>
          </a:solidFill>
          <a:ln w="12700">
            <a:solidFill>
              <a:srgbClr val="FF4444"/>
            </a:solidFill>
            <a:prstDash val="solid"/>
          </a:ln>
        </p:spPr>
      </p:sp>
      <p:sp>
        <p:nvSpPr>
          <p:cNvPr id="3" name="Text 1"/>
          <p:cNvSpPr/>
          <p:nvPr/>
        </p:nvSpPr>
        <p:spPr>
          <a:xfrm>
            <a:off x="457200" y="182880"/>
            <a:ext cx="8229600" cy="548640"/>
          </a:xfrm>
          <a:prstGeom prst="rect">
            <a:avLst/>
          </a:prstGeom>
          <a:noFill/>
          <a:ln/>
        </p:spPr>
        <p:txBody>
          <a:bodyPr wrap="square"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ESTRATEGIA NOSQL — REDIS</a:t>
            </a:r>
            <a:endParaRPr lang="en-US" sz="3000" dirty="0"/>
          </a:p>
        </p:txBody>
      </p:sp>
      <p:sp>
        <p:nvSpPr>
          <p:cNvPr id="4" name="Text 2"/>
          <p:cNvSpPr/>
          <p:nvPr/>
        </p:nvSpPr>
        <p:spPr>
          <a:xfrm>
            <a:off x="457200" y="731520"/>
            <a:ext cx="8229600" cy="320040"/>
          </a:xfrm>
          <a:prstGeom prst="rect">
            <a:avLst/>
          </a:prstGeom>
          <a:noFill/>
          <a:ln/>
        </p:spPr>
        <p:txBody>
          <a:bodyPr wrap="square" rtlCol="0" anchor="ctr"/>
          <a:lstStyle/>
          <a:p>
            <a:pPr indent="0" marL="0">
              <a:buNone/>
            </a:pPr>
            <a:r>
              <a:rPr lang="en-US" sz="1300" dirty="0">
                <a:solidFill>
                  <a:srgbClr val="8BA8BE"/>
                </a:solidFill>
                <a:latin typeface="Calibri" pitchFamily="34" charset="0"/>
                <a:ea typeface="Calibri" pitchFamily="34" charset="-122"/>
                <a:cs typeface="Calibri" pitchFamily="34" charset="-120"/>
              </a:rPr>
              <a:t>Telemetría activa en memoria · Latencia de microsegundos</a:t>
            </a:r>
            <a:endParaRPr lang="en-US" sz="1300" dirty="0"/>
          </a:p>
        </p:txBody>
      </p:sp>
      <p:sp>
        <p:nvSpPr>
          <p:cNvPr id="5" name="Shape 3"/>
          <p:cNvSpPr/>
          <p:nvPr/>
        </p:nvSpPr>
        <p:spPr>
          <a:xfrm>
            <a:off x="365760" y="1143000"/>
            <a:ext cx="4023360" cy="3566160"/>
          </a:xfrm>
          <a:prstGeom prst="rect">
            <a:avLst/>
          </a:prstGeom>
          <a:solidFill>
            <a:srgbClr val="1A0000"/>
          </a:solidFill>
          <a:ln w="12700">
            <a:solidFill>
              <a:srgbClr val="FF4444"/>
            </a:solidFill>
            <a:prstDash val="solid"/>
          </a:ln>
          <a:effectLst>
            <a:outerShdw sx="100000" sy="100000" kx="0" ky="0" algn="bl" rotWithShape="0" blurRad="101600" dist="38100" dir="8100000">
              <a:srgbClr val="000000">
                <a:alpha val="25000"/>
              </a:srgbClr>
            </a:outerShdw>
          </a:effectLst>
        </p:spPr>
      </p:sp>
      <p:sp>
        <p:nvSpPr>
          <p:cNvPr id="6" name="Text 4"/>
          <p:cNvSpPr/>
          <p:nvPr/>
        </p:nvSpPr>
        <p:spPr>
          <a:xfrm>
            <a:off x="502920" y="1234440"/>
            <a:ext cx="3749040" cy="347472"/>
          </a:xfrm>
          <a:prstGeom prst="rect">
            <a:avLst/>
          </a:prstGeom>
          <a:noFill/>
          <a:ln/>
        </p:spPr>
        <p:txBody>
          <a:bodyPr wrap="square" rtlCol="0" anchor="ctr"/>
          <a:lstStyle/>
          <a:p>
            <a:pPr indent="0" marL="0">
              <a:buNone/>
            </a:pPr>
            <a:r>
              <a:rPr lang="en-US" sz="1400" b="1" dirty="0">
                <a:solidFill>
                  <a:srgbClr val="FF4444"/>
                </a:solidFill>
                <a:latin typeface="Calibri" pitchFamily="34" charset="0"/>
                <a:ea typeface="Calibri" pitchFamily="34" charset="-122"/>
                <a:cs typeface="Calibri" pitchFamily="34" charset="-120"/>
              </a:rPr>
              <a:t>ESTRUCTURAS CLAVE</a:t>
            </a:r>
            <a:endParaRPr lang="en-US" sz="1400" dirty="0"/>
          </a:p>
        </p:txBody>
      </p:sp>
      <p:sp>
        <p:nvSpPr>
          <p:cNvPr id="7" name="Shape 5"/>
          <p:cNvSpPr/>
          <p:nvPr/>
        </p:nvSpPr>
        <p:spPr>
          <a:xfrm>
            <a:off x="502920" y="1691640"/>
            <a:ext cx="3749040" cy="640080"/>
          </a:xfrm>
          <a:prstGeom prst="rect">
            <a:avLst/>
          </a:prstGeom>
          <a:solidFill>
            <a:srgbClr val="112236"/>
          </a:solidFill>
          <a:ln w="12700">
            <a:solidFill>
              <a:srgbClr val="1A3A5C"/>
            </a:solidFill>
            <a:prstDash val="solid"/>
          </a:ln>
        </p:spPr>
      </p:sp>
      <p:sp>
        <p:nvSpPr>
          <p:cNvPr id="8" name="Text 6"/>
          <p:cNvSpPr/>
          <p:nvPr/>
        </p:nvSpPr>
        <p:spPr>
          <a:xfrm>
            <a:off x="594360" y="1728216"/>
            <a:ext cx="914400" cy="256032"/>
          </a:xfrm>
          <a:prstGeom prst="rect">
            <a:avLst/>
          </a:prstGeom>
          <a:noFill/>
          <a:ln/>
        </p:spPr>
        <p:txBody>
          <a:bodyPr wrap="square" rtlCol="0" anchor="ctr"/>
          <a:lstStyle/>
          <a:p>
            <a:pPr indent="0" marL="0">
              <a:buNone/>
            </a:pPr>
            <a:r>
              <a:rPr lang="en-US" sz="1000" b="1" dirty="0">
                <a:solidFill>
                  <a:srgbClr val="FF4444"/>
                </a:solidFill>
                <a:latin typeface="Calibri" pitchFamily="34" charset="0"/>
                <a:ea typeface="Calibri" pitchFamily="34" charset="-122"/>
                <a:cs typeface="Calibri" pitchFamily="34" charset="-120"/>
              </a:rPr>
              <a:t>GEO Hash</a:t>
            </a:r>
            <a:endParaRPr lang="en-US" sz="1000" dirty="0"/>
          </a:p>
        </p:txBody>
      </p:sp>
      <p:sp>
        <p:nvSpPr>
          <p:cNvPr id="9" name="Text 7"/>
          <p:cNvSpPr/>
          <p:nvPr/>
        </p:nvSpPr>
        <p:spPr>
          <a:xfrm>
            <a:off x="1536192" y="1728216"/>
            <a:ext cx="2651760" cy="256032"/>
          </a:xfrm>
          <a:prstGeom prst="rect">
            <a:avLst/>
          </a:prstGeom>
          <a:noFill/>
          <a:ln/>
        </p:spPr>
        <p:txBody>
          <a:bodyPr wrap="square" rtlCol="0" anchor="ctr"/>
          <a:lstStyle/>
          <a:p>
            <a:pPr indent="0" marL="0">
              <a:buNone/>
            </a:pPr>
            <a:r>
              <a:rPr lang="en-US" sz="1000" i="1" dirty="0">
                <a:solidFill>
                  <a:srgbClr val="00B4D8"/>
                </a:solidFill>
                <a:latin typeface="Calibri" pitchFamily="34" charset="0"/>
                <a:ea typeface="Calibri" pitchFamily="34" charset="-122"/>
                <a:cs typeface="Calibri" pitchFamily="34" charset="-120"/>
              </a:rPr>
              <a:t>active_flights_geo</a:t>
            </a:r>
            <a:endParaRPr lang="en-US" sz="1000" dirty="0"/>
          </a:p>
        </p:txBody>
      </p:sp>
      <p:sp>
        <p:nvSpPr>
          <p:cNvPr id="10" name="Text 8"/>
          <p:cNvSpPr/>
          <p:nvPr/>
        </p:nvSpPr>
        <p:spPr>
          <a:xfrm>
            <a:off x="594360" y="2002536"/>
            <a:ext cx="3566160" cy="256032"/>
          </a:xfrm>
          <a:prstGeom prst="rect">
            <a:avLst/>
          </a:prstGeom>
          <a:noFill/>
          <a:ln/>
        </p:spPr>
        <p:txBody>
          <a:bodyPr wrap="square" rtlCol="0" anchor="ctr"/>
          <a:lstStyle/>
          <a:p>
            <a:pPr indent="0" marL="0">
              <a:buNone/>
            </a:pPr>
            <a:r>
              <a:rPr lang="en-US" sz="1000" dirty="0">
                <a:solidFill>
                  <a:srgbClr val="8BA8BE"/>
                </a:solidFill>
                <a:latin typeface="Calibri" pitchFamily="34" charset="0"/>
                <a:ea typeface="Calibri" pitchFamily="34" charset="-122"/>
                <a:cs typeface="Calibri" pitchFamily="34" charset="-120"/>
              </a:rPr>
              <a:t>Coordenadas de aeronaves con radio de búsqueda</a:t>
            </a:r>
            <a:endParaRPr lang="en-US" sz="1000" dirty="0"/>
          </a:p>
        </p:txBody>
      </p:sp>
      <p:sp>
        <p:nvSpPr>
          <p:cNvPr id="11" name="Shape 9"/>
          <p:cNvSpPr/>
          <p:nvPr/>
        </p:nvSpPr>
        <p:spPr>
          <a:xfrm>
            <a:off x="502920" y="2423160"/>
            <a:ext cx="3749040" cy="640080"/>
          </a:xfrm>
          <a:prstGeom prst="rect">
            <a:avLst/>
          </a:prstGeom>
          <a:solidFill>
            <a:srgbClr val="112236"/>
          </a:solidFill>
          <a:ln w="12700">
            <a:solidFill>
              <a:srgbClr val="1A3A5C"/>
            </a:solidFill>
            <a:prstDash val="solid"/>
          </a:ln>
        </p:spPr>
      </p:sp>
      <p:sp>
        <p:nvSpPr>
          <p:cNvPr id="12" name="Text 10"/>
          <p:cNvSpPr/>
          <p:nvPr/>
        </p:nvSpPr>
        <p:spPr>
          <a:xfrm>
            <a:off x="594360" y="2459736"/>
            <a:ext cx="914400" cy="256032"/>
          </a:xfrm>
          <a:prstGeom prst="rect">
            <a:avLst/>
          </a:prstGeom>
          <a:noFill/>
          <a:ln/>
        </p:spPr>
        <p:txBody>
          <a:bodyPr wrap="square" rtlCol="0" anchor="ctr"/>
          <a:lstStyle/>
          <a:p>
            <a:pPr indent="0" marL="0">
              <a:buNone/>
            </a:pPr>
            <a:r>
              <a:rPr lang="en-US" sz="1000" b="1" dirty="0">
                <a:solidFill>
                  <a:srgbClr val="FF4444"/>
                </a:solidFill>
                <a:latin typeface="Calibri" pitchFamily="34" charset="0"/>
                <a:ea typeface="Calibri" pitchFamily="34" charset="-122"/>
                <a:cs typeface="Calibri" pitchFamily="34" charset="-120"/>
              </a:rPr>
              <a:t>String/JSON</a:t>
            </a:r>
            <a:endParaRPr lang="en-US" sz="1000" dirty="0"/>
          </a:p>
        </p:txBody>
      </p:sp>
      <p:sp>
        <p:nvSpPr>
          <p:cNvPr id="13" name="Text 11"/>
          <p:cNvSpPr/>
          <p:nvPr/>
        </p:nvSpPr>
        <p:spPr>
          <a:xfrm>
            <a:off x="1536192" y="2459736"/>
            <a:ext cx="2651760" cy="256032"/>
          </a:xfrm>
          <a:prstGeom prst="rect">
            <a:avLst/>
          </a:prstGeom>
          <a:noFill/>
          <a:ln/>
        </p:spPr>
        <p:txBody>
          <a:bodyPr wrap="square" rtlCol="0" anchor="ctr"/>
          <a:lstStyle/>
          <a:p>
            <a:pPr indent="0" marL="0">
              <a:buNone/>
            </a:pPr>
            <a:r>
              <a:rPr lang="en-US" sz="1000" i="1" dirty="0">
                <a:solidFill>
                  <a:srgbClr val="00B4D8"/>
                </a:solidFill>
                <a:latin typeface="Calibri" pitchFamily="34" charset="0"/>
                <a:ea typeface="Calibri" pitchFamily="34" charset="-122"/>
                <a:cs typeface="Calibri" pitchFamily="34" charset="-120"/>
              </a:rPr>
              <a:t>last_ping:{icao24}</a:t>
            </a:r>
            <a:endParaRPr lang="en-US" sz="1000" dirty="0"/>
          </a:p>
        </p:txBody>
      </p:sp>
      <p:sp>
        <p:nvSpPr>
          <p:cNvPr id="14" name="Text 12"/>
          <p:cNvSpPr/>
          <p:nvPr/>
        </p:nvSpPr>
        <p:spPr>
          <a:xfrm>
            <a:off x="594360" y="2734056"/>
            <a:ext cx="3566160" cy="256032"/>
          </a:xfrm>
          <a:prstGeom prst="rect">
            <a:avLst/>
          </a:prstGeom>
          <a:noFill/>
          <a:ln/>
        </p:spPr>
        <p:txBody>
          <a:bodyPr wrap="square" rtlCol="0" anchor="ctr"/>
          <a:lstStyle/>
          <a:p>
            <a:pPr indent="0" marL="0">
              <a:buNone/>
            </a:pPr>
            <a:r>
              <a:rPr lang="en-US" sz="1000" dirty="0">
                <a:solidFill>
                  <a:srgbClr val="8BA8BE"/>
                </a:solidFill>
                <a:latin typeface="Calibri" pitchFamily="34" charset="0"/>
                <a:ea typeface="Calibri" pitchFamily="34" charset="-122"/>
                <a:cs typeface="Calibri" pitchFamily="34" charset="-120"/>
              </a:rPr>
              <a:t>Último estado de telemetría por aeronave</a:t>
            </a:r>
            <a:endParaRPr lang="en-US" sz="1000" dirty="0"/>
          </a:p>
        </p:txBody>
      </p:sp>
      <p:sp>
        <p:nvSpPr>
          <p:cNvPr id="15" name="Shape 13"/>
          <p:cNvSpPr/>
          <p:nvPr/>
        </p:nvSpPr>
        <p:spPr>
          <a:xfrm>
            <a:off x="502920" y="3154680"/>
            <a:ext cx="3749040" cy="640080"/>
          </a:xfrm>
          <a:prstGeom prst="rect">
            <a:avLst/>
          </a:prstGeom>
          <a:solidFill>
            <a:srgbClr val="112236"/>
          </a:solidFill>
          <a:ln w="12700">
            <a:solidFill>
              <a:srgbClr val="1A3A5C"/>
            </a:solidFill>
            <a:prstDash val="solid"/>
          </a:ln>
        </p:spPr>
      </p:sp>
      <p:sp>
        <p:nvSpPr>
          <p:cNvPr id="16" name="Text 14"/>
          <p:cNvSpPr/>
          <p:nvPr/>
        </p:nvSpPr>
        <p:spPr>
          <a:xfrm>
            <a:off x="594360" y="3191256"/>
            <a:ext cx="914400" cy="256032"/>
          </a:xfrm>
          <a:prstGeom prst="rect">
            <a:avLst/>
          </a:prstGeom>
          <a:noFill/>
          <a:ln/>
        </p:spPr>
        <p:txBody>
          <a:bodyPr wrap="square" rtlCol="0" anchor="ctr"/>
          <a:lstStyle/>
          <a:p>
            <a:pPr indent="0" marL="0">
              <a:buNone/>
            </a:pPr>
            <a:r>
              <a:rPr lang="en-US" sz="1000" b="1" dirty="0">
                <a:solidFill>
                  <a:srgbClr val="FF4444"/>
                </a:solidFill>
                <a:latin typeface="Calibri" pitchFamily="34" charset="0"/>
                <a:ea typeface="Calibri" pitchFamily="34" charset="-122"/>
                <a:cs typeface="Calibri" pitchFamily="34" charset="-120"/>
              </a:rPr>
              <a:t>Hash</a:t>
            </a:r>
            <a:endParaRPr lang="en-US" sz="1000" dirty="0"/>
          </a:p>
        </p:txBody>
      </p:sp>
      <p:sp>
        <p:nvSpPr>
          <p:cNvPr id="17" name="Text 15"/>
          <p:cNvSpPr/>
          <p:nvPr/>
        </p:nvSpPr>
        <p:spPr>
          <a:xfrm>
            <a:off x="1536192" y="3191256"/>
            <a:ext cx="2651760" cy="256032"/>
          </a:xfrm>
          <a:prstGeom prst="rect">
            <a:avLst/>
          </a:prstGeom>
          <a:noFill/>
          <a:ln/>
        </p:spPr>
        <p:txBody>
          <a:bodyPr wrap="square" rtlCol="0" anchor="ctr"/>
          <a:lstStyle/>
          <a:p>
            <a:pPr indent="0" marL="0">
              <a:buNone/>
            </a:pPr>
            <a:r>
              <a:rPr lang="en-US" sz="1000" i="1" dirty="0">
                <a:solidFill>
                  <a:srgbClr val="00B4D8"/>
                </a:solidFill>
                <a:latin typeface="Calibri" pitchFamily="34" charset="0"/>
                <a:ea typeface="Calibri" pitchFamily="34" charset="-122"/>
                <a:cs typeface="Calibri" pitchFamily="34" charset="-120"/>
              </a:rPr>
              <a:t>session_tokens:users</a:t>
            </a:r>
            <a:endParaRPr lang="en-US" sz="1000" dirty="0"/>
          </a:p>
        </p:txBody>
      </p:sp>
      <p:sp>
        <p:nvSpPr>
          <p:cNvPr id="18" name="Text 16"/>
          <p:cNvSpPr/>
          <p:nvPr/>
        </p:nvSpPr>
        <p:spPr>
          <a:xfrm>
            <a:off x="594360" y="3465576"/>
            <a:ext cx="3566160" cy="256032"/>
          </a:xfrm>
          <a:prstGeom prst="rect">
            <a:avLst/>
          </a:prstGeom>
          <a:noFill/>
          <a:ln/>
        </p:spPr>
        <p:txBody>
          <a:bodyPr wrap="square" rtlCol="0" anchor="ctr"/>
          <a:lstStyle/>
          <a:p>
            <a:pPr indent="0" marL="0">
              <a:buNone/>
            </a:pPr>
            <a:r>
              <a:rPr lang="en-US" sz="1000" dirty="0">
                <a:solidFill>
                  <a:srgbClr val="8BA8BE"/>
                </a:solidFill>
                <a:latin typeface="Calibri" pitchFamily="34" charset="0"/>
                <a:ea typeface="Calibri" pitchFamily="34" charset="-122"/>
                <a:cs typeface="Calibri" pitchFamily="34" charset="-120"/>
              </a:rPr>
              <a:t>Gestión de sesiones activas con TTL</a:t>
            </a:r>
            <a:endParaRPr lang="en-US" sz="1000" dirty="0"/>
          </a:p>
        </p:txBody>
      </p:sp>
      <p:sp>
        <p:nvSpPr>
          <p:cNvPr id="19" name="Shape 17"/>
          <p:cNvSpPr/>
          <p:nvPr/>
        </p:nvSpPr>
        <p:spPr>
          <a:xfrm>
            <a:off x="502920" y="3886200"/>
            <a:ext cx="3749040" cy="640080"/>
          </a:xfrm>
          <a:prstGeom prst="rect">
            <a:avLst/>
          </a:prstGeom>
          <a:solidFill>
            <a:srgbClr val="112236"/>
          </a:solidFill>
          <a:ln w="12700">
            <a:solidFill>
              <a:srgbClr val="1A3A5C"/>
            </a:solidFill>
            <a:prstDash val="solid"/>
          </a:ln>
        </p:spPr>
      </p:sp>
      <p:sp>
        <p:nvSpPr>
          <p:cNvPr id="20" name="Text 18"/>
          <p:cNvSpPr/>
          <p:nvPr/>
        </p:nvSpPr>
        <p:spPr>
          <a:xfrm>
            <a:off x="594360" y="3922776"/>
            <a:ext cx="914400" cy="256032"/>
          </a:xfrm>
          <a:prstGeom prst="rect">
            <a:avLst/>
          </a:prstGeom>
          <a:noFill/>
          <a:ln/>
        </p:spPr>
        <p:txBody>
          <a:bodyPr wrap="square" rtlCol="0" anchor="ctr"/>
          <a:lstStyle/>
          <a:p>
            <a:pPr indent="0" marL="0">
              <a:buNone/>
            </a:pPr>
            <a:r>
              <a:rPr lang="en-US" sz="1000" b="1" dirty="0">
                <a:solidFill>
                  <a:srgbClr val="FF4444"/>
                </a:solidFill>
                <a:latin typeface="Calibri" pitchFamily="34" charset="0"/>
                <a:ea typeface="Calibri" pitchFamily="34" charset="-122"/>
                <a:cs typeface="Calibri" pitchFamily="34" charset="-120"/>
              </a:rPr>
              <a:t>String</a:t>
            </a:r>
            <a:endParaRPr lang="en-US" sz="1000" dirty="0"/>
          </a:p>
        </p:txBody>
      </p:sp>
      <p:sp>
        <p:nvSpPr>
          <p:cNvPr id="21" name="Text 19"/>
          <p:cNvSpPr/>
          <p:nvPr/>
        </p:nvSpPr>
        <p:spPr>
          <a:xfrm>
            <a:off x="1536192" y="3922776"/>
            <a:ext cx="2651760" cy="256032"/>
          </a:xfrm>
          <a:prstGeom prst="rect">
            <a:avLst/>
          </a:prstGeom>
          <a:noFill/>
          <a:ln/>
        </p:spPr>
        <p:txBody>
          <a:bodyPr wrap="square" rtlCol="0" anchor="ctr"/>
          <a:lstStyle/>
          <a:p>
            <a:pPr indent="0" marL="0">
              <a:buNone/>
            </a:pPr>
            <a:r>
              <a:rPr lang="en-US" sz="1000" i="1" dirty="0">
                <a:solidFill>
                  <a:srgbClr val="00B4D8"/>
                </a:solidFill>
                <a:latin typeface="Calibri" pitchFamily="34" charset="0"/>
                <a:ea typeface="Calibri" pitchFamily="34" charset="-122"/>
                <a:cs typeface="Calibri" pitchFamily="34" charset="-120"/>
              </a:rPr>
              <a:t>system_health_metrics</a:t>
            </a:r>
            <a:endParaRPr lang="en-US" sz="1000" dirty="0"/>
          </a:p>
        </p:txBody>
      </p:sp>
      <p:sp>
        <p:nvSpPr>
          <p:cNvPr id="22" name="Text 20"/>
          <p:cNvSpPr/>
          <p:nvPr/>
        </p:nvSpPr>
        <p:spPr>
          <a:xfrm>
            <a:off x="594360" y="4197096"/>
            <a:ext cx="3566160" cy="256032"/>
          </a:xfrm>
          <a:prstGeom prst="rect">
            <a:avLst/>
          </a:prstGeom>
          <a:noFill/>
          <a:ln/>
        </p:spPr>
        <p:txBody>
          <a:bodyPr wrap="square" rtlCol="0" anchor="ctr"/>
          <a:lstStyle/>
          <a:p>
            <a:pPr indent="0" marL="0">
              <a:buNone/>
            </a:pPr>
            <a:r>
              <a:rPr lang="en-US" sz="1000" dirty="0">
                <a:solidFill>
                  <a:srgbClr val="8BA8BE"/>
                </a:solidFill>
                <a:latin typeface="Calibri" pitchFamily="34" charset="0"/>
                <a:ea typeface="Calibri" pitchFamily="34" charset="-122"/>
                <a:cs typeface="Calibri" pitchFamily="34" charset="-120"/>
              </a:rPr>
              <a:t>Métricas de salud del sistema en vivo</a:t>
            </a:r>
            <a:endParaRPr lang="en-US" sz="1000" dirty="0"/>
          </a:p>
        </p:txBody>
      </p:sp>
      <p:sp>
        <p:nvSpPr>
          <p:cNvPr id="23" name="Shape 21"/>
          <p:cNvSpPr/>
          <p:nvPr/>
        </p:nvSpPr>
        <p:spPr>
          <a:xfrm>
            <a:off x="4663440" y="1143000"/>
            <a:ext cx="4114800" cy="3566160"/>
          </a:xfrm>
          <a:prstGeom prst="rect">
            <a:avLst/>
          </a:prstGeom>
          <a:solidFill>
            <a:srgbClr val="112236"/>
          </a:solidFill>
          <a:ln w="12700">
            <a:solidFill>
              <a:srgbClr val="1A3A5C"/>
            </a:solidFill>
            <a:prstDash val="solid"/>
          </a:ln>
          <a:effectLst>
            <a:outerShdw sx="100000" sy="100000" kx="0" ky="0" algn="bl" rotWithShape="0" blurRad="101600" dist="38100" dir="8100000">
              <a:srgbClr val="000000">
                <a:alpha val="25000"/>
              </a:srgbClr>
            </a:outerShdw>
          </a:effectLst>
        </p:spPr>
      </p:sp>
      <p:sp>
        <p:nvSpPr>
          <p:cNvPr id="24" name="Text 22"/>
          <p:cNvSpPr/>
          <p:nvPr/>
        </p:nvSpPr>
        <p:spPr>
          <a:xfrm>
            <a:off x="4800600" y="1234440"/>
            <a:ext cx="3840480" cy="347472"/>
          </a:xfrm>
          <a:prstGeom prst="rect">
            <a:avLst/>
          </a:prstGeom>
          <a:noFill/>
          <a:ln/>
        </p:spPr>
        <p:txBody>
          <a:bodyPr wrap="square" rtlCol="0" anchor="ctr"/>
          <a:lstStyle/>
          <a:p>
            <a:pPr indent="0" marL="0">
              <a:buNone/>
            </a:pPr>
            <a:r>
              <a:rPr lang="en-US" sz="1400" b="1" dirty="0">
                <a:solidFill>
                  <a:srgbClr val="00B4D8"/>
                </a:solidFill>
                <a:latin typeface="Calibri" pitchFamily="34" charset="0"/>
                <a:ea typeface="Calibri" pitchFamily="34" charset="-122"/>
                <a:cs typeface="Calibri" pitchFamily="34" charset="-120"/>
              </a:rPr>
              <a:t>FLUJO PUB/SUB</a:t>
            </a:r>
            <a:endParaRPr lang="en-US" sz="1400" dirty="0"/>
          </a:p>
        </p:txBody>
      </p:sp>
      <p:sp>
        <p:nvSpPr>
          <p:cNvPr id="25" name="Shape 23"/>
          <p:cNvSpPr/>
          <p:nvPr/>
        </p:nvSpPr>
        <p:spPr>
          <a:xfrm>
            <a:off x="4800600" y="1691640"/>
            <a:ext cx="3840480" cy="475488"/>
          </a:xfrm>
          <a:prstGeom prst="rect">
            <a:avLst/>
          </a:prstGeom>
          <a:solidFill>
            <a:srgbClr val="0A1628"/>
          </a:solidFill>
          <a:ln w="12700">
            <a:solidFill>
              <a:srgbClr val="00B4D8"/>
            </a:solidFill>
            <a:prstDash val="solid"/>
          </a:ln>
        </p:spPr>
      </p:sp>
      <p:sp>
        <p:nvSpPr>
          <p:cNvPr id="26" name="Text 24"/>
          <p:cNvSpPr/>
          <p:nvPr/>
        </p:nvSpPr>
        <p:spPr>
          <a:xfrm>
            <a:off x="4892040" y="1728216"/>
            <a:ext cx="1371600" cy="237744"/>
          </a:xfrm>
          <a:prstGeom prst="rect">
            <a:avLst/>
          </a:prstGeom>
          <a:noFill/>
          <a:ln/>
        </p:spPr>
        <p:txBody>
          <a:bodyPr wrap="square" rtlCol="0" anchor="ctr"/>
          <a:lstStyle/>
          <a:p>
            <a:pPr indent="0" marL="0">
              <a:buNone/>
            </a:pPr>
            <a:r>
              <a:rPr lang="en-US" sz="900" b="1" dirty="0">
                <a:solidFill>
                  <a:srgbClr val="00B4D8"/>
                </a:solidFill>
                <a:latin typeface="Calibri" pitchFamily="34" charset="0"/>
                <a:ea typeface="Calibri" pitchFamily="34" charset="-122"/>
                <a:cs typeface="Calibri" pitchFamily="34" charset="-120"/>
              </a:rPr>
              <a:t>PUBLISHER</a:t>
            </a:r>
            <a:endParaRPr lang="en-US" sz="900" dirty="0"/>
          </a:p>
        </p:txBody>
      </p:sp>
      <p:sp>
        <p:nvSpPr>
          <p:cNvPr id="27" name="Text 25"/>
          <p:cNvSpPr/>
          <p:nvPr/>
        </p:nvSpPr>
        <p:spPr>
          <a:xfrm>
            <a:off x="6309360" y="1728216"/>
            <a:ext cx="2240280" cy="365760"/>
          </a:xfrm>
          <a:prstGeom prst="rect">
            <a:avLst/>
          </a:prstGeom>
          <a:noFill/>
          <a:ln/>
        </p:spPr>
        <p:txBody>
          <a:bodyPr wrap="square" rtlCol="0" anchor="ctr"/>
          <a:lstStyle/>
          <a:p>
            <a:pPr indent="0" marL="0">
              <a:buNone/>
            </a:pPr>
            <a:r>
              <a:rPr lang="en-US" sz="1100" dirty="0">
                <a:solidFill>
                  <a:srgbClr val="E8F4F8"/>
                </a:solidFill>
                <a:latin typeface="Calibri" pitchFamily="34" charset="0"/>
                <a:ea typeface="Calibri" pitchFamily="34" charset="-122"/>
                <a:cs typeface="Calibri" pitchFamily="34" charset="-120"/>
              </a:rPr>
              <a:t>OpenSky API → Redis</a:t>
            </a:r>
            <a:endParaRPr lang="en-US" sz="1100" dirty="0"/>
          </a:p>
        </p:txBody>
      </p:sp>
      <p:sp>
        <p:nvSpPr>
          <p:cNvPr id="28" name="Shape 26"/>
          <p:cNvSpPr/>
          <p:nvPr/>
        </p:nvSpPr>
        <p:spPr>
          <a:xfrm>
            <a:off x="4800600" y="2267712"/>
            <a:ext cx="3840480" cy="475488"/>
          </a:xfrm>
          <a:prstGeom prst="rect">
            <a:avLst/>
          </a:prstGeom>
          <a:solidFill>
            <a:srgbClr val="0A1628"/>
          </a:solidFill>
          <a:ln w="12700">
            <a:solidFill>
              <a:srgbClr val="FFB703"/>
            </a:solidFill>
            <a:prstDash val="solid"/>
          </a:ln>
        </p:spPr>
      </p:sp>
      <p:sp>
        <p:nvSpPr>
          <p:cNvPr id="29" name="Text 27"/>
          <p:cNvSpPr/>
          <p:nvPr/>
        </p:nvSpPr>
        <p:spPr>
          <a:xfrm>
            <a:off x="4892040" y="2304288"/>
            <a:ext cx="1371600" cy="237744"/>
          </a:xfrm>
          <a:prstGeom prst="rect">
            <a:avLst/>
          </a:prstGeom>
          <a:noFill/>
          <a:ln/>
        </p:spPr>
        <p:txBody>
          <a:bodyPr wrap="square" rtlCol="0" anchor="ctr"/>
          <a:lstStyle/>
          <a:p>
            <a:pPr indent="0" marL="0">
              <a:buNone/>
            </a:pPr>
            <a:r>
              <a:rPr lang="en-US" sz="900" b="1" dirty="0">
                <a:solidFill>
                  <a:srgbClr val="FFB703"/>
                </a:solidFill>
                <a:latin typeface="Calibri" pitchFamily="34" charset="0"/>
                <a:ea typeface="Calibri" pitchFamily="34" charset="-122"/>
                <a:cs typeface="Calibri" pitchFamily="34" charset="-120"/>
              </a:rPr>
              <a:t>CANAL</a:t>
            </a:r>
            <a:endParaRPr lang="en-US" sz="900" dirty="0"/>
          </a:p>
        </p:txBody>
      </p:sp>
      <p:sp>
        <p:nvSpPr>
          <p:cNvPr id="30" name="Text 28"/>
          <p:cNvSpPr/>
          <p:nvPr/>
        </p:nvSpPr>
        <p:spPr>
          <a:xfrm>
            <a:off x="6309360" y="2304288"/>
            <a:ext cx="2240280" cy="365760"/>
          </a:xfrm>
          <a:prstGeom prst="rect">
            <a:avLst/>
          </a:prstGeom>
          <a:noFill/>
          <a:ln/>
        </p:spPr>
        <p:txBody>
          <a:bodyPr wrap="square" rtlCol="0" anchor="ctr"/>
          <a:lstStyle/>
          <a:p>
            <a:pPr indent="0" marL="0">
              <a:buNone/>
            </a:pPr>
            <a:r>
              <a:rPr lang="en-US" sz="1100" dirty="0">
                <a:solidFill>
                  <a:srgbClr val="E8F4F8"/>
                </a:solidFill>
                <a:latin typeface="Calibri" pitchFamily="34" charset="0"/>
                <a:ea typeface="Calibri" pitchFamily="34" charset="-122"/>
                <a:cs typeface="Calibri" pitchFamily="34" charset="-120"/>
              </a:rPr>
              <a:t>ch:flight:{icao24}</a:t>
            </a:r>
            <a:endParaRPr lang="en-US" sz="1100" dirty="0"/>
          </a:p>
        </p:txBody>
      </p:sp>
      <p:sp>
        <p:nvSpPr>
          <p:cNvPr id="31" name="Shape 29"/>
          <p:cNvSpPr/>
          <p:nvPr/>
        </p:nvSpPr>
        <p:spPr>
          <a:xfrm>
            <a:off x="4800600" y="2843784"/>
            <a:ext cx="3840480" cy="475488"/>
          </a:xfrm>
          <a:prstGeom prst="rect">
            <a:avLst/>
          </a:prstGeom>
          <a:solidFill>
            <a:srgbClr val="0A1628"/>
          </a:solidFill>
          <a:ln w="12700">
            <a:solidFill>
              <a:srgbClr val="00C896"/>
            </a:solidFill>
            <a:prstDash val="solid"/>
          </a:ln>
        </p:spPr>
      </p:sp>
      <p:sp>
        <p:nvSpPr>
          <p:cNvPr id="32" name="Text 30"/>
          <p:cNvSpPr/>
          <p:nvPr/>
        </p:nvSpPr>
        <p:spPr>
          <a:xfrm>
            <a:off x="4892040" y="2880360"/>
            <a:ext cx="1371600" cy="237744"/>
          </a:xfrm>
          <a:prstGeom prst="rect">
            <a:avLst/>
          </a:prstGeom>
          <a:noFill/>
          <a:ln/>
        </p:spPr>
        <p:txBody>
          <a:bodyPr wrap="square" rtlCol="0" anchor="ctr"/>
          <a:lstStyle/>
          <a:p>
            <a:pPr indent="0" marL="0">
              <a:buNone/>
            </a:pPr>
            <a:r>
              <a:rPr lang="en-US" sz="900" b="1" dirty="0">
                <a:solidFill>
                  <a:srgbClr val="00C896"/>
                </a:solidFill>
                <a:latin typeface="Calibri" pitchFamily="34" charset="0"/>
                <a:ea typeface="Calibri" pitchFamily="34" charset="-122"/>
                <a:cs typeface="Calibri" pitchFamily="34" charset="-120"/>
              </a:rPr>
              <a:t>SUBSCRIBER 1</a:t>
            </a:r>
            <a:endParaRPr lang="en-US" sz="900" dirty="0"/>
          </a:p>
        </p:txBody>
      </p:sp>
      <p:sp>
        <p:nvSpPr>
          <p:cNvPr id="33" name="Text 31"/>
          <p:cNvSpPr/>
          <p:nvPr/>
        </p:nvSpPr>
        <p:spPr>
          <a:xfrm>
            <a:off x="6309360" y="2880360"/>
            <a:ext cx="2240280" cy="365760"/>
          </a:xfrm>
          <a:prstGeom prst="rect">
            <a:avLst/>
          </a:prstGeom>
          <a:noFill/>
          <a:ln/>
        </p:spPr>
        <p:txBody>
          <a:bodyPr wrap="square" rtlCol="0" anchor="ctr"/>
          <a:lstStyle/>
          <a:p>
            <a:pPr indent="0" marL="0">
              <a:buNone/>
            </a:pPr>
            <a:r>
              <a:rPr lang="en-US" sz="1100" dirty="0">
                <a:solidFill>
                  <a:srgbClr val="E8F4F8"/>
                </a:solidFill>
                <a:latin typeface="Calibri" pitchFamily="34" charset="0"/>
                <a:ea typeface="Calibri" pitchFamily="34" charset="-122"/>
                <a:cs typeface="Calibri" pitchFamily="34" charset="-120"/>
              </a:rPr>
              <a:t>Dashboard UI (WebSocket)</a:t>
            </a:r>
            <a:endParaRPr lang="en-US" sz="1100" dirty="0"/>
          </a:p>
        </p:txBody>
      </p:sp>
      <p:sp>
        <p:nvSpPr>
          <p:cNvPr id="34" name="Shape 32"/>
          <p:cNvSpPr/>
          <p:nvPr/>
        </p:nvSpPr>
        <p:spPr>
          <a:xfrm>
            <a:off x="4800600" y="3419856"/>
            <a:ext cx="3840480" cy="475488"/>
          </a:xfrm>
          <a:prstGeom prst="rect">
            <a:avLst/>
          </a:prstGeom>
          <a:solidFill>
            <a:srgbClr val="0A1628"/>
          </a:solidFill>
          <a:ln w="12700">
            <a:solidFill>
              <a:srgbClr val="00ED64"/>
            </a:solidFill>
            <a:prstDash val="solid"/>
          </a:ln>
        </p:spPr>
      </p:sp>
      <p:sp>
        <p:nvSpPr>
          <p:cNvPr id="35" name="Text 33"/>
          <p:cNvSpPr/>
          <p:nvPr/>
        </p:nvSpPr>
        <p:spPr>
          <a:xfrm>
            <a:off x="4892040" y="3456432"/>
            <a:ext cx="1371600" cy="237744"/>
          </a:xfrm>
          <a:prstGeom prst="rect">
            <a:avLst/>
          </a:prstGeom>
          <a:noFill/>
          <a:ln/>
        </p:spPr>
        <p:txBody>
          <a:bodyPr wrap="square" rtlCol="0" anchor="ctr"/>
          <a:lstStyle/>
          <a:p>
            <a:pPr indent="0" marL="0">
              <a:buNone/>
            </a:pPr>
            <a:r>
              <a:rPr lang="en-US" sz="900" b="1" dirty="0">
                <a:solidFill>
                  <a:srgbClr val="00ED64"/>
                </a:solidFill>
                <a:latin typeface="Calibri" pitchFamily="34" charset="0"/>
                <a:ea typeface="Calibri" pitchFamily="34" charset="-122"/>
                <a:cs typeface="Calibri" pitchFamily="34" charset="-120"/>
              </a:rPr>
              <a:t>SUBSCRIBER 2</a:t>
            </a:r>
            <a:endParaRPr lang="en-US" sz="900" dirty="0"/>
          </a:p>
        </p:txBody>
      </p:sp>
      <p:sp>
        <p:nvSpPr>
          <p:cNvPr id="36" name="Text 34"/>
          <p:cNvSpPr/>
          <p:nvPr/>
        </p:nvSpPr>
        <p:spPr>
          <a:xfrm>
            <a:off x="6309360" y="3456432"/>
            <a:ext cx="2240280" cy="365760"/>
          </a:xfrm>
          <a:prstGeom prst="rect">
            <a:avLst/>
          </a:prstGeom>
          <a:noFill/>
          <a:ln/>
        </p:spPr>
        <p:txBody>
          <a:bodyPr wrap="square" rtlCol="0" anchor="ctr"/>
          <a:lstStyle/>
          <a:p>
            <a:pPr indent="0" marL="0">
              <a:buNone/>
            </a:pPr>
            <a:r>
              <a:rPr lang="en-US" sz="1100" dirty="0">
                <a:solidFill>
                  <a:srgbClr val="E8F4F8"/>
                </a:solidFill>
                <a:latin typeface="Calibri" pitchFamily="34" charset="0"/>
                <a:ea typeface="Calibri" pitchFamily="34" charset="-122"/>
                <a:cs typeface="Calibri" pitchFamily="34" charset="-120"/>
              </a:rPr>
              <a:t>GeofencingAlertService</a:t>
            </a:r>
            <a:endParaRPr lang="en-US" sz="1100" dirty="0"/>
          </a:p>
        </p:txBody>
      </p:sp>
      <p:sp>
        <p:nvSpPr>
          <p:cNvPr id="37" name="Shape 35"/>
          <p:cNvSpPr/>
          <p:nvPr/>
        </p:nvSpPr>
        <p:spPr>
          <a:xfrm>
            <a:off x="4800600" y="3995928"/>
            <a:ext cx="3840480" cy="475488"/>
          </a:xfrm>
          <a:prstGeom prst="rect">
            <a:avLst/>
          </a:prstGeom>
          <a:solidFill>
            <a:srgbClr val="0A1628"/>
          </a:solidFill>
          <a:ln w="12700">
            <a:solidFill>
              <a:srgbClr val="FFD43B"/>
            </a:solidFill>
            <a:prstDash val="solid"/>
          </a:ln>
        </p:spPr>
      </p:sp>
      <p:sp>
        <p:nvSpPr>
          <p:cNvPr id="38" name="Text 36"/>
          <p:cNvSpPr/>
          <p:nvPr/>
        </p:nvSpPr>
        <p:spPr>
          <a:xfrm>
            <a:off x="4892040" y="4032504"/>
            <a:ext cx="1371600" cy="237744"/>
          </a:xfrm>
          <a:prstGeom prst="rect">
            <a:avLst/>
          </a:prstGeom>
          <a:noFill/>
          <a:ln/>
        </p:spPr>
        <p:txBody>
          <a:bodyPr wrap="square" rtlCol="0" anchor="ctr"/>
          <a:lstStyle/>
          <a:p>
            <a:pPr indent="0" marL="0">
              <a:buNone/>
            </a:pPr>
            <a:r>
              <a:rPr lang="en-US" sz="900" b="1" dirty="0">
                <a:solidFill>
                  <a:srgbClr val="FFD43B"/>
                </a:solidFill>
                <a:latin typeface="Calibri" pitchFamily="34" charset="0"/>
                <a:ea typeface="Calibri" pitchFamily="34" charset="-122"/>
                <a:cs typeface="Calibri" pitchFamily="34" charset="-120"/>
              </a:rPr>
              <a:t>SUBSCRIBER 3</a:t>
            </a:r>
            <a:endParaRPr lang="en-US" sz="900" dirty="0"/>
          </a:p>
        </p:txBody>
      </p:sp>
      <p:sp>
        <p:nvSpPr>
          <p:cNvPr id="39" name="Text 37"/>
          <p:cNvSpPr/>
          <p:nvPr/>
        </p:nvSpPr>
        <p:spPr>
          <a:xfrm>
            <a:off x="6309360" y="4032504"/>
            <a:ext cx="2240280" cy="365760"/>
          </a:xfrm>
          <a:prstGeom prst="rect">
            <a:avLst/>
          </a:prstGeom>
          <a:noFill/>
          <a:ln/>
        </p:spPr>
        <p:txBody>
          <a:bodyPr wrap="square" rtlCol="0" anchor="ctr"/>
          <a:lstStyle/>
          <a:p>
            <a:pPr indent="0" marL="0">
              <a:buNone/>
            </a:pPr>
            <a:r>
              <a:rPr lang="en-US" sz="1100" dirty="0">
                <a:solidFill>
                  <a:srgbClr val="E8F4F8"/>
                </a:solidFill>
                <a:latin typeface="Calibri" pitchFamily="34" charset="0"/>
                <a:ea typeface="Calibri" pitchFamily="34" charset="-122"/>
                <a:cs typeface="Calibri" pitchFamily="34" charset="-120"/>
              </a:rPr>
              <a:t>SyncToMongoService</a:t>
            </a:r>
            <a:endParaRPr lang="en-US" sz="1100" dirty="0"/>
          </a:p>
        </p:txBody>
      </p:sp>
      <p:sp>
        <p:nvSpPr>
          <p:cNvPr id="40" name="Shape 38"/>
          <p:cNvSpPr/>
          <p:nvPr/>
        </p:nvSpPr>
        <p:spPr>
          <a:xfrm>
            <a:off x="365760" y="4663440"/>
            <a:ext cx="8412480" cy="347472"/>
          </a:xfrm>
          <a:prstGeom prst="rect">
            <a:avLst/>
          </a:prstGeom>
          <a:solidFill>
            <a:srgbClr val="FF4444">
              <a:alpha val="15000"/>
            </a:srgbClr>
          </a:solidFill>
          <a:ln w="12700">
            <a:solidFill>
              <a:srgbClr val="FF4444"/>
            </a:solidFill>
            <a:prstDash val="solid"/>
          </a:ln>
        </p:spPr>
      </p:sp>
      <p:sp>
        <p:nvSpPr>
          <p:cNvPr id="41" name="Text 39"/>
          <p:cNvSpPr/>
          <p:nvPr/>
        </p:nvSpPr>
        <p:spPr>
          <a:xfrm>
            <a:off x="457200" y="4681728"/>
            <a:ext cx="8229600" cy="32004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Objetivo: latencia &lt; 10ms por actualización de posición · Miles de aeronaves simultáneas</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2137"/>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ED64"/>
          </a:solidFill>
          <a:ln w="12700">
            <a:solidFill>
              <a:srgbClr val="00ED64"/>
            </a:solidFill>
            <a:prstDash val="solid"/>
          </a:ln>
        </p:spPr>
      </p:sp>
      <p:sp>
        <p:nvSpPr>
          <p:cNvPr id="3" name="Text 1"/>
          <p:cNvSpPr/>
          <p:nvPr/>
        </p:nvSpPr>
        <p:spPr>
          <a:xfrm>
            <a:off x="457200" y="182880"/>
            <a:ext cx="8229600" cy="548640"/>
          </a:xfrm>
          <a:prstGeom prst="rect">
            <a:avLst/>
          </a:prstGeom>
          <a:noFill/>
          <a:ln/>
        </p:spPr>
        <p:txBody>
          <a:bodyPr wrap="square"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ESTRATEGIA NOSQL — MONGODB</a:t>
            </a:r>
            <a:endParaRPr lang="en-US" sz="3000" dirty="0"/>
          </a:p>
        </p:txBody>
      </p:sp>
      <p:sp>
        <p:nvSpPr>
          <p:cNvPr id="4" name="Text 2"/>
          <p:cNvSpPr/>
          <p:nvPr/>
        </p:nvSpPr>
        <p:spPr>
          <a:xfrm>
            <a:off x="457200" y="731520"/>
            <a:ext cx="8229600" cy="320040"/>
          </a:xfrm>
          <a:prstGeom prst="rect">
            <a:avLst/>
          </a:prstGeom>
          <a:noFill/>
          <a:ln/>
        </p:spPr>
        <p:txBody>
          <a:bodyPr wrap="square" rtlCol="0" anchor="ctr"/>
          <a:lstStyle/>
          <a:p>
            <a:pPr indent="0" marL="0">
              <a:buNone/>
            </a:pPr>
            <a:r>
              <a:rPr lang="en-US" sz="1300" dirty="0">
                <a:solidFill>
                  <a:srgbClr val="8BA8BE"/>
                </a:solidFill>
                <a:latin typeface="Calibri" pitchFamily="34" charset="0"/>
                <a:ea typeface="Calibri" pitchFamily="34" charset="-122"/>
                <a:cs typeface="Calibri" pitchFamily="34" charset="-120"/>
              </a:rPr>
              <a:t>Modelado documental flexible · Índices geoespaciales nativos · Sensores IoT</a:t>
            </a:r>
            <a:endParaRPr lang="en-US" sz="1300" dirty="0"/>
          </a:p>
        </p:txBody>
      </p:sp>
      <p:sp>
        <p:nvSpPr>
          <p:cNvPr id="5" name="Shape 3"/>
          <p:cNvSpPr/>
          <p:nvPr/>
        </p:nvSpPr>
        <p:spPr>
          <a:xfrm>
            <a:off x="365760" y="1143000"/>
            <a:ext cx="4023360" cy="3657600"/>
          </a:xfrm>
          <a:prstGeom prst="rect">
            <a:avLst/>
          </a:prstGeom>
          <a:solidFill>
            <a:srgbClr val="001A08"/>
          </a:solidFill>
          <a:ln w="12700">
            <a:solidFill>
              <a:srgbClr val="00ED64"/>
            </a:solidFill>
            <a:prstDash val="solid"/>
          </a:ln>
          <a:effectLst>
            <a:outerShdw sx="100000" sy="100000" kx="0" ky="0" algn="bl" rotWithShape="0" blurRad="101600" dist="38100" dir="8100000">
              <a:srgbClr val="000000">
                <a:alpha val="25000"/>
              </a:srgbClr>
            </a:outerShdw>
          </a:effectLst>
        </p:spPr>
      </p:sp>
      <p:sp>
        <p:nvSpPr>
          <p:cNvPr id="6" name="Text 4"/>
          <p:cNvSpPr/>
          <p:nvPr/>
        </p:nvSpPr>
        <p:spPr>
          <a:xfrm>
            <a:off x="502920" y="1234440"/>
            <a:ext cx="3749040" cy="347472"/>
          </a:xfrm>
          <a:prstGeom prst="rect">
            <a:avLst/>
          </a:prstGeom>
          <a:noFill/>
          <a:ln/>
        </p:spPr>
        <p:txBody>
          <a:bodyPr wrap="square" rtlCol="0" anchor="ctr"/>
          <a:lstStyle/>
          <a:p>
            <a:pPr indent="0" marL="0">
              <a:buNone/>
            </a:pPr>
            <a:r>
              <a:rPr lang="en-US" sz="1300" b="1" dirty="0">
                <a:solidFill>
                  <a:srgbClr val="00ED64"/>
                </a:solidFill>
                <a:latin typeface="Calibri" pitchFamily="34" charset="0"/>
                <a:ea typeface="Calibri" pitchFamily="34" charset="-122"/>
                <a:cs typeface="Calibri" pitchFamily="34" charset="-120"/>
              </a:rPr>
              <a:t>Documento: Vuelo_Trayectoria</a:t>
            </a:r>
            <a:endParaRPr lang="en-US" sz="1300" dirty="0"/>
          </a:p>
        </p:txBody>
      </p:sp>
      <p:sp>
        <p:nvSpPr>
          <p:cNvPr id="7" name="Text 5"/>
          <p:cNvSpPr/>
          <p:nvPr/>
        </p:nvSpPr>
        <p:spPr>
          <a:xfrm>
            <a:off x="502920" y="1691640"/>
            <a:ext cx="3749040" cy="2926080"/>
          </a:xfrm>
          <a:prstGeom prst="rect">
            <a:avLst/>
          </a:prstGeom>
          <a:noFill/>
          <a:ln/>
        </p:spPr>
        <p:txBody>
          <a:bodyPr wrap="square" rtlCol="0" anchor="ctr"/>
          <a:lstStyle/>
          <a:p>
            <a:pPr indent="0" marL="0">
              <a:buNone/>
            </a:pPr>
            <a:r>
              <a:rPr lang="en-US" sz="1050" dirty="0">
                <a:solidFill>
                  <a:srgbClr val="E8F4F8"/>
                </a:solidFill>
                <a:latin typeface="Consolas" pitchFamily="34" charset="0"/>
                <a:ea typeface="Consolas" pitchFamily="34" charset="-122"/>
                <a:cs typeface="Consolas" pitchFamily="34" charset="-120"/>
              </a:rPr>
              <a:t>{ "_id": "V123",</a:t>
            </a:r>
            <a:endParaRPr lang="en-US" sz="1050" dirty="0"/>
          </a:p>
          <a:p>
            <a:pPr indent="0" marL="0">
              <a:buNone/>
            </a:pPr>
            <a:r>
              <a:rPr lang="en-US" sz="1050" dirty="0">
                <a:solidFill>
                  <a:srgbClr val="E8F4F8"/>
                </a:solidFill>
                <a:latin typeface="Consolas" pitchFamily="34" charset="0"/>
                <a:ea typeface="Consolas" pitchFamily="34" charset="-122"/>
                <a:cs typeface="Consolas" pitchFamily="34" charset="-120"/>
              </a:rPr>
              <a:t>  "aeronave": "icao24_abc",</a:t>
            </a:r>
            <a:endParaRPr lang="en-US" sz="1050" dirty="0"/>
          </a:p>
          <a:p>
            <a:pPr indent="0" marL="0">
              <a:buNone/>
            </a:pPr>
            <a:r>
              <a:rPr lang="en-US" sz="1050" dirty="0">
                <a:solidFill>
                  <a:srgbClr val="E8F4F8"/>
                </a:solidFill>
                <a:latin typeface="Consolas" pitchFamily="34" charset="0"/>
                <a:ea typeface="Consolas" pitchFamily="34" charset="-122"/>
                <a:cs typeface="Consolas" pitchFamily="34" charset="-120"/>
              </a:rPr>
              <a:t>  "estado": "en_vuelo",</a:t>
            </a:r>
            <a:endParaRPr lang="en-US" sz="1050" dirty="0"/>
          </a:p>
          <a:p>
            <a:pPr indent="0" marL="0">
              <a:buNone/>
            </a:pPr>
            <a:r>
              <a:rPr lang="en-US" sz="1050" dirty="0">
                <a:solidFill>
                  <a:srgbClr val="E8F4F8"/>
                </a:solidFill>
                <a:latin typeface="Consolas" pitchFamily="34" charset="0"/>
                <a:ea typeface="Consolas" pitchFamily="34" charset="-122"/>
                <a:cs typeface="Consolas" pitchFamily="34" charset="-120"/>
              </a:rPr>
              <a:t>  "origen": "VVI",</a:t>
            </a:r>
            <a:endParaRPr lang="en-US" sz="1050" dirty="0"/>
          </a:p>
          <a:p>
            <a:pPr indent="0" marL="0">
              <a:buNone/>
            </a:pPr>
            <a:r>
              <a:rPr lang="en-US" sz="1050" dirty="0">
                <a:solidFill>
                  <a:srgbClr val="E8F4F8"/>
                </a:solidFill>
                <a:latin typeface="Consolas" pitchFamily="34" charset="0"/>
                <a:ea typeface="Consolas" pitchFamily="34" charset="-122"/>
                <a:cs typeface="Consolas" pitchFamily="34" charset="-120"/>
              </a:rPr>
              <a:t>  "destino": "GRU",</a:t>
            </a:r>
            <a:endParaRPr lang="en-US" sz="1050" dirty="0"/>
          </a:p>
          <a:p>
            <a:pPr indent="0" marL="0">
              <a:buNone/>
            </a:pPr>
            <a:r>
              <a:rPr lang="en-US" sz="1050" dirty="0">
                <a:solidFill>
                  <a:srgbClr val="E8F4F8"/>
                </a:solidFill>
                <a:latin typeface="Consolas" pitchFamily="34" charset="0"/>
                <a:ea typeface="Consolas" pitchFamily="34" charset="-122"/>
                <a:cs typeface="Consolas" pitchFamily="34" charset="-120"/>
              </a:rPr>
              <a:t>  "trayectoria": [</a:t>
            </a:r>
            <a:endParaRPr lang="en-US" sz="1050" dirty="0"/>
          </a:p>
          <a:p>
            <a:pPr indent="0" marL="0">
              <a:buNone/>
            </a:pPr>
            <a:r>
              <a:rPr lang="en-US" sz="1050" dirty="0">
                <a:solidFill>
                  <a:srgbClr val="E8F4F8"/>
                </a:solidFill>
                <a:latin typeface="Consolas" pitchFamily="34" charset="0"/>
                <a:ea typeface="Consolas" pitchFamily="34" charset="-122"/>
                <a:cs typeface="Consolas" pitchFamily="34" charset="-120"/>
              </a:rPr>
              <a:t>    { "lat": 10.5, "lon": -60.1,</a:t>
            </a:r>
            <a:endParaRPr lang="en-US" sz="1050" dirty="0"/>
          </a:p>
          <a:p>
            <a:pPr indent="0" marL="0">
              <a:buNone/>
            </a:pPr>
            <a:r>
              <a:rPr lang="en-US" sz="1050" dirty="0">
                <a:solidFill>
                  <a:srgbClr val="E8F4F8"/>
                </a:solidFill>
                <a:latin typeface="Consolas" pitchFamily="34" charset="0"/>
                <a:ea typeface="Consolas" pitchFamily="34" charset="-122"/>
                <a:cs typeface="Consolas" pitchFamily="34" charset="-120"/>
              </a:rPr>
              <a:t>      "alt": 9500, "spd": 820,</a:t>
            </a:r>
            <a:endParaRPr lang="en-US" sz="1050" dirty="0"/>
          </a:p>
          <a:p>
            <a:pPr indent="0" marL="0">
              <a:buNone/>
            </a:pPr>
            <a:r>
              <a:rPr lang="en-US" sz="1050" dirty="0">
                <a:solidFill>
                  <a:srgbClr val="E8F4F8"/>
                </a:solidFill>
                <a:latin typeface="Consolas" pitchFamily="34" charset="0"/>
                <a:ea typeface="Consolas" pitchFamily="34" charset="-122"/>
                <a:cs typeface="Consolas" pitchFamily="34" charset="-120"/>
              </a:rPr>
              <a:t>      "t": "2026-04-24T19:07Z" }</a:t>
            </a:r>
            <a:endParaRPr lang="en-US" sz="1050" dirty="0"/>
          </a:p>
          <a:p>
            <a:pPr indent="0" marL="0">
              <a:buNone/>
            </a:pPr>
            <a:r>
              <a:rPr lang="en-US" sz="1050" dirty="0">
                <a:solidFill>
                  <a:srgbClr val="E8F4F8"/>
                </a:solidFill>
                <a:latin typeface="Consolas" pitchFamily="34" charset="0"/>
                <a:ea typeface="Consolas" pitchFamily="34" charset="-122"/>
                <a:cs typeface="Consolas" pitchFamily="34" charset="-120"/>
              </a:rPr>
              <a:t>  ],</a:t>
            </a:r>
            <a:endParaRPr lang="en-US" sz="1050" dirty="0"/>
          </a:p>
          <a:p>
            <a:pPr indent="0" marL="0">
              <a:buNone/>
            </a:pPr>
            <a:r>
              <a:rPr lang="en-US" sz="1050" dirty="0">
                <a:solidFill>
                  <a:srgbClr val="E8F4F8"/>
                </a:solidFill>
                <a:latin typeface="Consolas" pitchFamily="34" charset="0"/>
                <a:ea typeface="Consolas" pitchFamily="34" charset="-122"/>
                <a:cs typeface="Consolas" pitchFamily="34" charset="-120"/>
              </a:rPr>
              <a:t>  "sensores_iot": { ... }</a:t>
            </a:r>
            <a:endParaRPr lang="en-US" sz="1050" dirty="0"/>
          </a:p>
          <a:p>
            <a:pPr indent="0" marL="0">
              <a:buNone/>
            </a:pPr>
            <a:r>
              <a:rPr lang="en-US" sz="1050" dirty="0">
                <a:solidFill>
                  <a:srgbClr val="E8F4F8"/>
                </a:solidFill>
                <a:latin typeface="Consolas" pitchFamily="34" charset="0"/>
                <a:ea typeface="Consolas" pitchFamily="34" charset="-122"/>
                <a:cs typeface="Consolas" pitchFamily="34" charset="-120"/>
              </a:rPr>
              <a:t>}</a:t>
            </a:r>
            <a:endParaRPr lang="en-US" sz="1050" dirty="0"/>
          </a:p>
        </p:txBody>
      </p:sp>
      <p:sp>
        <p:nvSpPr>
          <p:cNvPr id="8" name="Shape 6"/>
          <p:cNvSpPr/>
          <p:nvPr/>
        </p:nvSpPr>
        <p:spPr>
          <a:xfrm>
            <a:off x="4663440" y="1143000"/>
            <a:ext cx="4114800" cy="3657600"/>
          </a:xfrm>
          <a:prstGeom prst="rect">
            <a:avLst/>
          </a:prstGeom>
          <a:solidFill>
            <a:srgbClr val="112236"/>
          </a:solidFill>
          <a:ln w="12700">
            <a:solidFill>
              <a:srgbClr val="1A3A5C"/>
            </a:solidFill>
            <a:prstDash val="solid"/>
          </a:ln>
          <a:effectLst>
            <a:outerShdw sx="100000" sy="100000" kx="0" ky="0" algn="bl" rotWithShape="0" blurRad="101600" dist="38100" dir="8100000">
              <a:srgbClr val="000000">
                <a:alpha val="25000"/>
              </a:srgbClr>
            </a:outerShdw>
          </a:effectLst>
        </p:spPr>
      </p:sp>
      <p:sp>
        <p:nvSpPr>
          <p:cNvPr id="9" name="Text 7"/>
          <p:cNvSpPr/>
          <p:nvPr/>
        </p:nvSpPr>
        <p:spPr>
          <a:xfrm>
            <a:off x="4800600" y="1234440"/>
            <a:ext cx="3840480" cy="347472"/>
          </a:xfrm>
          <a:prstGeom prst="rect">
            <a:avLst/>
          </a:prstGeom>
          <a:noFill/>
          <a:ln/>
        </p:spPr>
        <p:txBody>
          <a:bodyPr wrap="square" rtlCol="0" anchor="ctr"/>
          <a:lstStyle/>
          <a:p>
            <a:pPr indent="0" marL="0">
              <a:buNone/>
            </a:pPr>
            <a:r>
              <a:rPr lang="en-US" sz="1300" b="1" dirty="0">
                <a:solidFill>
                  <a:srgbClr val="00B4D8"/>
                </a:solidFill>
                <a:latin typeface="Calibri" pitchFamily="34" charset="0"/>
                <a:ea typeface="Calibri" pitchFamily="34" charset="-122"/>
                <a:cs typeface="Calibri" pitchFamily="34" charset="-120"/>
              </a:rPr>
              <a:t>CAPACIDADES CLAVE</a:t>
            </a:r>
            <a:endParaRPr lang="en-US" sz="1300" dirty="0"/>
          </a:p>
        </p:txBody>
      </p:sp>
      <p:sp>
        <p:nvSpPr>
          <p:cNvPr id="10" name="Shape 8"/>
          <p:cNvSpPr/>
          <p:nvPr/>
        </p:nvSpPr>
        <p:spPr>
          <a:xfrm>
            <a:off x="4800600" y="1691640"/>
            <a:ext cx="3840480" cy="658368"/>
          </a:xfrm>
          <a:prstGeom prst="rect">
            <a:avLst/>
          </a:prstGeom>
          <a:solidFill>
            <a:srgbClr val="0A1628"/>
          </a:solidFill>
          <a:ln w="12700">
            <a:solidFill>
              <a:srgbClr val="00ED64"/>
            </a:solidFill>
            <a:prstDash val="solid"/>
          </a:ln>
        </p:spPr>
      </p:sp>
      <p:sp>
        <p:nvSpPr>
          <p:cNvPr id="11" name="Shape 9"/>
          <p:cNvSpPr/>
          <p:nvPr/>
        </p:nvSpPr>
        <p:spPr>
          <a:xfrm>
            <a:off x="4800600" y="1691640"/>
            <a:ext cx="64008" cy="658368"/>
          </a:xfrm>
          <a:prstGeom prst="rect">
            <a:avLst/>
          </a:prstGeom>
          <a:solidFill>
            <a:srgbClr val="00ED64"/>
          </a:solidFill>
          <a:ln w="12700">
            <a:solidFill>
              <a:srgbClr val="00ED64"/>
            </a:solidFill>
            <a:prstDash val="solid"/>
          </a:ln>
        </p:spPr>
      </p:sp>
      <p:sp>
        <p:nvSpPr>
          <p:cNvPr id="12" name="Text 10"/>
          <p:cNvSpPr/>
          <p:nvPr/>
        </p:nvSpPr>
        <p:spPr>
          <a:xfrm>
            <a:off x="4956048" y="1737360"/>
            <a:ext cx="3657600" cy="256032"/>
          </a:xfrm>
          <a:prstGeom prst="rect">
            <a:avLst/>
          </a:prstGeom>
          <a:noFill/>
          <a:ln/>
        </p:spPr>
        <p:txBody>
          <a:bodyPr wrap="square" rtlCol="0" anchor="ctr"/>
          <a:lstStyle/>
          <a:p>
            <a:pPr indent="0" marL="0">
              <a:buNone/>
            </a:pPr>
            <a:r>
              <a:rPr lang="en-US" sz="1200" b="1" dirty="0">
                <a:solidFill>
                  <a:srgbClr val="00ED64"/>
                </a:solidFill>
                <a:latin typeface="Calibri" pitchFamily="34" charset="0"/>
                <a:ea typeface="Calibri" pitchFamily="34" charset="-122"/>
                <a:cs typeface="Calibri" pitchFamily="34" charset="-120"/>
              </a:rPr>
              <a:t>Schema Flexible</a:t>
            </a:r>
            <a:endParaRPr lang="en-US" sz="1200" dirty="0"/>
          </a:p>
        </p:txBody>
      </p:sp>
      <p:sp>
        <p:nvSpPr>
          <p:cNvPr id="13" name="Text 11"/>
          <p:cNvSpPr/>
          <p:nvPr/>
        </p:nvSpPr>
        <p:spPr>
          <a:xfrm>
            <a:off x="4956048" y="2011680"/>
            <a:ext cx="3611880" cy="292608"/>
          </a:xfrm>
          <a:prstGeom prst="rect">
            <a:avLst/>
          </a:prstGeom>
          <a:noFill/>
          <a:ln/>
        </p:spPr>
        <p:txBody>
          <a:bodyPr wrap="square" rtlCol="0" anchor="ctr"/>
          <a:lstStyle/>
          <a:p>
            <a:pPr indent="0" marL="0">
              <a:buNone/>
            </a:pPr>
            <a:r>
              <a:rPr lang="en-US" sz="1100" dirty="0">
                <a:solidFill>
                  <a:srgbClr val="8BA8BE"/>
                </a:solidFill>
                <a:latin typeface="Calibri" pitchFamily="34" charset="0"/>
                <a:ea typeface="Calibri" pitchFamily="34" charset="-122"/>
                <a:cs typeface="Calibri" pitchFamily="34" charset="-120"/>
              </a:rPr>
              <a:t>Nuevos sensores IoT se integran sin migración ni downtime</a:t>
            </a:r>
            <a:endParaRPr lang="en-US" sz="1100" dirty="0"/>
          </a:p>
        </p:txBody>
      </p:sp>
      <p:sp>
        <p:nvSpPr>
          <p:cNvPr id="14" name="Shape 12"/>
          <p:cNvSpPr/>
          <p:nvPr/>
        </p:nvSpPr>
        <p:spPr>
          <a:xfrm>
            <a:off x="4800600" y="2441448"/>
            <a:ext cx="3840480" cy="658368"/>
          </a:xfrm>
          <a:prstGeom prst="rect">
            <a:avLst/>
          </a:prstGeom>
          <a:solidFill>
            <a:srgbClr val="0A1628"/>
          </a:solidFill>
          <a:ln w="12700">
            <a:solidFill>
              <a:srgbClr val="00B4D8"/>
            </a:solidFill>
            <a:prstDash val="solid"/>
          </a:ln>
        </p:spPr>
      </p:sp>
      <p:sp>
        <p:nvSpPr>
          <p:cNvPr id="15" name="Shape 13"/>
          <p:cNvSpPr/>
          <p:nvPr/>
        </p:nvSpPr>
        <p:spPr>
          <a:xfrm>
            <a:off x="4800600" y="2441448"/>
            <a:ext cx="64008" cy="658368"/>
          </a:xfrm>
          <a:prstGeom prst="rect">
            <a:avLst/>
          </a:prstGeom>
          <a:solidFill>
            <a:srgbClr val="00B4D8"/>
          </a:solidFill>
          <a:ln w="12700">
            <a:solidFill>
              <a:srgbClr val="00B4D8"/>
            </a:solidFill>
            <a:prstDash val="solid"/>
          </a:ln>
        </p:spPr>
      </p:sp>
      <p:sp>
        <p:nvSpPr>
          <p:cNvPr id="16" name="Text 14"/>
          <p:cNvSpPr/>
          <p:nvPr/>
        </p:nvSpPr>
        <p:spPr>
          <a:xfrm>
            <a:off x="4956048" y="2487168"/>
            <a:ext cx="3657600" cy="256032"/>
          </a:xfrm>
          <a:prstGeom prst="rect">
            <a:avLst/>
          </a:prstGeom>
          <a:noFill/>
          <a:ln/>
        </p:spPr>
        <p:txBody>
          <a:bodyPr wrap="square" rtlCol="0" anchor="ctr"/>
          <a:lstStyle/>
          <a:p>
            <a:pPr indent="0" marL="0">
              <a:buNone/>
            </a:pPr>
            <a:r>
              <a:rPr lang="en-US" sz="1200" b="1" dirty="0">
                <a:solidFill>
                  <a:srgbClr val="00B4D8"/>
                </a:solidFill>
                <a:latin typeface="Calibri" pitchFamily="34" charset="0"/>
                <a:ea typeface="Calibri" pitchFamily="34" charset="-122"/>
                <a:cs typeface="Calibri" pitchFamily="34" charset="-120"/>
              </a:rPr>
              <a:t>Índice 2dsphere</a:t>
            </a:r>
            <a:endParaRPr lang="en-US" sz="1200" dirty="0"/>
          </a:p>
        </p:txBody>
      </p:sp>
      <p:sp>
        <p:nvSpPr>
          <p:cNvPr id="17" name="Text 15"/>
          <p:cNvSpPr/>
          <p:nvPr/>
        </p:nvSpPr>
        <p:spPr>
          <a:xfrm>
            <a:off x="4956048" y="2761488"/>
            <a:ext cx="3611880" cy="292608"/>
          </a:xfrm>
          <a:prstGeom prst="rect">
            <a:avLst/>
          </a:prstGeom>
          <a:noFill/>
          <a:ln/>
        </p:spPr>
        <p:txBody>
          <a:bodyPr wrap="square" rtlCol="0" anchor="ctr"/>
          <a:lstStyle/>
          <a:p>
            <a:pPr indent="0" marL="0">
              <a:buNone/>
            </a:pPr>
            <a:r>
              <a:rPr lang="en-US" sz="1100" dirty="0">
                <a:solidFill>
                  <a:srgbClr val="8BA8BE"/>
                </a:solidFill>
                <a:latin typeface="Calibri" pitchFamily="34" charset="0"/>
                <a:ea typeface="Calibri" pitchFamily="34" charset="-122"/>
                <a:cs typeface="Calibri" pitchFamily="34" charset="-120"/>
              </a:rPr>
              <a:t>Consultas geoespaciales nativas: proximidad, geofencing, rutas</a:t>
            </a:r>
            <a:endParaRPr lang="en-US" sz="1100" dirty="0"/>
          </a:p>
        </p:txBody>
      </p:sp>
      <p:sp>
        <p:nvSpPr>
          <p:cNvPr id="18" name="Shape 16"/>
          <p:cNvSpPr/>
          <p:nvPr/>
        </p:nvSpPr>
        <p:spPr>
          <a:xfrm>
            <a:off x="4800600" y="3191256"/>
            <a:ext cx="3840480" cy="658368"/>
          </a:xfrm>
          <a:prstGeom prst="rect">
            <a:avLst/>
          </a:prstGeom>
          <a:solidFill>
            <a:srgbClr val="0A1628"/>
          </a:solidFill>
          <a:ln w="12700">
            <a:solidFill>
              <a:srgbClr val="FFB703"/>
            </a:solidFill>
            <a:prstDash val="solid"/>
          </a:ln>
        </p:spPr>
      </p:sp>
      <p:sp>
        <p:nvSpPr>
          <p:cNvPr id="19" name="Shape 17"/>
          <p:cNvSpPr/>
          <p:nvPr/>
        </p:nvSpPr>
        <p:spPr>
          <a:xfrm>
            <a:off x="4800600" y="3191256"/>
            <a:ext cx="64008" cy="658368"/>
          </a:xfrm>
          <a:prstGeom prst="rect">
            <a:avLst/>
          </a:prstGeom>
          <a:solidFill>
            <a:srgbClr val="FFB703"/>
          </a:solidFill>
          <a:ln w="12700">
            <a:solidFill>
              <a:srgbClr val="FFB703"/>
            </a:solidFill>
            <a:prstDash val="solid"/>
          </a:ln>
        </p:spPr>
      </p:sp>
      <p:sp>
        <p:nvSpPr>
          <p:cNvPr id="20" name="Text 18"/>
          <p:cNvSpPr/>
          <p:nvPr/>
        </p:nvSpPr>
        <p:spPr>
          <a:xfrm>
            <a:off x="4956048" y="3236976"/>
            <a:ext cx="3657600" cy="256032"/>
          </a:xfrm>
          <a:prstGeom prst="rect">
            <a:avLst/>
          </a:prstGeom>
          <a:noFill/>
          <a:ln/>
        </p:spPr>
        <p:txBody>
          <a:bodyPr wrap="square" rtlCol="0" anchor="ctr"/>
          <a:lstStyle/>
          <a:p>
            <a:pPr indent="0" marL="0">
              <a:buNone/>
            </a:pPr>
            <a:r>
              <a:rPr lang="en-US" sz="1200" b="1" dirty="0">
                <a:solidFill>
                  <a:srgbClr val="FFB703"/>
                </a:solidFill>
                <a:latin typeface="Calibri" pitchFamily="34" charset="0"/>
                <a:ea typeface="Calibri" pitchFamily="34" charset="-122"/>
                <a:cs typeface="Calibri" pitchFamily="34" charset="-120"/>
              </a:rPr>
              <a:t>Aggregation Pipeline</a:t>
            </a:r>
            <a:endParaRPr lang="en-US" sz="1200" dirty="0"/>
          </a:p>
        </p:txBody>
      </p:sp>
      <p:sp>
        <p:nvSpPr>
          <p:cNvPr id="21" name="Text 19"/>
          <p:cNvSpPr/>
          <p:nvPr/>
        </p:nvSpPr>
        <p:spPr>
          <a:xfrm>
            <a:off x="4956048" y="3511296"/>
            <a:ext cx="3611880" cy="292608"/>
          </a:xfrm>
          <a:prstGeom prst="rect">
            <a:avLst/>
          </a:prstGeom>
          <a:noFill/>
          <a:ln/>
        </p:spPr>
        <p:txBody>
          <a:bodyPr wrap="square" rtlCol="0" anchor="ctr"/>
          <a:lstStyle/>
          <a:p>
            <a:pPr indent="0" marL="0">
              <a:buNone/>
            </a:pPr>
            <a:r>
              <a:rPr lang="en-US" sz="1100" dirty="0">
                <a:solidFill>
                  <a:srgbClr val="8BA8BE"/>
                </a:solidFill>
                <a:latin typeface="Calibri" pitchFamily="34" charset="0"/>
                <a:ea typeface="Calibri" pitchFamily="34" charset="-122"/>
                <a:cs typeface="Calibri" pitchFamily="34" charset="-120"/>
              </a:rPr>
              <a:t>Análisis de históricos: promedio de retrasos, rutas populares</a:t>
            </a:r>
            <a:endParaRPr lang="en-US" sz="1100" dirty="0"/>
          </a:p>
        </p:txBody>
      </p:sp>
      <p:sp>
        <p:nvSpPr>
          <p:cNvPr id="22" name="Shape 20"/>
          <p:cNvSpPr/>
          <p:nvPr/>
        </p:nvSpPr>
        <p:spPr>
          <a:xfrm>
            <a:off x="4800600" y="3941064"/>
            <a:ext cx="3840480" cy="658368"/>
          </a:xfrm>
          <a:prstGeom prst="rect">
            <a:avLst/>
          </a:prstGeom>
          <a:solidFill>
            <a:srgbClr val="0A1628"/>
          </a:solidFill>
          <a:ln w="12700">
            <a:solidFill>
              <a:srgbClr val="00C896"/>
            </a:solidFill>
            <a:prstDash val="solid"/>
          </a:ln>
        </p:spPr>
      </p:sp>
      <p:sp>
        <p:nvSpPr>
          <p:cNvPr id="23" name="Shape 21"/>
          <p:cNvSpPr/>
          <p:nvPr/>
        </p:nvSpPr>
        <p:spPr>
          <a:xfrm>
            <a:off x="4800600" y="3941064"/>
            <a:ext cx="64008" cy="658368"/>
          </a:xfrm>
          <a:prstGeom prst="rect">
            <a:avLst/>
          </a:prstGeom>
          <a:solidFill>
            <a:srgbClr val="00C896"/>
          </a:solidFill>
          <a:ln w="12700">
            <a:solidFill>
              <a:srgbClr val="00C896"/>
            </a:solidFill>
            <a:prstDash val="solid"/>
          </a:ln>
        </p:spPr>
      </p:sp>
      <p:sp>
        <p:nvSpPr>
          <p:cNvPr id="24" name="Text 22"/>
          <p:cNvSpPr/>
          <p:nvPr/>
        </p:nvSpPr>
        <p:spPr>
          <a:xfrm>
            <a:off x="4956048" y="3986784"/>
            <a:ext cx="3657600" cy="256032"/>
          </a:xfrm>
          <a:prstGeom prst="rect">
            <a:avLst/>
          </a:prstGeom>
          <a:noFill/>
          <a:ln/>
        </p:spPr>
        <p:txBody>
          <a:bodyPr wrap="square" rtlCol="0" anchor="ctr"/>
          <a:lstStyle/>
          <a:p>
            <a:pPr indent="0" marL="0">
              <a:buNone/>
            </a:pPr>
            <a:r>
              <a:rPr lang="en-US" sz="1200" b="1" dirty="0">
                <a:solidFill>
                  <a:srgbClr val="00C896"/>
                </a:solidFill>
                <a:latin typeface="Calibri" pitchFamily="34" charset="0"/>
                <a:ea typeface="Calibri" pitchFamily="34" charset="-122"/>
                <a:cs typeface="Calibri" pitchFamily="34" charset="-120"/>
              </a:rPr>
              <a:t>GridFS / BSON</a:t>
            </a:r>
            <a:endParaRPr lang="en-US" sz="1200" dirty="0"/>
          </a:p>
        </p:txBody>
      </p:sp>
      <p:sp>
        <p:nvSpPr>
          <p:cNvPr id="25" name="Text 23"/>
          <p:cNvSpPr/>
          <p:nvPr/>
        </p:nvSpPr>
        <p:spPr>
          <a:xfrm>
            <a:off x="4956048" y="4261104"/>
            <a:ext cx="3611880" cy="292608"/>
          </a:xfrm>
          <a:prstGeom prst="rect">
            <a:avLst/>
          </a:prstGeom>
          <a:noFill/>
          <a:ln/>
        </p:spPr>
        <p:txBody>
          <a:bodyPr wrap="square" rtlCol="0" anchor="ctr"/>
          <a:lstStyle/>
          <a:p>
            <a:pPr indent="0" marL="0">
              <a:buNone/>
            </a:pPr>
            <a:r>
              <a:rPr lang="en-US" sz="1100" dirty="0">
                <a:solidFill>
                  <a:srgbClr val="8BA8BE"/>
                </a:solidFill>
                <a:latin typeface="Calibri" pitchFamily="34" charset="0"/>
                <a:ea typeface="Calibri" pitchFamily="34" charset="-122"/>
                <a:cs typeface="Calibri" pitchFamily="34" charset="-120"/>
              </a:rPr>
              <a:t>Almacena documentos complejos: manifiestos, logs de mantenimiento</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628"/>
        </a:solidFill>
      </p:bgPr>
    </p:bg>
    <p:spTree>
      <p:nvGrpSpPr>
        <p:cNvPr id="1" name=""/>
        <p:cNvGrpSpPr/>
        <p:nvPr/>
      </p:nvGrpSpPr>
      <p:grpSpPr>
        <a:xfrm>
          <a:off x="0" y="0"/>
          <a:ext cx="0" cy="0"/>
          <a:chOff x="0" y="0"/>
          <a:chExt cx="0" cy="0"/>
        </a:xfrm>
      </p:grpSpPr>
      <p:sp>
        <p:nvSpPr>
          <p:cNvPr id="2" name="Text 0"/>
          <p:cNvSpPr/>
          <p:nvPr/>
        </p:nvSpPr>
        <p:spPr>
          <a:xfrm>
            <a:off x="457200" y="182880"/>
            <a:ext cx="8229600" cy="548640"/>
          </a:xfrm>
          <a:prstGeom prst="rect">
            <a:avLst/>
          </a:prstGeom>
          <a:noFill/>
          <a:ln/>
        </p:spPr>
        <p:txBody>
          <a:bodyPr wrap="square"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DISEÑO DE DOMINIO — DDD</a:t>
            </a:r>
            <a:endParaRPr lang="en-US" sz="3000" dirty="0"/>
          </a:p>
        </p:txBody>
      </p:sp>
      <p:sp>
        <p:nvSpPr>
          <p:cNvPr id="3" name="Shape 1"/>
          <p:cNvSpPr/>
          <p:nvPr/>
        </p:nvSpPr>
        <p:spPr>
          <a:xfrm>
            <a:off x="457200" y="713232"/>
            <a:ext cx="1828800" cy="45720"/>
          </a:xfrm>
          <a:prstGeom prst="rect">
            <a:avLst/>
          </a:prstGeom>
          <a:solidFill>
            <a:srgbClr val="00B4D8"/>
          </a:solidFill>
          <a:ln w="12700">
            <a:solidFill>
              <a:srgbClr val="00B4D8"/>
            </a:solidFill>
            <a:prstDash val="solid"/>
          </a:ln>
        </p:spPr>
      </p:sp>
      <p:sp>
        <p:nvSpPr>
          <p:cNvPr id="4" name="Text 2"/>
          <p:cNvSpPr/>
          <p:nvPr/>
        </p:nvSpPr>
        <p:spPr>
          <a:xfrm>
            <a:off x="457200" y="777240"/>
            <a:ext cx="8229600" cy="320040"/>
          </a:xfrm>
          <a:prstGeom prst="rect">
            <a:avLst/>
          </a:prstGeom>
          <a:noFill/>
          <a:ln/>
        </p:spPr>
        <p:txBody>
          <a:bodyPr wrap="square" rtlCol="0" anchor="ctr"/>
          <a:lstStyle/>
          <a:p>
            <a:pPr indent="0" marL="0">
              <a:buNone/>
            </a:pPr>
            <a:r>
              <a:rPr lang="en-US" sz="1300" dirty="0">
                <a:solidFill>
                  <a:srgbClr val="8BA8BE"/>
                </a:solidFill>
                <a:latin typeface="Calibri" pitchFamily="34" charset="0"/>
                <a:ea typeface="Calibri" pitchFamily="34" charset="-122"/>
                <a:cs typeface="Calibri" pitchFamily="34" charset="-120"/>
              </a:rPr>
              <a:t>Bounded Contexts: separación lógica de responsabilidades de negocio</a:t>
            </a:r>
            <a:endParaRPr lang="en-US" sz="1300" dirty="0"/>
          </a:p>
        </p:txBody>
      </p:sp>
      <p:sp>
        <p:nvSpPr>
          <p:cNvPr id="5" name="Shape 3"/>
          <p:cNvSpPr/>
          <p:nvPr/>
        </p:nvSpPr>
        <p:spPr>
          <a:xfrm>
            <a:off x="320040" y="1188720"/>
            <a:ext cx="1920240" cy="3566160"/>
          </a:xfrm>
          <a:prstGeom prst="rect">
            <a:avLst/>
          </a:prstGeom>
          <a:solidFill>
            <a:srgbClr val="112236"/>
          </a:solidFill>
          <a:ln w="12700">
            <a:solidFill>
              <a:srgbClr val="FF4444"/>
            </a:solidFill>
            <a:prstDash val="solid"/>
          </a:ln>
          <a:effectLst>
            <a:outerShdw sx="100000" sy="100000" kx="0" ky="0" algn="bl" rotWithShape="0" blurRad="101600" dist="38100" dir="8100000">
              <a:srgbClr val="000000">
                <a:alpha val="25000"/>
              </a:srgbClr>
            </a:outerShdw>
          </a:effectLst>
        </p:spPr>
      </p:sp>
      <p:sp>
        <p:nvSpPr>
          <p:cNvPr id="6" name="Shape 4"/>
          <p:cNvSpPr/>
          <p:nvPr/>
        </p:nvSpPr>
        <p:spPr>
          <a:xfrm>
            <a:off x="320040" y="1188720"/>
            <a:ext cx="1920240" cy="64008"/>
          </a:xfrm>
          <a:prstGeom prst="rect">
            <a:avLst/>
          </a:prstGeom>
          <a:solidFill>
            <a:srgbClr val="FF4444"/>
          </a:solidFill>
          <a:ln w="12700">
            <a:solidFill>
              <a:srgbClr val="FF4444"/>
            </a:solidFill>
            <a:prstDash val="solid"/>
          </a:ln>
        </p:spPr>
      </p:sp>
      <p:sp>
        <p:nvSpPr>
          <p:cNvPr id="7" name="Text 5"/>
          <p:cNvSpPr/>
          <p:nvPr/>
        </p:nvSpPr>
        <p:spPr>
          <a:xfrm>
            <a:off x="393192" y="1298448"/>
            <a:ext cx="1783080" cy="685800"/>
          </a:xfrm>
          <a:prstGeom prst="rect">
            <a:avLst/>
          </a:prstGeom>
          <a:noFill/>
          <a:ln/>
        </p:spPr>
        <p:txBody>
          <a:bodyPr wrap="square" rtlCol="0" anchor="ctr"/>
          <a:lstStyle/>
          <a:p>
            <a:pPr algn="ctr" indent="0" marL="0">
              <a:buNone/>
            </a:pPr>
            <a:r>
              <a:rPr lang="en-US" sz="1200" b="1" dirty="0">
                <a:solidFill>
                  <a:srgbClr val="FF4444"/>
                </a:solidFill>
                <a:latin typeface="Calibri" pitchFamily="34" charset="0"/>
                <a:ea typeface="Calibri" pitchFamily="34" charset="-122"/>
                <a:cs typeface="Calibri" pitchFamily="34" charset="-120"/>
              </a:rPr>
              <a:t>TELEMETRÍA EN</a:t>
            </a:r>
            <a:endParaRPr lang="en-US" sz="1200" dirty="0"/>
          </a:p>
          <a:p>
            <a:pPr algn="ctr" indent="0" marL="0">
              <a:buNone/>
            </a:pPr>
            <a:r>
              <a:rPr lang="en-US" sz="1200" b="1" dirty="0">
                <a:solidFill>
                  <a:srgbClr val="FF4444"/>
                </a:solidFill>
                <a:latin typeface="Calibri" pitchFamily="34" charset="0"/>
                <a:ea typeface="Calibri" pitchFamily="34" charset="-122"/>
                <a:cs typeface="Calibri" pitchFamily="34" charset="-120"/>
              </a:rPr>
              <a:t>TIEMPO REAL</a:t>
            </a:r>
            <a:endParaRPr lang="en-US" sz="1200" dirty="0"/>
          </a:p>
        </p:txBody>
      </p:sp>
      <p:sp>
        <p:nvSpPr>
          <p:cNvPr id="8" name="Text 6"/>
          <p:cNvSpPr/>
          <p:nvPr/>
        </p:nvSpPr>
        <p:spPr>
          <a:xfrm>
            <a:off x="393192" y="1993392"/>
            <a:ext cx="1783080" cy="256032"/>
          </a:xfrm>
          <a:prstGeom prst="rect">
            <a:avLst/>
          </a:prstGeom>
          <a:noFill/>
          <a:ln/>
        </p:spPr>
        <p:txBody>
          <a:bodyPr wrap="square" rtlCol="0" anchor="ctr"/>
          <a:lstStyle/>
          <a:p>
            <a:pPr algn="ctr" indent="0" marL="0">
              <a:buNone/>
            </a:pPr>
            <a:r>
              <a:rPr lang="en-US" sz="900" i="1" dirty="0">
                <a:solidFill>
                  <a:srgbClr val="8BA8BE"/>
                </a:solidFill>
                <a:latin typeface="Calibri" pitchFamily="34" charset="0"/>
                <a:ea typeface="Calibri" pitchFamily="34" charset="-122"/>
                <a:cs typeface="Calibri" pitchFamily="34" charset="-120"/>
              </a:rPr>
              <a:t>Redis_Cache_Live</a:t>
            </a:r>
            <a:endParaRPr lang="en-US" sz="900" dirty="0"/>
          </a:p>
        </p:txBody>
      </p:sp>
      <p:sp>
        <p:nvSpPr>
          <p:cNvPr id="9" name="Shape 7"/>
          <p:cNvSpPr/>
          <p:nvPr/>
        </p:nvSpPr>
        <p:spPr>
          <a:xfrm>
            <a:off x="411480" y="2286000"/>
            <a:ext cx="1737360" cy="36576"/>
          </a:xfrm>
          <a:prstGeom prst="rect">
            <a:avLst/>
          </a:prstGeom>
          <a:solidFill>
            <a:srgbClr val="FF4444">
              <a:alpha val="40000"/>
            </a:srgbClr>
          </a:solidFill>
          <a:ln w="12700">
            <a:solidFill>
              <a:srgbClr val="FF4444">
                <a:alpha val="40000"/>
              </a:srgbClr>
            </a:solidFill>
            <a:prstDash val="solid"/>
          </a:ln>
        </p:spPr>
      </p:sp>
      <p:sp>
        <p:nvSpPr>
          <p:cNvPr id="10" name="Text 8"/>
          <p:cNvSpPr/>
          <p:nvPr/>
        </p:nvSpPr>
        <p:spPr>
          <a:xfrm>
            <a:off x="411480" y="2423160"/>
            <a:ext cx="1737360" cy="457200"/>
          </a:xfrm>
          <a:prstGeom prst="rect">
            <a:avLst/>
          </a:prstGeom>
          <a:noFill/>
          <a:ln/>
        </p:spPr>
        <p:txBody>
          <a:bodyPr wrap="square" rtlCol="0" anchor="ctr"/>
          <a:lstStyle/>
          <a:p>
            <a:pPr indent="0" marL="0">
              <a:buNone/>
            </a:pPr>
            <a:r>
              <a:rPr lang="en-US" sz="1100" dirty="0">
                <a:solidFill>
                  <a:srgbClr val="E8F4F8"/>
                </a:solidFill>
                <a:latin typeface="Calibri" pitchFamily="34" charset="0"/>
                <a:ea typeface="Calibri" pitchFamily="34" charset="-122"/>
                <a:cs typeface="Calibri" pitchFamily="34" charset="-120"/>
              </a:rPr>
              <a:t>· posiciones_GPS_activas</a:t>
            </a:r>
            <a:endParaRPr lang="en-US" sz="1100" dirty="0"/>
          </a:p>
        </p:txBody>
      </p:sp>
      <p:sp>
        <p:nvSpPr>
          <p:cNvPr id="11" name="Text 9"/>
          <p:cNvSpPr/>
          <p:nvPr/>
        </p:nvSpPr>
        <p:spPr>
          <a:xfrm>
            <a:off x="411480" y="2926080"/>
            <a:ext cx="1737360" cy="457200"/>
          </a:xfrm>
          <a:prstGeom prst="rect">
            <a:avLst/>
          </a:prstGeom>
          <a:noFill/>
          <a:ln/>
        </p:spPr>
        <p:txBody>
          <a:bodyPr wrap="square" rtlCol="0" anchor="ctr"/>
          <a:lstStyle/>
          <a:p>
            <a:pPr indent="0" marL="0">
              <a:buNone/>
            </a:pPr>
            <a:r>
              <a:rPr lang="en-US" sz="1100" dirty="0">
                <a:solidFill>
                  <a:srgbClr val="E8F4F8"/>
                </a:solidFill>
                <a:latin typeface="Calibri" pitchFamily="34" charset="0"/>
                <a:ea typeface="Calibri" pitchFamily="34" charset="-122"/>
                <a:cs typeface="Calibri" pitchFamily="34" charset="-120"/>
              </a:rPr>
              <a:t>· sesiones_usuario_tokens</a:t>
            </a:r>
            <a:endParaRPr lang="en-US" sz="1100" dirty="0"/>
          </a:p>
        </p:txBody>
      </p:sp>
      <p:sp>
        <p:nvSpPr>
          <p:cNvPr id="12" name="Text 10"/>
          <p:cNvSpPr/>
          <p:nvPr/>
        </p:nvSpPr>
        <p:spPr>
          <a:xfrm>
            <a:off x="411480" y="3429000"/>
            <a:ext cx="1737360" cy="457200"/>
          </a:xfrm>
          <a:prstGeom prst="rect">
            <a:avLst/>
          </a:prstGeom>
          <a:noFill/>
          <a:ln/>
        </p:spPr>
        <p:txBody>
          <a:bodyPr wrap="square" rtlCol="0" anchor="ctr"/>
          <a:lstStyle/>
          <a:p>
            <a:pPr indent="0" marL="0">
              <a:buNone/>
            </a:pPr>
            <a:r>
              <a:rPr lang="en-US" sz="1100" dirty="0">
                <a:solidFill>
                  <a:srgbClr val="E8F4F8"/>
                </a:solidFill>
                <a:latin typeface="Calibri" pitchFamily="34" charset="0"/>
                <a:ea typeface="Calibri" pitchFamily="34" charset="-122"/>
                <a:cs typeface="Calibri" pitchFamily="34" charset="-120"/>
              </a:rPr>
              <a:t>· métricas_salud_sistema</a:t>
            </a:r>
            <a:endParaRPr lang="en-US" sz="1100" dirty="0"/>
          </a:p>
        </p:txBody>
      </p:sp>
      <p:sp>
        <p:nvSpPr>
          <p:cNvPr id="13" name="Shape 11"/>
          <p:cNvSpPr/>
          <p:nvPr/>
        </p:nvSpPr>
        <p:spPr>
          <a:xfrm>
            <a:off x="2377440" y="1188720"/>
            <a:ext cx="2103120" cy="3566160"/>
          </a:xfrm>
          <a:prstGeom prst="rect">
            <a:avLst/>
          </a:prstGeom>
          <a:solidFill>
            <a:srgbClr val="112236"/>
          </a:solidFill>
          <a:ln w="12700">
            <a:solidFill>
              <a:srgbClr val="00B4D8"/>
            </a:solidFill>
            <a:prstDash val="solid"/>
          </a:ln>
          <a:effectLst>
            <a:outerShdw sx="100000" sy="100000" kx="0" ky="0" algn="bl" rotWithShape="0" blurRad="101600" dist="38100" dir="8100000">
              <a:srgbClr val="000000">
                <a:alpha val="25000"/>
              </a:srgbClr>
            </a:outerShdw>
          </a:effectLst>
        </p:spPr>
      </p:sp>
      <p:sp>
        <p:nvSpPr>
          <p:cNvPr id="14" name="Shape 12"/>
          <p:cNvSpPr/>
          <p:nvPr/>
        </p:nvSpPr>
        <p:spPr>
          <a:xfrm>
            <a:off x="2377440" y="1188720"/>
            <a:ext cx="2103120" cy="64008"/>
          </a:xfrm>
          <a:prstGeom prst="rect">
            <a:avLst/>
          </a:prstGeom>
          <a:solidFill>
            <a:srgbClr val="00B4D8"/>
          </a:solidFill>
          <a:ln w="12700">
            <a:solidFill>
              <a:srgbClr val="00B4D8"/>
            </a:solidFill>
            <a:prstDash val="solid"/>
          </a:ln>
        </p:spPr>
      </p:sp>
      <p:sp>
        <p:nvSpPr>
          <p:cNvPr id="15" name="Text 13"/>
          <p:cNvSpPr/>
          <p:nvPr/>
        </p:nvSpPr>
        <p:spPr>
          <a:xfrm>
            <a:off x="2450592" y="1298448"/>
            <a:ext cx="1965960" cy="685800"/>
          </a:xfrm>
          <a:prstGeom prst="rect">
            <a:avLst/>
          </a:prstGeom>
          <a:noFill/>
          <a:ln/>
        </p:spPr>
        <p:txBody>
          <a:bodyPr wrap="square" rtlCol="0" anchor="ctr"/>
          <a:lstStyle/>
          <a:p>
            <a:pPr algn="ctr" indent="0" marL="0">
              <a:buNone/>
            </a:pPr>
            <a:r>
              <a:rPr lang="en-US" sz="1200" b="1" dirty="0">
                <a:solidFill>
                  <a:srgbClr val="00B4D8"/>
                </a:solidFill>
                <a:latin typeface="Calibri" pitchFamily="34" charset="0"/>
                <a:ea typeface="Calibri" pitchFamily="34" charset="-122"/>
                <a:cs typeface="Calibri" pitchFamily="34" charset="-120"/>
              </a:rPr>
              <a:t>GESTIÓN</a:t>
            </a:r>
            <a:endParaRPr lang="en-US" sz="1200" dirty="0"/>
          </a:p>
          <a:p>
            <a:pPr algn="ctr" indent="0" marL="0">
              <a:buNone/>
            </a:pPr>
            <a:r>
              <a:rPr lang="en-US" sz="1200" b="1" dirty="0">
                <a:solidFill>
                  <a:srgbClr val="00B4D8"/>
                </a:solidFill>
                <a:latin typeface="Calibri" pitchFamily="34" charset="0"/>
                <a:ea typeface="Calibri" pitchFamily="34" charset="-122"/>
                <a:cs typeface="Calibri" pitchFamily="34" charset="-120"/>
              </a:rPr>
              <a:t>AERONÁUTICA</a:t>
            </a:r>
            <a:endParaRPr lang="en-US" sz="1200" dirty="0"/>
          </a:p>
        </p:txBody>
      </p:sp>
      <p:sp>
        <p:nvSpPr>
          <p:cNvPr id="16" name="Text 14"/>
          <p:cNvSpPr/>
          <p:nvPr/>
        </p:nvSpPr>
        <p:spPr>
          <a:xfrm>
            <a:off x="2450592" y="1993392"/>
            <a:ext cx="1965960" cy="256032"/>
          </a:xfrm>
          <a:prstGeom prst="rect">
            <a:avLst/>
          </a:prstGeom>
          <a:noFill/>
          <a:ln/>
        </p:spPr>
        <p:txBody>
          <a:bodyPr wrap="square" rtlCol="0" anchor="ctr"/>
          <a:lstStyle/>
          <a:p>
            <a:pPr algn="ctr" indent="0" marL="0">
              <a:buNone/>
            </a:pPr>
            <a:r>
              <a:rPr lang="en-US" sz="900" i="1" dirty="0">
                <a:solidFill>
                  <a:srgbClr val="8BA8BE"/>
                </a:solidFill>
                <a:latin typeface="Calibri" pitchFamily="34" charset="0"/>
                <a:ea typeface="Calibri" pitchFamily="34" charset="-122"/>
                <a:cs typeface="Calibri" pitchFamily="34" charset="-120"/>
              </a:rPr>
              <a:t>Core Context</a:t>
            </a:r>
            <a:endParaRPr lang="en-US" sz="900" dirty="0"/>
          </a:p>
        </p:txBody>
      </p:sp>
      <p:sp>
        <p:nvSpPr>
          <p:cNvPr id="17" name="Shape 15"/>
          <p:cNvSpPr/>
          <p:nvPr/>
        </p:nvSpPr>
        <p:spPr>
          <a:xfrm>
            <a:off x="2468880" y="2286000"/>
            <a:ext cx="1920240" cy="36576"/>
          </a:xfrm>
          <a:prstGeom prst="rect">
            <a:avLst/>
          </a:prstGeom>
          <a:solidFill>
            <a:srgbClr val="00B4D8">
              <a:alpha val="40000"/>
            </a:srgbClr>
          </a:solidFill>
          <a:ln w="12700">
            <a:solidFill>
              <a:srgbClr val="00B4D8">
                <a:alpha val="40000"/>
              </a:srgbClr>
            </a:solidFill>
            <a:prstDash val="solid"/>
          </a:ln>
        </p:spPr>
      </p:sp>
      <p:sp>
        <p:nvSpPr>
          <p:cNvPr id="18" name="Text 16"/>
          <p:cNvSpPr/>
          <p:nvPr/>
        </p:nvSpPr>
        <p:spPr>
          <a:xfrm>
            <a:off x="2468880" y="2423160"/>
            <a:ext cx="1920240" cy="457200"/>
          </a:xfrm>
          <a:prstGeom prst="rect">
            <a:avLst/>
          </a:prstGeom>
          <a:noFill/>
          <a:ln/>
        </p:spPr>
        <p:txBody>
          <a:bodyPr wrap="square" rtlCol="0" anchor="ctr"/>
          <a:lstStyle/>
          <a:p>
            <a:pPr indent="0" marL="0">
              <a:buNone/>
            </a:pPr>
            <a:r>
              <a:rPr lang="en-US" sz="1100" dirty="0">
                <a:solidFill>
                  <a:srgbClr val="E8F4F8"/>
                </a:solidFill>
                <a:latin typeface="Calibri" pitchFamily="34" charset="0"/>
                <a:ea typeface="Calibri" pitchFamily="34" charset="-122"/>
                <a:cs typeface="Calibri" pitchFamily="34" charset="-120"/>
              </a:rPr>
              <a:t>· Aeronave (icao24)</a:t>
            </a:r>
            <a:endParaRPr lang="en-US" sz="1100" dirty="0"/>
          </a:p>
        </p:txBody>
      </p:sp>
      <p:sp>
        <p:nvSpPr>
          <p:cNvPr id="19" name="Text 17"/>
          <p:cNvSpPr/>
          <p:nvPr/>
        </p:nvSpPr>
        <p:spPr>
          <a:xfrm>
            <a:off x="2468880" y="2926080"/>
            <a:ext cx="1920240" cy="457200"/>
          </a:xfrm>
          <a:prstGeom prst="rect">
            <a:avLst/>
          </a:prstGeom>
          <a:noFill/>
          <a:ln/>
        </p:spPr>
        <p:txBody>
          <a:bodyPr wrap="square" rtlCol="0" anchor="ctr"/>
          <a:lstStyle/>
          <a:p>
            <a:pPr indent="0" marL="0">
              <a:buNone/>
            </a:pPr>
            <a:r>
              <a:rPr lang="en-US" sz="1100" dirty="0">
                <a:solidFill>
                  <a:srgbClr val="E8F4F8"/>
                </a:solidFill>
                <a:latin typeface="Calibri" pitchFamily="34" charset="0"/>
                <a:ea typeface="Calibri" pitchFamily="34" charset="-122"/>
                <a:cs typeface="Calibri" pitchFamily="34" charset="-120"/>
              </a:rPr>
              <a:t>· Vuelo_Trayectoria</a:t>
            </a:r>
            <a:endParaRPr lang="en-US" sz="1100" dirty="0"/>
          </a:p>
        </p:txBody>
      </p:sp>
      <p:sp>
        <p:nvSpPr>
          <p:cNvPr id="20" name="Text 18"/>
          <p:cNvSpPr/>
          <p:nvPr/>
        </p:nvSpPr>
        <p:spPr>
          <a:xfrm>
            <a:off x="2468880" y="3429000"/>
            <a:ext cx="1920240" cy="457200"/>
          </a:xfrm>
          <a:prstGeom prst="rect">
            <a:avLst/>
          </a:prstGeom>
          <a:noFill/>
          <a:ln/>
        </p:spPr>
        <p:txBody>
          <a:bodyPr wrap="square" rtlCol="0" anchor="ctr"/>
          <a:lstStyle/>
          <a:p>
            <a:pPr indent="0" marL="0">
              <a:buNone/>
            </a:pPr>
            <a:r>
              <a:rPr lang="en-US" sz="1100" dirty="0">
                <a:solidFill>
                  <a:srgbClr val="E8F4F8"/>
                </a:solidFill>
                <a:latin typeface="Calibri" pitchFamily="34" charset="0"/>
                <a:ea typeface="Calibri" pitchFamily="34" charset="-122"/>
                <a:cs typeface="Calibri" pitchFamily="34" charset="-120"/>
              </a:rPr>
              <a:t>· Alertas generadas</a:t>
            </a:r>
            <a:endParaRPr lang="en-US" sz="1100" dirty="0"/>
          </a:p>
        </p:txBody>
      </p:sp>
      <p:sp>
        <p:nvSpPr>
          <p:cNvPr id="21" name="Shape 19"/>
          <p:cNvSpPr/>
          <p:nvPr/>
        </p:nvSpPr>
        <p:spPr>
          <a:xfrm>
            <a:off x="4617720" y="1188720"/>
            <a:ext cx="1920240" cy="3566160"/>
          </a:xfrm>
          <a:prstGeom prst="rect">
            <a:avLst/>
          </a:prstGeom>
          <a:solidFill>
            <a:srgbClr val="112236"/>
          </a:solidFill>
          <a:ln w="12700">
            <a:solidFill>
              <a:srgbClr val="00ED64"/>
            </a:solidFill>
            <a:prstDash val="solid"/>
          </a:ln>
          <a:effectLst>
            <a:outerShdw sx="100000" sy="100000" kx="0" ky="0" algn="bl" rotWithShape="0" blurRad="101600" dist="38100" dir="8100000">
              <a:srgbClr val="000000">
                <a:alpha val="25000"/>
              </a:srgbClr>
            </a:outerShdw>
          </a:effectLst>
        </p:spPr>
      </p:sp>
      <p:sp>
        <p:nvSpPr>
          <p:cNvPr id="22" name="Shape 20"/>
          <p:cNvSpPr/>
          <p:nvPr/>
        </p:nvSpPr>
        <p:spPr>
          <a:xfrm>
            <a:off x="4617720" y="1188720"/>
            <a:ext cx="1920240" cy="64008"/>
          </a:xfrm>
          <a:prstGeom prst="rect">
            <a:avLst/>
          </a:prstGeom>
          <a:solidFill>
            <a:srgbClr val="00ED64"/>
          </a:solidFill>
          <a:ln w="12700">
            <a:solidFill>
              <a:srgbClr val="00ED64"/>
            </a:solidFill>
            <a:prstDash val="solid"/>
          </a:ln>
        </p:spPr>
      </p:sp>
      <p:sp>
        <p:nvSpPr>
          <p:cNvPr id="23" name="Text 21"/>
          <p:cNvSpPr/>
          <p:nvPr/>
        </p:nvSpPr>
        <p:spPr>
          <a:xfrm>
            <a:off x="4690872" y="1298448"/>
            <a:ext cx="1783080" cy="685800"/>
          </a:xfrm>
          <a:prstGeom prst="rect">
            <a:avLst/>
          </a:prstGeom>
          <a:noFill/>
          <a:ln/>
        </p:spPr>
        <p:txBody>
          <a:bodyPr wrap="square" rtlCol="0" anchor="ctr"/>
          <a:lstStyle/>
          <a:p>
            <a:pPr algn="ctr" indent="0" marL="0">
              <a:buNone/>
            </a:pPr>
            <a:r>
              <a:rPr lang="en-US" sz="1200" b="1" dirty="0">
                <a:solidFill>
                  <a:srgbClr val="00ED64"/>
                </a:solidFill>
                <a:latin typeface="Calibri" pitchFamily="34" charset="0"/>
                <a:ea typeface="Calibri" pitchFamily="34" charset="-122"/>
                <a:cs typeface="Calibri" pitchFamily="34" charset="-120"/>
              </a:rPr>
              <a:t>LOGÍSTICA</a:t>
            </a:r>
            <a:endParaRPr lang="en-US" sz="1200" dirty="0"/>
          </a:p>
          <a:p>
            <a:pPr algn="ctr" indent="0" marL="0">
              <a:buNone/>
            </a:pPr>
            <a:r>
              <a:rPr lang="en-US" sz="1200" b="1" dirty="0">
                <a:solidFill>
                  <a:srgbClr val="00ED64"/>
                </a:solidFill>
                <a:latin typeface="Calibri" pitchFamily="34" charset="0"/>
                <a:ea typeface="Calibri" pitchFamily="34" charset="-122"/>
                <a:cs typeface="Calibri" pitchFamily="34" charset="-120"/>
              </a:rPr>
              <a:t>Y CARGA</a:t>
            </a:r>
            <a:endParaRPr lang="en-US" sz="1200" dirty="0"/>
          </a:p>
        </p:txBody>
      </p:sp>
      <p:sp>
        <p:nvSpPr>
          <p:cNvPr id="24" name="Text 22"/>
          <p:cNvSpPr/>
          <p:nvPr/>
        </p:nvSpPr>
        <p:spPr>
          <a:xfrm>
            <a:off x="4690872" y="1993392"/>
            <a:ext cx="1783080" cy="256032"/>
          </a:xfrm>
          <a:prstGeom prst="rect">
            <a:avLst/>
          </a:prstGeom>
          <a:noFill/>
          <a:ln/>
        </p:spPr>
        <p:txBody>
          <a:bodyPr wrap="square" rtlCol="0" anchor="ctr"/>
          <a:lstStyle/>
          <a:p>
            <a:pPr algn="ctr" indent="0" marL="0">
              <a:buNone/>
            </a:pPr>
            <a:r>
              <a:rPr lang="en-US" sz="900" i="1" dirty="0">
                <a:solidFill>
                  <a:srgbClr val="8BA8BE"/>
                </a:solidFill>
                <a:latin typeface="Calibri" pitchFamily="34" charset="0"/>
                <a:ea typeface="Calibri" pitchFamily="34" charset="-122"/>
                <a:cs typeface="Calibri" pitchFamily="34" charset="-120"/>
              </a:rPr>
              <a:t>MongoDB</a:t>
            </a:r>
            <a:endParaRPr lang="en-US" sz="900" dirty="0"/>
          </a:p>
        </p:txBody>
      </p:sp>
      <p:sp>
        <p:nvSpPr>
          <p:cNvPr id="25" name="Shape 23"/>
          <p:cNvSpPr/>
          <p:nvPr/>
        </p:nvSpPr>
        <p:spPr>
          <a:xfrm>
            <a:off x="4709160" y="2286000"/>
            <a:ext cx="1737360" cy="36576"/>
          </a:xfrm>
          <a:prstGeom prst="rect">
            <a:avLst/>
          </a:prstGeom>
          <a:solidFill>
            <a:srgbClr val="00ED64">
              <a:alpha val="40000"/>
            </a:srgbClr>
          </a:solidFill>
          <a:ln w="12700">
            <a:solidFill>
              <a:srgbClr val="00ED64">
                <a:alpha val="40000"/>
              </a:srgbClr>
            </a:solidFill>
            <a:prstDash val="solid"/>
          </a:ln>
        </p:spPr>
      </p:sp>
      <p:sp>
        <p:nvSpPr>
          <p:cNvPr id="26" name="Text 24"/>
          <p:cNvSpPr/>
          <p:nvPr/>
        </p:nvSpPr>
        <p:spPr>
          <a:xfrm>
            <a:off x="4709160" y="2423160"/>
            <a:ext cx="1737360" cy="457200"/>
          </a:xfrm>
          <a:prstGeom prst="rect">
            <a:avLst/>
          </a:prstGeom>
          <a:noFill/>
          <a:ln/>
        </p:spPr>
        <p:txBody>
          <a:bodyPr wrap="square" rtlCol="0" anchor="ctr"/>
          <a:lstStyle/>
          <a:p>
            <a:pPr indent="0" marL="0">
              <a:buNone/>
            </a:pPr>
            <a:r>
              <a:rPr lang="en-US" sz="1100" dirty="0">
                <a:solidFill>
                  <a:srgbClr val="E8F4F8"/>
                </a:solidFill>
                <a:latin typeface="Calibri" pitchFamily="34" charset="0"/>
                <a:ea typeface="Calibri" pitchFamily="34" charset="-122"/>
                <a:cs typeface="Calibri" pitchFamily="34" charset="-120"/>
              </a:rPr>
              <a:t>· Manifiesto_Carga</a:t>
            </a:r>
            <a:endParaRPr lang="en-US" sz="1100" dirty="0"/>
          </a:p>
        </p:txBody>
      </p:sp>
      <p:sp>
        <p:nvSpPr>
          <p:cNvPr id="27" name="Text 25"/>
          <p:cNvSpPr/>
          <p:nvPr/>
        </p:nvSpPr>
        <p:spPr>
          <a:xfrm>
            <a:off x="4709160" y="2926080"/>
            <a:ext cx="1737360" cy="457200"/>
          </a:xfrm>
          <a:prstGeom prst="rect">
            <a:avLst/>
          </a:prstGeom>
          <a:noFill/>
          <a:ln/>
        </p:spPr>
        <p:txBody>
          <a:bodyPr wrap="square" rtlCol="0" anchor="ctr"/>
          <a:lstStyle/>
          <a:p>
            <a:pPr indent="0" marL="0">
              <a:buNone/>
            </a:pPr>
            <a:r>
              <a:rPr lang="en-US" sz="1100" dirty="0">
                <a:solidFill>
                  <a:srgbClr val="E8F4F8"/>
                </a:solidFill>
                <a:latin typeface="Calibri" pitchFamily="34" charset="0"/>
                <a:ea typeface="Calibri" pitchFamily="34" charset="-122"/>
                <a:cs typeface="Calibri" pitchFamily="34" charset="-120"/>
              </a:rPr>
              <a:t>· Contenedor_Logístico</a:t>
            </a:r>
            <a:endParaRPr lang="en-US" sz="1100" dirty="0"/>
          </a:p>
        </p:txBody>
      </p:sp>
      <p:sp>
        <p:nvSpPr>
          <p:cNvPr id="28" name="Text 26"/>
          <p:cNvSpPr/>
          <p:nvPr/>
        </p:nvSpPr>
        <p:spPr>
          <a:xfrm>
            <a:off x="4709160" y="3429000"/>
            <a:ext cx="1737360" cy="457200"/>
          </a:xfrm>
          <a:prstGeom prst="rect">
            <a:avLst/>
          </a:prstGeom>
          <a:noFill/>
          <a:ln/>
        </p:spPr>
        <p:txBody>
          <a:bodyPr wrap="square" rtlCol="0" anchor="ctr"/>
          <a:lstStyle/>
          <a:p>
            <a:pPr indent="0" marL="0">
              <a:buNone/>
            </a:pPr>
            <a:r>
              <a:rPr lang="en-US" sz="1100" dirty="0">
                <a:solidFill>
                  <a:srgbClr val="E8F4F8"/>
                </a:solidFill>
                <a:latin typeface="Calibri" pitchFamily="34" charset="0"/>
                <a:ea typeface="Calibri" pitchFamily="34" charset="-122"/>
                <a:cs typeface="Calibri" pitchFamily="34" charset="-120"/>
              </a:rPr>
              <a:t>· Sensores IoT</a:t>
            </a:r>
            <a:endParaRPr lang="en-US" sz="1100" dirty="0"/>
          </a:p>
        </p:txBody>
      </p:sp>
      <p:sp>
        <p:nvSpPr>
          <p:cNvPr id="29" name="Shape 27"/>
          <p:cNvSpPr/>
          <p:nvPr/>
        </p:nvSpPr>
        <p:spPr>
          <a:xfrm>
            <a:off x="6675120" y="1188720"/>
            <a:ext cx="2148840" cy="3566160"/>
          </a:xfrm>
          <a:prstGeom prst="rect">
            <a:avLst/>
          </a:prstGeom>
          <a:solidFill>
            <a:srgbClr val="112236"/>
          </a:solidFill>
          <a:ln w="12700">
            <a:solidFill>
              <a:srgbClr val="FFB703"/>
            </a:solidFill>
            <a:prstDash val="solid"/>
          </a:ln>
          <a:effectLst>
            <a:outerShdw sx="100000" sy="100000" kx="0" ky="0" algn="bl" rotWithShape="0" blurRad="101600" dist="38100" dir="8100000">
              <a:srgbClr val="000000">
                <a:alpha val="25000"/>
              </a:srgbClr>
            </a:outerShdw>
          </a:effectLst>
        </p:spPr>
      </p:sp>
      <p:sp>
        <p:nvSpPr>
          <p:cNvPr id="30" name="Shape 28"/>
          <p:cNvSpPr/>
          <p:nvPr/>
        </p:nvSpPr>
        <p:spPr>
          <a:xfrm>
            <a:off x="6675120" y="1188720"/>
            <a:ext cx="2148840" cy="64008"/>
          </a:xfrm>
          <a:prstGeom prst="rect">
            <a:avLst/>
          </a:prstGeom>
          <a:solidFill>
            <a:srgbClr val="FFB703"/>
          </a:solidFill>
          <a:ln w="12700">
            <a:solidFill>
              <a:srgbClr val="FFB703"/>
            </a:solidFill>
            <a:prstDash val="solid"/>
          </a:ln>
        </p:spPr>
      </p:sp>
      <p:sp>
        <p:nvSpPr>
          <p:cNvPr id="31" name="Text 29"/>
          <p:cNvSpPr/>
          <p:nvPr/>
        </p:nvSpPr>
        <p:spPr>
          <a:xfrm>
            <a:off x="6748272" y="1298448"/>
            <a:ext cx="2011680" cy="685800"/>
          </a:xfrm>
          <a:prstGeom prst="rect">
            <a:avLst/>
          </a:prstGeom>
          <a:noFill/>
          <a:ln/>
        </p:spPr>
        <p:txBody>
          <a:bodyPr wrap="square" rtlCol="0" anchor="ctr"/>
          <a:lstStyle/>
          <a:p>
            <a:pPr algn="ctr" indent="0" marL="0">
              <a:buNone/>
            </a:pPr>
            <a:r>
              <a:rPr lang="en-US" sz="1200" b="1" dirty="0">
                <a:solidFill>
                  <a:srgbClr val="FFB703"/>
                </a:solidFill>
                <a:latin typeface="Calibri" pitchFamily="34" charset="0"/>
                <a:ea typeface="Calibri" pitchFamily="34" charset="-122"/>
                <a:cs typeface="Calibri" pitchFamily="34" charset="-120"/>
              </a:rPr>
              <a:t>INFRAESTRUCTURA</a:t>
            </a:r>
            <a:endParaRPr lang="en-US" sz="1200" dirty="0"/>
          </a:p>
          <a:p>
            <a:pPr algn="ctr" indent="0" marL="0">
              <a:buNone/>
            </a:pPr>
            <a:r>
              <a:rPr lang="en-US" sz="1200" b="1" dirty="0">
                <a:solidFill>
                  <a:srgbClr val="FFB703"/>
                </a:solidFill>
                <a:latin typeface="Calibri" pitchFamily="34" charset="0"/>
                <a:ea typeface="Calibri" pitchFamily="34" charset="-122"/>
                <a:cs typeface="Calibri" pitchFamily="34" charset="-120"/>
              </a:rPr>
              <a:t>Y ALERTAS</a:t>
            </a:r>
            <a:endParaRPr lang="en-US" sz="1200" dirty="0"/>
          </a:p>
        </p:txBody>
      </p:sp>
      <p:sp>
        <p:nvSpPr>
          <p:cNvPr id="32" name="Text 30"/>
          <p:cNvSpPr/>
          <p:nvPr/>
        </p:nvSpPr>
        <p:spPr>
          <a:xfrm>
            <a:off x="6748272" y="1993392"/>
            <a:ext cx="2011680" cy="256032"/>
          </a:xfrm>
          <a:prstGeom prst="rect">
            <a:avLst/>
          </a:prstGeom>
          <a:noFill/>
          <a:ln/>
        </p:spPr>
        <p:txBody>
          <a:bodyPr wrap="square" rtlCol="0" anchor="ctr"/>
          <a:lstStyle/>
          <a:p>
            <a:pPr algn="ctr" indent="0" marL="0">
              <a:buNone/>
            </a:pPr>
            <a:r>
              <a:rPr lang="en-US" sz="900" i="1" dirty="0">
                <a:solidFill>
                  <a:srgbClr val="8BA8BE"/>
                </a:solidFill>
                <a:latin typeface="Calibri" pitchFamily="34" charset="0"/>
                <a:ea typeface="Calibri" pitchFamily="34" charset="-122"/>
                <a:cs typeface="Calibri" pitchFamily="34" charset="-120"/>
              </a:rPr>
              <a:t>MongoDB</a:t>
            </a:r>
            <a:endParaRPr lang="en-US" sz="900" dirty="0"/>
          </a:p>
        </p:txBody>
      </p:sp>
      <p:sp>
        <p:nvSpPr>
          <p:cNvPr id="33" name="Shape 31"/>
          <p:cNvSpPr/>
          <p:nvPr/>
        </p:nvSpPr>
        <p:spPr>
          <a:xfrm>
            <a:off x="6766560" y="2286000"/>
            <a:ext cx="1965960" cy="36576"/>
          </a:xfrm>
          <a:prstGeom prst="rect">
            <a:avLst/>
          </a:prstGeom>
          <a:solidFill>
            <a:srgbClr val="FFB703">
              <a:alpha val="40000"/>
            </a:srgbClr>
          </a:solidFill>
          <a:ln w="12700">
            <a:solidFill>
              <a:srgbClr val="FFB703">
                <a:alpha val="40000"/>
              </a:srgbClr>
            </a:solidFill>
            <a:prstDash val="solid"/>
          </a:ln>
        </p:spPr>
      </p:sp>
      <p:sp>
        <p:nvSpPr>
          <p:cNvPr id="34" name="Text 32"/>
          <p:cNvSpPr/>
          <p:nvPr/>
        </p:nvSpPr>
        <p:spPr>
          <a:xfrm>
            <a:off x="6766560" y="2423160"/>
            <a:ext cx="1965960" cy="457200"/>
          </a:xfrm>
          <a:prstGeom prst="rect">
            <a:avLst/>
          </a:prstGeom>
          <a:noFill/>
          <a:ln/>
        </p:spPr>
        <p:txBody>
          <a:bodyPr wrap="square" rtlCol="0" anchor="ctr"/>
          <a:lstStyle/>
          <a:p>
            <a:pPr indent="0" marL="0">
              <a:buNone/>
            </a:pPr>
            <a:r>
              <a:rPr lang="en-US" sz="1100" dirty="0">
                <a:solidFill>
                  <a:srgbClr val="E8F4F8"/>
                </a:solidFill>
                <a:latin typeface="Calibri" pitchFamily="34" charset="0"/>
                <a:ea typeface="Calibri" pitchFamily="34" charset="-122"/>
                <a:cs typeface="Calibri" pitchFamily="34" charset="-120"/>
              </a:rPr>
              <a:t>· Aeropuerto (Point)</a:t>
            </a:r>
            <a:endParaRPr lang="en-US" sz="1100" dirty="0"/>
          </a:p>
        </p:txBody>
      </p:sp>
      <p:sp>
        <p:nvSpPr>
          <p:cNvPr id="35" name="Text 33"/>
          <p:cNvSpPr/>
          <p:nvPr/>
        </p:nvSpPr>
        <p:spPr>
          <a:xfrm>
            <a:off x="6766560" y="2926080"/>
            <a:ext cx="1965960" cy="457200"/>
          </a:xfrm>
          <a:prstGeom prst="rect">
            <a:avLst/>
          </a:prstGeom>
          <a:noFill/>
          <a:ln/>
        </p:spPr>
        <p:txBody>
          <a:bodyPr wrap="square" rtlCol="0" anchor="ctr"/>
          <a:lstStyle/>
          <a:p>
            <a:pPr indent="0" marL="0">
              <a:buNone/>
            </a:pPr>
            <a:r>
              <a:rPr lang="en-US" sz="1100" dirty="0">
                <a:solidFill>
                  <a:srgbClr val="E8F4F8"/>
                </a:solidFill>
                <a:latin typeface="Calibri" pitchFamily="34" charset="0"/>
                <a:ea typeface="Calibri" pitchFamily="34" charset="-122"/>
                <a:cs typeface="Calibri" pitchFamily="34" charset="-120"/>
              </a:rPr>
              <a:t>· Alerta_Evento</a:t>
            </a:r>
            <a:endParaRPr lang="en-US" sz="1100" dirty="0"/>
          </a:p>
        </p:txBody>
      </p:sp>
      <p:sp>
        <p:nvSpPr>
          <p:cNvPr id="36" name="Text 34"/>
          <p:cNvSpPr/>
          <p:nvPr/>
        </p:nvSpPr>
        <p:spPr>
          <a:xfrm>
            <a:off x="6766560" y="3429000"/>
            <a:ext cx="1965960" cy="457200"/>
          </a:xfrm>
          <a:prstGeom prst="rect">
            <a:avLst/>
          </a:prstGeom>
          <a:noFill/>
          <a:ln/>
        </p:spPr>
        <p:txBody>
          <a:bodyPr wrap="square" rtlCol="0" anchor="ctr"/>
          <a:lstStyle/>
          <a:p>
            <a:pPr indent="0" marL="0">
              <a:buNone/>
            </a:pPr>
            <a:r>
              <a:rPr lang="en-US" sz="1100" dirty="0">
                <a:solidFill>
                  <a:srgbClr val="E8F4F8"/>
                </a:solidFill>
                <a:latin typeface="Calibri" pitchFamily="34" charset="0"/>
                <a:ea typeface="Calibri" pitchFamily="34" charset="-122"/>
                <a:cs typeface="Calibri" pitchFamily="34" charset="-120"/>
              </a:rPr>
              <a:t>· Códigos IATA</a:t>
            </a:r>
            <a:endParaRPr lang="en-US" sz="1100" dirty="0"/>
          </a:p>
        </p:txBody>
      </p:sp>
      <p:sp>
        <p:nvSpPr>
          <p:cNvPr id="37" name="Shape 35"/>
          <p:cNvSpPr/>
          <p:nvPr/>
        </p:nvSpPr>
        <p:spPr>
          <a:xfrm>
            <a:off x="2267712" y="2606040"/>
            <a:ext cx="109728" cy="64008"/>
          </a:xfrm>
          <a:prstGeom prst="rect">
            <a:avLst/>
          </a:prstGeom>
          <a:solidFill>
            <a:srgbClr val="00B4D8"/>
          </a:solidFill>
          <a:ln w="12700">
            <a:solidFill>
              <a:srgbClr val="00B4D8"/>
            </a:solidFill>
            <a:prstDash val="solid"/>
          </a:ln>
        </p:spPr>
      </p:sp>
      <p:sp>
        <p:nvSpPr>
          <p:cNvPr id="38" name="Text 36"/>
          <p:cNvSpPr/>
          <p:nvPr/>
        </p:nvSpPr>
        <p:spPr>
          <a:xfrm>
            <a:off x="2249424" y="2423160"/>
            <a:ext cx="685800" cy="228600"/>
          </a:xfrm>
          <a:prstGeom prst="rect">
            <a:avLst/>
          </a:prstGeom>
          <a:noFill/>
          <a:ln/>
        </p:spPr>
        <p:txBody>
          <a:bodyPr wrap="square" rtlCol="0" anchor="ctr"/>
          <a:lstStyle/>
          <a:p>
            <a:pPr algn="ctr" indent="0" marL="0">
              <a:buNone/>
            </a:pPr>
            <a:r>
              <a:rPr lang="en-US" sz="800" dirty="0">
                <a:solidFill>
                  <a:srgbClr val="00B4D8"/>
                </a:solidFill>
                <a:latin typeface="Calibri" pitchFamily="34" charset="0"/>
                <a:ea typeface="Calibri" pitchFamily="34" charset="-122"/>
                <a:cs typeface="Calibri" pitchFamily="34" charset="-120"/>
              </a:rPr>
              <a:t>→ SNAPSHOT</a:t>
            </a:r>
            <a:endParaRPr lang="en-US" sz="800" dirty="0"/>
          </a:p>
        </p:txBody>
      </p:sp>
      <p:sp>
        <p:nvSpPr>
          <p:cNvPr id="39" name="Shape 37"/>
          <p:cNvSpPr/>
          <p:nvPr/>
        </p:nvSpPr>
        <p:spPr>
          <a:xfrm>
            <a:off x="320040" y="4754880"/>
            <a:ext cx="8503920" cy="274320"/>
          </a:xfrm>
          <a:prstGeom prst="rect">
            <a:avLst/>
          </a:prstGeom>
          <a:solidFill>
            <a:srgbClr val="00B4D8">
              <a:alpha val="10000"/>
            </a:srgbClr>
          </a:solidFill>
          <a:ln w="12700">
            <a:solidFill>
              <a:srgbClr val="00B4D8"/>
            </a:solidFill>
            <a:prstDash val="solid"/>
          </a:ln>
        </p:spPr>
      </p:sp>
      <p:sp>
        <p:nvSpPr>
          <p:cNvPr id="40" name="Text 38"/>
          <p:cNvSpPr/>
          <p:nvPr/>
        </p:nvSpPr>
        <p:spPr>
          <a:xfrm>
            <a:off x="411480" y="4773168"/>
            <a:ext cx="8321040" cy="256032"/>
          </a:xfrm>
          <a:prstGeom prst="rect">
            <a:avLst/>
          </a:prstGeom>
          <a:noFill/>
          <a:ln/>
        </p:spPr>
        <p:txBody>
          <a:bodyPr wrap="square" rtlCol="0" anchor="ctr"/>
          <a:lstStyle/>
          <a:p>
            <a:pPr algn="ctr" indent="0" marL="0">
              <a:buNone/>
            </a:pPr>
            <a:r>
              <a:rPr lang="en-US" sz="1000" dirty="0">
                <a:solidFill>
                  <a:srgbClr val="00B4D8"/>
                </a:solidFill>
                <a:latin typeface="Calibri" pitchFamily="34" charset="0"/>
                <a:ea typeface="Calibri" pitchFamily="34" charset="-122"/>
                <a:cs typeface="Calibri" pitchFamily="34" charset="-120"/>
              </a:rPr>
              <a:t>El Core Context actúa como integrador: transforma snapshots volátiles de Redis en trayectorias históricas de MongoDB</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2137"/>
        </a:solidFill>
      </p:bgPr>
    </p:bg>
    <p:spTree>
      <p:nvGrpSpPr>
        <p:cNvPr id="1" name=""/>
        <p:cNvGrpSpPr/>
        <p:nvPr/>
      </p:nvGrpSpPr>
      <p:grpSpPr>
        <a:xfrm>
          <a:off x="0" y="0"/>
          <a:ext cx="0" cy="0"/>
          <a:chOff x="0" y="0"/>
          <a:chExt cx="0" cy="0"/>
        </a:xfrm>
      </p:grpSpPr>
      <p:sp>
        <p:nvSpPr>
          <p:cNvPr id="2" name="Text 0"/>
          <p:cNvSpPr/>
          <p:nvPr/>
        </p:nvSpPr>
        <p:spPr>
          <a:xfrm>
            <a:off x="457200" y="182880"/>
            <a:ext cx="8229600" cy="548640"/>
          </a:xfrm>
          <a:prstGeom prst="rect">
            <a:avLst/>
          </a:prstGeom>
          <a:noFill/>
          <a:ln/>
        </p:spPr>
        <p:txBody>
          <a:bodyPr wrap="square"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AGREGADOS Y ENTIDADES</a:t>
            </a:r>
            <a:endParaRPr lang="en-US" sz="3000" dirty="0"/>
          </a:p>
        </p:txBody>
      </p:sp>
      <p:sp>
        <p:nvSpPr>
          <p:cNvPr id="3" name="Shape 1"/>
          <p:cNvSpPr/>
          <p:nvPr/>
        </p:nvSpPr>
        <p:spPr>
          <a:xfrm>
            <a:off x="457200" y="713232"/>
            <a:ext cx="1554480" cy="45720"/>
          </a:xfrm>
          <a:prstGeom prst="rect">
            <a:avLst/>
          </a:prstGeom>
          <a:solidFill>
            <a:srgbClr val="00B4D8"/>
          </a:solidFill>
          <a:ln w="12700">
            <a:solidFill>
              <a:srgbClr val="00B4D8"/>
            </a:solidFill>
            <a:prstDash val="solid"/>
          </a:ln>
        </p:spPr>
      </p:sp>
      <p:sp>
        <p:nvSpPr>
          <p:cNvPr id="4" name="Text 2"/>
          <p:cNvSpPr/>
          <p:nvPr/>
        </p:nvSpPr>
        <p:spPr>
          <a:xfrm>
            <a:off x="457200" y="777240"/>
            <a:ext cx="8229600" cy="320040"/>
          </a:xfrm>
          <a:prstGeom prst="rect">
            <a:avLst/>
          </a:prstGeom>
          <a:noFill/>
          <a:ln/>
        </p:spPr>
        <p:txBody>
          <a:bodyPr wrap="square" rtlCol="0" anchor="ctr"/>
          <a:lstStyle/>
          <a:p>
            <a:pPr indent="0" marL="0">
              <a:buNone/>
            </a:pPr>
            <a:r>
              <a:rPr lang="en-US" sz="1300" dirty="0">
                <a:solidFill>
                  <a:srgbClr val="8BA8BE"/>
                </a:solidFill>
                <a:latin typeface="Calibri" pitchFamily="34" charset="0"/>
                <a:ea typeface="Calibri" pitchFamily="34" charset="-122"/>
                <a:cs typeface="Calibri" pitchFamily="34" charset="-120"/>
              </a:rPr>
              <a:t>Límites de consistencia atómica en MongoDB</a:t>
            </a:r>
            <a:endParaRPr lang="en-US" sz="1300" dirty="0"/>
          </a:p>
        </p:txBody>
      </p:sp>
      <p:sp>
        <p:nvSpPr>
          <p:cNvPr id="5" name="Shape 3"/>
          <p:cNvSpPr/>
          <p:nvPr/>
        </p:nvSpPr>
        <p:spPr>
          <a:xfrm>
            <a:off x="320040" y="1188720"/>
            <a:ext cx="2743200" cy="3703320"/>
          </a:xfrm>
          <a:prstGeom prst="rect">
            <a:avLst/>
          </a:prstGeom>
          <a:solidFill>
            <a:srgbClr val="112236"/>
          </a:solidFill>
          <a:ln w="12700">
            <a:solidFill>
              <a:srgbClr val="00B4D8"/>
            </a:solidFill>
            <a:prstDash val="solid"/>
          </a:ln>
          <a:effectLst>
            <a:outerShdw sx="100000" sy="100000" kx="0" ky="0" algn="bl" rotWithShape="0" blurRad="101600" dist="38100" dir="8100000">
              <a:srgbClr val="000000">
                <a:alpha val="25000"/>
              </a:srgbClr>
            </a:outerShdw>
          </a:effectLst>
        </p:spPr>
      </p:sp>
      <p:sp>
        <p:nvSpPr>
          <p:cNvPr id="6" name="Shape 4"/>
          <p:cNvSpPr/>
          <p:nvPr/>
        </p:nvSpPr>
        <p:spPr>
          <a:xfrm>
            <a:off x="320040" y="1188720"/>
            <a:ext cx="2743200" cy="54864"/>
          </a:xfrm>
          <a:prstGeom prst="rect">
            <a:avLst/>
          </a:prstGeom>
          <a:solidFill>
            <a:srgbClr val="00B4D8"/>
          </a:solidFill>
          <a:ln w="12700">
            <a:solidFill>
              <a:srgbClr val="00B4D8"/>
            </a:solidFill>
            <a:prstDash val="solid"/>
          </a:ln>
        </p:spPr>
      </p:sp>
      <p:sp>
        <p:nvSpPr>
          <p:cNvPr id="7" name="Text 5"/>
          <p:cNvSpPr/>
          <p:nvPr/>
        </p:nvSpPr>
        <p:spPr>
          <a:xfrm>
            <a:off x="411480" y="1252728"/>
            <a:ext cx="2560320" cy="658368"/>
          </a:xfrm>
          <a:prstGeom prst="rect">
            <a:avLst/>
          </a:prstGeom>
          <a:noFill/>
          <a:ln/>
        </p:spPr>
        <p:txBody>
          <a:bodyPr wrap="square" rtlCol="0" anchor="ctr"/>
          <a:lstStyle/>
          <a:p>
            <a:pPr algn="ctr" indent="0" marL="0">
              <a:buNone/>
            </a:pPr>
            <a:r>
              <a:rPr lang="en-US" sz="1300" b="1" dirty="0">
                <a:solidFill>
                  <a:srgbClr val="00B4D8"/>
                </a:solidFill>
                <a:latin typeface="Calibri" pitchFamily="34" charset="0"/>
                <a:ea typeface="Calibri" pitchFamily="34" charset="-122"/>
                <a:cs typeface="Calibri" pitchFamily="34" charset="-120"/>
              </a:rPr>
              <a:t>AGG. OPERACIÓN</a:t>
            </a:r>
            <a:endParaRPr lang="en-US" sz="1300" dirty="0"/>
          </a:p>
          <a:p>
            <a:pPr algn="ctr" indent="0" marL="0">
              <a:buNone/>
            </a:pPr>
            <a:r>
              <a:rPr lang="en-US" sz="1300" b="1" dirty="0">
                <a:solidFill>
                  <a:srgbClr val="00B4D8"/>
                </a:solidFill>
                <a:latin typeface="Calibri" pitchFamily="34" charset="0"/>
                <a:ea typeface="Calibri" pitchFamily="34" charset="-122"/>
                <a:cs typeface="Calibri" pitchFamily="34" charset="-120"/>
              </a:rPr>
              <a:t>DE VUELO</a:t>
            </a:r>
            <a:endParaRPr lang="en-US" sz="1300" dirty="0"/>
          </a:p>
        </p:txBody>
      </p:sp>
      <p:sp>
        <p:nvSpPr>
          <p:cNvPr id="8" name="Shape 6"/>
          <p:cNvSpPr/>
          <p:nvPr/>
        </p:nvSpPr>
        <p:spPr>
          <a:xfrm>
            <a:off x="411480" y="1920240"/>
            <a:ext cx="2560320" cy="384048"/>
          </a:xfrm>
          <a:prstGeom prst="rect">
            <a:avLst/>
          </a:prstGeom>
          <a:solidFill>
            <a:srgbClr val="00B4D8">
              <a:alpha val="20000"/>
            </a:srgbClr>
          </a:solidFill>
          <a:ln w="12700">
            <a:solidFill>
              <a:srgbClr val="00B4D8"/>
            </a:solidFill>
            <a:prstDash val="solid"/>
          </a:ln>
        </p:spPr>
      </p:sp>
      <p:sp>
        <p:nvSpPr>
          <p:cNvPr id="9" name="Text 7"/>
          <p:cNvSpPr/>
          <p:nvPr/>
        </p:nvSpPr>
        <p:spPr>
          <a:xfrm>
            <a:off x="429768" y="1938528"/>
            <a:ext cx="2523744"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Aggregate Root: Vuelo</a:t>
            </a:r>
            <a:endParaRPr lang="en-US" sz="1000" dirty="0"/>
          </a:p>
        </p:txBody>
      </p:sp>
      <p:sp>
        <p:nvSpPr>
          <p:cNvPr id="10" name="Text 8"/>
          <p:cNvSpPr/>
          <p:nvPr/>
        </p:nvSpPr>
        <p:spPr>
          <a:xfrm>
            <a:off x="429768" y="2423160"/>
            <a:ext cx="2523744" cy="457200"/>
          </a:xfrm>
          <a:prstGeom prst="rect">
            <a:avLst/>
          </a:prstGeom>
          <a:noFill/>
          <a:ln/>
        </p:spPr>
        <p:txBody>
          <a:bodyPr wrap="square" rtlCol="0" anchor="ctr"/>
          <a:lstStyle/>
          <a:p>
            <a:pPr indent="0" marL="0">
              <a:buNone/>
            </a:pPr>
            <a:r>
              <a:rPr lang="en-US" sz="1100" dirty="0">
                <a:solidFill>
                  <a:srgbClr val="E8F4F8"/>
                </a:solidFill>
                <a:latin typeface="Calibri" pitchFamily="34" charset="0"/>
                <a:ea typeface="Calibri" pitchFamily="34" charset="-122"/>
                <a:cs typeface="Calibri" pitchFamily="34" charset="-120"/>
              </a:rPr>
              <a:t>· Aeronave (ref. por ID)</a:t>
            </a:r>
            <a:endParaRPr lang="en-US" sz="1100" dirty="0"/>
          </a:p>
        </p:txBody>
      </p:sp>
      <p:sp>
        <p:nvSpPr>
          <p:cNvPr id="11" name="Text 9"/>
          <p:cNvSpPr/>
          <p:nvPr/>
        </p:nvSpPr>
        <p:spPr>
          <a:xfrm>
            <a:off x="429768" y="2926080"/>
            <a:ext cx="2523744" cy="457200"/>
          </a:xfrm>
          <a:prstGeom prst="rect">
            <a:avLst/>
          </a:prstGeom>
          <a:noFill/>
          <a:ln/>
        </p:spPr>
        <p:txBody>
          <a:bodyPr wrap="square" rtlCol="0" anchor="ctr"/>
          <a:lstStyle/>
          <a:p>
            <a:pPr indent="0" marL="0">
              <a:buNone/>
            </a:pPr>
            <a:r>
              <a:rPr lang="en-US" sz="1100" dirty="0">
                <a:solidFill>
                  <a:srgbClr val="E8F4F8"/>
                </a:solidFill>
                <a:latin typeface="Calibri" pitchFamily="34" charset="0"/>
                <a:ea typeface="Calibri" pitchFamily="34" charset="-122"/>
                <a:cs typeface="Calibri" pitchFamily="34" charset="-120"/>
              </a:rPr>
              <a:t>· Trayectoria (puntos GPS)</a:t>
            </a:r>
            <a:endParaRPr lang="en-US" sz="1100" dirty="0"/>
          </a:p>
        </p:txBody>
      </p:sp>
      <p:sp>
        <p:nvSpPr>
          <p:cNvPr id="12" name="Text 10"/>
          <p:cNvSpPr/>
          <p:nvPr/>
        </p:nvSpPr>
        <p:spPr>
          <a:xfrm>
            <a:off x="429768" y="3429000"/>
            <a:ext cx="2523744" cy="457200"/>
          </a:xfrm>
          <a:prstGeom prst="rect">
            <a:avLst/>
          </a:prstGeom>
          <a:noFill/>
          <a:ln/>
        </p:spPr>
        <p:txBody>
          <a:bodyPr wrap="square" rtlCol="0" anchor="ctr"/>
          <a:lstStyle/>
          <a:p>
            <a:pPr indent="0" marL="0">
              <a:buNone/>
            </a:pPr>
            <a:r>
              <a:rPr lang="en-US" sz="1100" dirty="0">
                <a:solidFill>
                  <a:srgbClr val="E8F4F8"/>
                </a:solidFill>
                <a:latin typeface="Calibri" pitchFamily="34" charset="0"/>
                <a:ea typeface="Calibri" pitchFamily="34" charset="-122"/>
                <a:cs typeface="Calibri" pitchFamily="34" charset="-120"/>
              </a:rPr>
              <a:t>· Estado / Origen / Destino</a:t>
            </a:r>
            <a:endParaRPr lang="en-US" sz="1100" dirty="0"/>
          </a:p>
        </p:txBody>
      </p:sp>
      <p:sp>
        <p:nvSpPr>
          <p:cNvPr id="13" name="Shape 11"/>
          <p:cNvSpPr/>
          <p:nvPr/>
        </p:nvSpPr>
        <p:spPr>
          <a:xfrm>
            <a:off x="411480" y="4096512"/>
            <a:ext cx="2560320" cy="36576"/>
          </a:xfrm>
          <a:prstGeom prst="rect">
            <a:avLst/>
          </a:prstGeom>
          <a:solidFill>
            <a:srgbClr val="00B4D8">
              <a:alpha val="30000"/>
            </a:srgbClr>
          </a:solidFill>
          <a:ln w="12700">
            <a:solidFill>
              <a:srgbClr val="00B4D8">
                <a:alpha val="30000"/>
              </a:srgbClr>
            </a:solidFill>
            <a:prstDash val="solid"/>
          </a:ln>
        </p:spPr>
      </p:sp>
      <p:sp>
        <p:nvSpPr>
          <p:cNvPr id="14" name="Text 12"/>
          <p:cNvSpPr/>
          <p:nvPr/>
        </p:nvSpPr>
        <p:spPr>
          <a:xfrm>
            <a:off x="411480" y="4160520"/>
            <a:ext cx="2560320" cy="548640"/>
          </a:xfrm>
          <a:prstGeom prst="rect">
            <a:avLst/>
          </a:prstGeom>
          <a:noFill/>
          <a:ln/>
        </p:spPr>
        <p:txBody>
          <a:bodyPr wrap="square" rtlCol="0" anchor="ctr"/>
          <a:lstStyle/>
          <a:p>
            <a:pPr indent="0" marL="0">
              <a:buNone/>
            </a:pPr>
            <a:r>
              <a:rPr lang="en-US" sz="1000" i="1" dirty="0">
                <a:solidFill>
                  <a:srgbClr val="8BA8BE"/>
                </a:solidFill>
                <a:latin typeface="Calibri" pitchFamily="34" charset="0"/>
                <a:ea typeface="Calibri" pitchFamily="34" charset="-122"/>
                <a:cs typeface="Calibri" pitchFamily="34" charset="-120"/>
              </a:rPr>
              <a:t>Recibe snapshots de Redis · Consolida trayectoria histórica</a:t>
            </a:r>
            <a:endParaRPr lang="en-US" sz="1000" dirty="0"/>
          </a:p>
        </p:txBody>
      </p:sp>
      <p:sp>
        <p:nvSpPr>
          <p:cNvPr id="15" name="Shape 13"/>
          <p:cNvSpPr/>
          <p:nvPr/>
        </p:nvSpPr>
        <p:spPr>
          <a:xfrm>
            <a:off x="3246120" y="1188720"/>
            <a:ext cx="2743200" cy="3703320"/>
          </a:xfrm>
          <a:prstGeom prst="rect">
            <a:avLst/>
          </a:prstGeom>
          <a:solidFill>
            <a:srgbClr val="112236"/>
          </a:solidFill>
          <a:ln w="12700">
            <a:solidFill>
              <a:srgbClr val="00ED64"/>
            </a:solidFill>
            <a:prstDash val="solid"/>
          </a:ln>
          <a:effectLst>
            <a:outerShdw sx="100000" sy="100000" kx="0" ky="0" algn="bl" rotWithShape="0" blurRad="101600" dist="38100" dir="8100000">
              <a:srgbClr val="000000">
                <a:alpha val="25000"/>
              </a:srgbClr>
            </a:outerShdw>
          </a:effectLst>
        </p:spPr>
      </p:sp>
      <p:sp>
        <p:nvSpPr>
          <p:cNvPr id="16" name="Shape 14"/>
          <p:cNvSpPr/>
          <p:nvPr/>
        </p:nvSpPr>
        <p:spPr>
          <a:xfrm>
            <a:off x="3246120" y="1188720"/>
            <a:ext cx="2743200" cy="54864"/>
          </a:xfrm>
          <a:prstGeom prst="rect">
            <a:avLst/>
          </a:prstGeom>
          <a:solidFill>
            <a:srgbClr val="00ED64"/>
          </a:solidFill>
          <a:ln w="12700">
            <a:solidFill>
              <a:srgbClr val="00ED64"/>
            </a:solidFill>
            <a:prstDash val="solid"/>
          </a:ln>
        </p:spPr>
      </p:sp>
      <p:sp>
        <p:nvSpPr>
          <p:cNvPr id="17" name="Text 15"/>
          <p:cNvSpPr/>
          <p:nvPr/>
        </p:nvSpPr>
        <p:spPr>
          <a:xfrm>
            <a:off x="3337560" y="1252728"/>
            <a:ext cx="2560320" cy="658368"/>
          </a:xfrm>
          <a:prstGeom prst="rect">
            <a:avLst/>
          </a:prstGeom>
          <a:noFill/>
          <a:ln/>
        </p:spPr>
        <p:txBody>
          <a:bodyPr wrap="square" rtlCol="0" anchor="ctr"/>
          <a:lstStyle/>
          <a:p>
            <a:pPr algn="ctr" indent="0" marL="0">
              <a:buNone/>
            </a:pPr>
            <a:r>
              <a:rPr lang="en-US" sz="1300" b="1" dirty="0">
                <a:solidFill>
                  <a:srgbClr val="00ED64"/>
                </a:solidFill>
                <a:latin typeface="Calibri" pitchFamily="34" charset="0"/>
                <a:ea typeface="Calibri" pitchFamily="34" charset="-122"/>
                <a:cs typeface="Calibri" pitchFamily="34" charset="-120"/>
              </a:rPr>
              <a:t>AGG. LOGÍSTICA</a:t>
            </a:r>
            <a:endParaRPr lang="en-US" sz="1300" dirty="0"/>
          </a:p>
          <a:p>
            <a:pPr algn="ctr" indent="0" marL="0">
              <a:buNone/>
            </a:pPr>
            <a:r>
              <a:rPr lang="en-US" sz="1300" b="1" dirty="0">
                <a:solidFill>
                  <a:srgbClr val="00ED64"/>
                </a:solidFill>
                <a:latin typeface="Calibri" pitchFamily="34" charset="0"/>
                <a:ea typeface="Calibri" pitchFamily="34" charset="-122"/>
                <a:cs typeface="Calibri" pitchFamily="34" charset="-120"/>
              </a:rPr>
              <a:t>DE CARGA</a:t>
            </a:r>
            <a:endParaRPr lang="en-US" sz="1300" dirty="0"/>
          </a:p>
        </p:txBody>
      </p:sp>
      <p:sp>
        <p:nvSpPr>
          <p:cNvPr id="18" name="Shape 16"/>
          <p:cNvSpPr/>
          <p:nvPr/>
        </p:nvSpPr>
        <p:spPr>
          <a:xfrm>
            <a:off x="3337560" y="1920240"/>
            <a:ext cx="2560320" cy="384048"/>
          </a:xfrm>
          <a:prstGeom prst="rect">
            <a:avLst/>
          </a:prstGeom>
          <a:solidFill>
            <a:srgbClr val="00ED64">
              <a:alpha val="20000"/>
            </a:srgbClr>
          </a:solidFill>
          <a:ln w="12700">
            <a:solidFill>
              <a:srgbClr val="00ED64"/>
            </a:solidFill>
            <a:prstDash val="solid"/>
          </a:ln>
        </p:spPr>
      </p:sp>
      <p:sp>
        <p:nvSpPr>
          <p:cNvPr id="19" name="Text 17"/>
          <p:cNvSpPr/>
          <p:nvPr/>
        </p:nvSpPr>
        <p:spPr>
          <a:xfrm>
            <a:off x="3355848" y="1938528"/>
            <a:ext cx="2523744"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Aggregate Root: Manifiesto_Carga</a:t>
            </a:r>
            <a:endParaRPr lang="en-US" sz="1000" dirty="0"/>
          </a:p>
        </p:txBody>
      </p:sp>
      <p:sp>
        <p:nvSpPr>
          <p:cNvPr id="20" name="Text 18"/>
          <p:cNvSpPr/>
          <p:nvPr/>
        </p:nvSpPr>
        <p:spPr>
          <a:xfrm>
            <a:off x="3355848" y="2423160"/>
            <a:ext cx="2523744" cy="457200"/>
          </a:xfrm>
          <a:prstGeom prst="rect">
            <a:avLst/>
          </a:prstGeom>
          <a:noFill/>
          <a:ln/>
        </p:spPr>
        <p:txBody>
          <a:bodyPr wrap="square" rtlCol="0" anchor="ctr"/>
          <a:lstStyle/>
          <a:p>
            <a:pPr indent="0" marL="0">
              <a:buNone/>
            </a:pPr>
            <a:r>
              <a:rPr lang="en-US" sz="1100" dirty="0">
                <a:solidFill>
                  <a:srgbClr val="E8F4F8"/>
                </a:solidFill>
                <a:latin typeface="Calibri" pitchFamily="34" charset="0"/>
                <a:ea typeface="Calibri" pitchFamily="34" charset="-122"/>
                <a:cs typeface="Calibri" pitchFamily="34" charset="-120"/>
              </a:rPr>
              <a:t>· Contenedores_Logísticos</a:t>
            </a:r>
            <a:endParaRPr lang="en-US" sz="1100" dirty="0"/>
          </a:p>
        </p:txBody>
      </p:sp>
      <p:sp>
        <p:nvSpPr>
          <p:cNvPr id="21" name="Text 19"/>
          <p:cNvSpPr/>
          <p:nvPr/>
        </p:nvSpPr>
        <p:spPr>
          <a:xfrm>
            <a:off x="3355848" y="2926080"/>
            <a:ext cx="2523744" cy="457200"/>
          </a:xfrm>
          <a:prstGeom prst="rect">
            <a:avLst/>
          </a:prstGeom>
          <a:noFill/>
          <a:ln/>
        </p:spPr>
        <p:txBody>
          <a:bodyPr wrap="square" rtlCol="0" anchor="ctr"/>
          <a:lstStyle/>
          <a:p>
            <a:pPr indent="0" marL="0">
              <a:buNone/>
            </a:pPr>
            <a:r>
              <a:rPr lang="en-US" sz="1100" dirty="0">
                <a:solidFill>
                  <a:srgbClr val="E8F4F8"/>
                </a:solidFill>
                <a:latin typeface="Calibri" pitchFamily="34" charset="0"/>
                <a:ea typeface="Calibri" pitchFamily="34" charset="-122"/>
                <a:cs typeface="Calibri" pitchFamily="34" charset="-120"/>
              </a:rPr>
              <a:t>· id_vuelo (referencia)</a:t>
            </a:r>
            <a:endParaRPr lang="en-US" sz="1100" dirty="0"/>
          </a:p>
        </p:txBody>
      </p:sp>
      <p:sp>
        <p:nvSpPr>
          <p:cNvPr id="22" name="Text 20"/>
          <p:cNvSpPr/>
          <p:nvPr/>
        </p:nvSpPr>
        <p:spPr>
          <a:xfrm>
            <a:off x="3355848" y="3429000"/>
            <a:ext cx="2523744" cy="457200"/>
          </a:xfrm>
          <a:prstGeom prst="rect">
            <a:avLst/>
          </a:prstGeom>
          <a:noFill/>
          <a:ln/>
        </p:spPr>
        <p:txBody>
          <a:bodyPr wrap="square" rtlCol="0" anchor="ctr"/>
          <a:lstStyle/>
          <a:p>
            <a:pPr indent="0" marL="0">
              <a:buNone/>
            </a:pPr>
            <a:r>
              <a:rPr lang="en-US" sz="1100" dirty="0">
                <a:solidFill>
                  <a:srgbClr val="E8F4F8"/>
                </a:solidFill>
                <a:latin typeface="Calibri" pitchFamily="34" charset="0"/>
                <a:ea typeface="Calibri" pitchFamily="34" charset="-122"/>
                <a:cs typeface="Calibri" pitchFamily="34" charset="-120"/>
              </a:rPr>
              <a:t>· validar_manifiesto()</a:t>
            </a:r>
            <a:endParaRPr lang="en-US" sz="1100" dirty="0"/>
          </a:p>
        </p:txBody>
      </p:sp>
      <p:sp>
        <p:nvSpPr>
          <p:cNvPr id="23" name="Shape 21"/>
          <p:cNvSpPr/>
          <p:nvPr/>
        </p:nvSpPr>
        <p:spPr>
          <a:xfrm>
            <a:off x="3337560" y="4096512"/>
            <a:ext cx="2560320" cy="36576"/>
          </a:xfrm>
          <a:prstGeom prst="rect">
            <a:avLst/>
          </a:prstGeom>
          <a:solidFill>
            <a:srgbClr val="00ED64">
              <a:alpha val="30000"/>
            </a:srgbClr>
          </a:solidFill>
          <a:ln w="12700">
            <a:solidFill>
              <a:srgbClr val="00ED64">
                <a:alpha val="30000"/>
              </a:srgbClr>
            </a:solidFill>
            <a:prstDash val="solid"/>
          </a:ln>
        </p:spPr>
      </p:sp>
      <p:sp>
        <p:nvSpPr>
          <p:cNvPr id="24" name="Text 22"/>
          <p:cNvSpPr/>
          <p:nvPr/>
        </p:nvSpPr>
        <p:spPr>
          <a:xfrm>
            <a:off x="3337560" y="4160520"/>
            <a:ext cx="2560320" cy="548640"/>
          </a:xfrm>
          <a:prstGeom prst="rect">
            <a:avLst/>
          </a:prstGeom>
          <a:noFill/>
          <a:ln/>
        </p:spPr>
        <p:txBody>
          <a:bodyPr wrap="square" rtlCol="0" anchor="ctr"/>
          <a:lstStyle/>
          <a:p>
            <a:pPr indent="0" marL="0">
              <a:buNone/>
            </a:pPr>
            <a:r>
              <a:rPr lang="en-US" sz="1000" i="1" dirty="0">
                <a:solidFill>
                  <a:srgbClr val="8BA8BE"/>
                </a:solidFill>
                <a:latin typeface="Calibri" pitchFamily="34" charset="0"/>
                <a:ea typeface="Calibri" pitchFamily="34" charset="-122"/>
                <a:cs typeface="Calibri" pitchFamily="34" charset="-120"/>
              </a:rPr>
              <a:t>Valida cambios de peso/tipo contra el manifiesto global</a:t>
            </a:r>
            <a:endParaRPr lang="en-US" sz="1000" dirty="0"/>
          </a:p>
        </p:txBody>
      </p:sp>
      <p:sp>
        <p:nvSpPr>
          <p:cNvPr id="25" name="Shape 23"/>
          <p:cNvSpPr/>
          <p:nvPr/>
        </p:nvSpPr>
        <p:spPr>
          <a:xfrm>
            <a:off x="6172200" y="1188720"/>
            <a:ext cx="2743200" cy="3703320"/>
          </a:xfrm>
          <a:prstGeom prst="rect">
            <a:avLst/>
          </a:prstGeom>
          <a:solidFill>
            <a:srgbClr val="112236"/>
          </a:solidFill>
          <a:ln w="12700">
            <a:solidFill>
              <a:srgbClr val="FFB703"/>
            </a:solidFill>
            <a:prstDash val="solid"/>
          </a:ln>
          <a:effectLst>
            <a:outerShdw sx="100000" sy="100000" kx="0" ky="0" algn="bl" rotWithShape="0" blurRad="101600" dist="38100" dir="8100000">
              <a:srgbClr val="000000">
                <a:alpha val="25000"/>
              </a:srgbClr>
            </a:outerShdw>
          </a:effectLst>
        </p:spPr>
      </p:sp>
      <p:sp>
        <p:nvSpPr>
          <p:cNvPr id="26" name="Shape 24"/>
          <p:cNvSpPr/>
          <p:nvPr/>
        </p:nvSpPr>
        <p:spPr>
          <a:xfrm>
            <a:off x="6172200" y="1188720"/>
            <a:ext cx="2743200" cy="54864"/>
          </a:xfrm>
          <a:prstGeom prst="rect">
            <a:avLst/>
          </a:prstGeom>
          <a:solidFill>
            <a:srgbClr val="FFB703"/>
          </a:solidFill>
          <a:ln w="12700">
            <a:solidFill>
              <a:srgbClr val="FFB703"/>
            </a:solidFill>
            <a:prstDash val="solid"/>
          </a:ln>
        </p:spPr>
      </p:sp>
      <p:sp>
        <p:nvSpPr>
          <p:cNvPr id="27" name="Text 25"/>
          <p:cNvSpPr/>
          <p:nvPr/>
        </p:nvSpPr>
        <p:spPr>
          <a:xfrm>
            <a:off x="6263640" y="1252728"/>
            <a:ext cx="2560320" cy="658368"/>
          </a:xfrm>
          <a:prstGeom prst="rect">
            <a:avLst/>
          </a:prstGeom>
          <a:noFill/>
          <a:ln/>
        </p:spPr>
        <p:txBody>
          <a:bodyPr wrap="square" rtlCol="0" anchor="ctr"/>
          <a:lstStyle/>
          <a:p>
            <a:pPr algn="ctr" indent="0" marL="0">
              <a:buNone/>
            </a:pPr>
            <a:r>
              <a:rPr lang="en-US" sz="1300" b="1" dirty="0">
                <a:solidFill>
                  <a:srgbClr val="FFB703"/>
                </a:solidFill>
                <a:latin typeface="Calibri" pitchFamily="34" charset="0"/>
                <a:ea typeface="Calibri" pitchFamily="34" charset="-122"/>
                <a:cs typeface="Calibri" pitchFamily="34" charset="-120"/>
              </a:rPr>
              <a:t>AGG. INFRA-</a:t>
            </a:r>
            <a:endParaRPr lang="en-US" sz="1300" dirty="0"/>
          </a:p>
          <a:p>
            <a:pPr algn="ctr" indent="0" marL="0">
              <a:buNone/>
            </a:pPr>
            <a:r>
              <a:rPr lang="en-US" sz="1300" b="1" dirty="0">
                <a:solidFill>
                  <a:srgbClr val="FFB703"/>
                </a:solidFill>
                <a:latin typeface="Calibri" pitchFamily="34" charset="0"/>
                <a:ea typeface="Calibri" pitchFamily="34" charset="-122"/>
                <a:cs typeface="Calibri" pitchFamily="34" charset="-120"/>
              </a:rPr>
              <a:t>ESTRUCTURA</a:t>
            </a:r>
            <a:endParaRPr lang="en-US" sz="1300" dirty="0"/>
          </a:p>
        </p:txBody>
      </p:sp>
      <p:sp>
        <p:nvSpPr>
          <p:cNvPr id="28" name="Shape 26"/>
          <p:cNvSpPr/>
          <p:nvPr/>
        </p:nvSpPr>
        <p:spPr>
          <a:xfrm>
            <a:off x="6263640" y="1920240"/>
            <a:ext cx="2560320" cy="384048"/>
          </a:xfrm>
          <a:prstGeom prst="rect">
            <a:avLst/>
          </a:prstGeom>
          <a:solidFill>
            <a:srgbClr val="FFB703">
              <a:alpha val="20000"/>
            </a:srgbClr>
          </a:solidFill>
          <a:ln w="12700">
            <a:solidFill>
              <a:srgbClr val="FFB703"/>
            </a:solidFill>
            <a:prstDash val="solid"/>
          </a:ln>
        </p:spPr>
      </p:sp>
      <p:sp>
        <p:nvSpPr>
          <p:cNvPr id="29" name="Text 27"/>
          <p:cNvSpPr/>
          <p:nvPr/>
        </p:nvSpPr>
        <p:spPr>
          <a:xfrm>
            <a:off x="6281928" y="1938528"/>
            <a:ext cx="2523744"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Aggregate Root: Aeropuerto</a:t>
            </a:r>
            <a:endParaRPr lang="en-US" sz="1000" dirty="0"/>
          </a:p>
        </p:txBody>
      </p:sp>
      <p:sp>
        <p:nvSpPr>
          <p:cNvPr id="30" name="Text 28"/>
          <p:cNvSpPr/>
          <p:nvPr/>
        </p:nvSpPr>
        <p:spPr>
          <a:xfrm>
            <a:off x="6281928" y="2423160"/>
            <a:ext cx="2523744" cy="457200"/>
          </a:xfrm>
          <a:prstGeom prst="rect">
            <a:avLst/>
          </a:prstGeom>
          <a:noFill/>
          <a:ln/>
        </p:spPr>
        <p:txBody>
          <a:bodyPr wrap="square" rtlCol="0" anchor="ctr"/>
          <a:lstStyle/>
          <a:p>
            <a:pPr indent="0" marL="0">
              <a:buNone/>
            </a:pPr>
            <a:r>
              <a:rPr lang="en-US" sz="1100" dirty="0">
                <a:solidFill>
                  <a:srgbClr val="E8F4F8"/>
                </a:solidFill>
                <a:latin typeface="Calibri" pitchFamily="34" charset="0"/>
                <a:ea typeface="Calibri" pitchFamily="34" charset="-122"/>
                <a:cs typeface="Calibri" pitchFamily="34" charset="-120"/>
              </a:rPr>
              <a:t>· código_IATA</a:t>
            </a:r>
            <a:endParaRPr lang="en-US" sz="1100" dirty="0"/>
          </a:p>
        </p:txBody>
      </p:sp>
      <p:sp>
        <p:nvSpPr>
          <p:cNvPr id="31" name="Text 29"/>
          <p:cNvSpPr/>
          <p:nvPr/>
        </p:nvSpPr>
        <p:spPr>
          <a:xfrm>
            <a:off x="6281928" y="2926080"/>
            <a:ext cx="2523744" cy="457200"/>
          </a:xfrm>
          <a:prstGeom prst="rect">
            <a:avLst/>
          </a:prstGeom>
          <a:noFill/>
          <a:ln/>
        </p:spPr>
        <p:txBody>
          <a:bodyPr wrap="square" rtlCol="0" anchor="ctr"/>
          <a:lstStyle/>
          <a:p>
            <a:pPr indent="0" marL="0">
              <a:buNone/>
            </a:pPr>
            <a:r>
              <a:rPr lang="en-US" sz="1100" dirty="0">
                <a:solidFill>
                  <a:srgbClr val="E8F4F8"/>
                </a:solidFill>
                <a:latin typeface="Calibri" pitchFamily="34" charset="0"/>
                <a:ea typeface="Calibri" pitchFamily="34" charset="-122"/>
                <a:cs typeface="Calibri" pitchFamily="34" charset="-120"/>
              </a:rPr>
              <a:t>· ubicacion: Point (GEO)</a:t>
            </a:r>
            <a:endParaRPr lang="en-US" sz="1100" dirty="0"/>
          </a:p>
        </p:txBody>
      </p:sp>
      <p:sp>
        <p:nvSpPr>
          <p:cNvPr id="32" name="Text 30"/>
          <p:cNvSpPr/>
          <p:nvPr/>
        </p:nvSpPr>
        <p:spPr>
          <a:xfrm>
            <a:off x="6281928" y="3429000"/>
            <a:ext cx="2523744" cy="457200"/>
          </a:xfrm>
          <a:prstGeom prst="rect">
            <a:avLst/>
          </a:prstGeom>
          <a:noFill/>
          <a:ln/>
        </p:spPr>
        <p:txBody>
          <a:bodyPr wrap="square" rtlCol="0" anchor="ctr"/>
          <a:lstStyle/>
          <a:p>
            <a:pPr indent="0" marL="0">
              <a:buNone/>
            </a:pPr>
            <a:r>
              <a:rPr lang="en-US" sz="1100" dirty="0">
                <a:solidFill>
                  <a:srgbClr val="E8F4F8"/>
                </a:solidFill>
                <a:latin typeface="Calibri" pitchFamily="34" charset="0"/>
                <a:ea typeface="Calibri" pitchFamily="34" charset="-122"/>
                <a:cs typeface="Calibri" pitchFamily="34" charset="-120"/>
              </a:rPr>
              <a:t>· Alertas_Evento generadas</a:t>
            </a:r>
            <a:endParaRPr lang="en-US" sz="1100" dirty="0"/>
          </a:p>
        </p:txBody>
      </p:sp>
      <p:sp>
        <p:nvSpPr>
          <p:cNvPr id="33" name="Shape 31"/>
          <p:cNvSpPr/>
          <p:nvPr/>
        </p:nvSpPr>
        <p:spPr>
          <a:xfrm>
            <a:off x="6263640" y="4096512"/>
            <a:ext cx="2560320" cy="36576"/>
          </a:xfrm>
          <a:prstGeom prst="rect">
            <a:avLst/>
          </a:prstGeom>
          <a:solidFill>
            <a:srgbClr val="FFB703">
              <a:alpha val="30000"/>
            </a:srgbClr>
          </a:solidFill>
          <a:ln w="12700">
            <a:solidFill>
              <a:srgbClr val="FFB703">
                <a:alpha val="30000"/>
              </a:srgbClr>
            </a:solidFill>
            <a:prstDash val="solid"/>
          </a:ln>
        </p:spPr>
      </p:sp>
      <p:sp>
        <p:nvSpPr>
          <p:cNvPr id="34" name="Text 32"/>
          <p:cNvSpPr/>
          <p:nvPr/>
        </p:nvSpPr>
        <p:spPr>
          <a:xfrm>
            <a:off x="6263640" y="4160520"/>
            <a:ext cx="2560320" cy="548640"/>
          </a:xfrm>
          <a:prstGeom prst="rect">
            <a:avLst/>
          </a:prstGeom>
          <a:noFill/>
          <a:ln/>
        </p:spPr>
        <p:txBody>
          <a:bodyPr wrap="square" rtlCol="0" anchor="ctr"/>
          <a:lstStyle/>
          <a:p>
            <a:pPr indent="0" marL="0">
              <a:buNone/>
            </a:pPr>
            <a:r>
              <a:rPr lang="en-US" sz="1000" i="1" dirty="0">
                <a:solidFill>
                  <a:srgbClr val="8BA8BE"/>
                </a:solidFill>
                <a:latin typeface="Calibri" pitchFamily="34" charset="0"/>
                <a:ea typeface="Calibri" pitchFamily="34" charset="-122"/>
                <a:cs typeface="Calibri" pitchFamily="34" charset="-120"/>
              </a:rPr>
              <a:t>Catálogo de referencia geoespacial para geofencing</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628"/>
        </a:solidFill>
      </p:bgPr>
    </p:bg>
    <p:spTree>
      <p:nvGrpSpPr>
        <p:cNvPr id="1" name=""/>
        <p:cNvGrpSpPr/>
        <p:nvPr/>
      </p:nvGrpSpPr>
      <p:grpSpPr>
        <a:xfrm>
          <a:off x="0" y="0"/>
          <a:ext cx="0" cy="0"/>
          <a:chOff x="0" y="0"/>
          <a:chExt cx="0" cy="0"/>
        </a:xfrm>
      </p:grpSpPr>
      <p:sp>
        <p:nvSpPr>
          <p:cNvPr id="2" name="Text 0"/>
          <p:cNvSpPr/>
          <p:nvPr/>
        </p:nvSpPr>
        <p:spPr>
          <a:xfrm>
            <a:off x="457200" y="182880"/>
            <a:ext cx="8229600" cy="548640"/>
          </a:xfrm>
          <a:prstGeom prst="rect">
            <a:avLst/>
          </a:prstGeom>
          <a:noFill/>
          <a:ln/>
        </p:spPr>
        <p:txBody>
          <a:bodyPr wrap="square"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IMPLEMENTACIÓN Y DEMO</a:t>
            </a:r>
            <a:endParaRPr lang="en-US" sz="3000" dirty="0"/>
          </a:p>
        </p:txBody>
      </p:sp>
      <p:sp>
        <p:nvSpPr>
          <p:cNvPr id="3" name="Shape 1"/>
          <p:cNvSpPr/>
          <p:nvPr/>
        </p:nvSpPr>
        <p:spPr>
          <a:xfrm>
            <a:off x="457200" y="713232"/>
            <a:ext cx="1463040" cy="45720"/>
          </a:xfrm>
          <a:prstGeom prst="rect">
            <a:avLst/>
          </a:prstGeom>
          <a:solidFill>
            <a:srgbClr val="00B4D8"/>
          </a:solidFill>
          <a:ln w="12700">
            <a:solidFill>
              <a:srgbClr val="00B4D8"/>
            </a:solidFill>
            <a:prstDash val="solid"/>
          </a:ln>
        </p:spPr>
      </p:sp>
      <p:sp>
        <p:nvSpPr>
          <p:cNvPr id="4" name="Text 2"/>
          <p:cNvSpPr/>
          <p:nvPr/>
        </p:nvSpPr>
        <p:spPr>
          <a:xfrm>
            <a:off x="457200" y="777240"/>
            <a:ext cx="8229600" cy="320040"/>
          </a:xfrm>
          <a:prstGeom prst="rect">
            <a:avLst/>
          </a:prstGeom>
          <a:noFill/>
          <a:ln/>
        </p:spPr>
        <p:txBody>
          <a:bodyPr wrap="square" rtlCol="0" anchor="ctr"/>
          <a:lstStyle/>
          <a:p>
            <a:pPr indent="0" marL="0">
              <a:buNone/>
            </a:pPr>
            <a:r>
              <a:rPr lang="en-US" sz="1300" dirty="0">
                <a:solidFill>
                  <a:srgbClr val="8BA8BE"/>
                </a:solidFill>
                <a:latin typeface="Calibri" pitchFamily="34" charset="0"/>
                <a:ea typeface="Calibri" pitchFamily="34" charset="-122"/>
                <a:cs typeface="Calibri" pitchFamily="34" charset="-120"/>
              </a:rPr>
              <a:t>Flujo de datos de punta a punta: desde OpenSky hasta el Dashboard reactivo</a:t>
            </a:r>
            <a:endParaRPr lang="en-US" sz="1300" dirty="0"/>
          </a:p>
        </p:txBody>
      </p:sp>
      <p:sp>
        <p:nvSpPr>
          <p:cNvPr id="5" name="Shape 3"/>
          <p:cNvSpPr/>
          <p:nvPr/>
        </p:nvSpPr>
        <p:spPr>
          <a:xfrm>
            <a:off x="320040" y="1188720"/>
            <a:ext cx="1920240" cy="2651760"/>
          </a:xfrm>
          <a:prstGeom prst="rect">
            <a:avLst/>
          </a:prstGeom>
          <a:solidFill>
            <a:srgbClr val="112236"/>
          </a:solidFill>
          <a:ln w="12700">
            <a:solidFill>
              <a:srgbClr val="00B4D8"/>
            </a:solidFill>
            <a:prstDash val="solid"/>
          </a:ln>
          <a:effectLst>
            <a:outerShdw sx="100000" sy="100000" kx="0" ky="0" algn="bl" rotWithShape="0" blurRad="101600" dist="38100" dir="8100000">
              <a:srgbClr val="000000">
                <a:alpha val="25000"/>
              </a:srgbClr>
            </a:outerShdw>
          </a:effectLst>
        </p:spPr>
      </p:sp>
      <p:sp>
        <p:nvSpPr>
          <p:cNvPr id="6" name="Shape 4"/>
          <p:cNvSpPr/>
          <p:nvPr/>
        </p:nvSpPr>
        <p:spPr>
          <a:xfrm>
            <a:off x="320040" y="1188720"/>
            <a:ext cx="1920240" cy="54864"/>
          </a:xfrm>
          <a:prstGeom prst="rect">
            <a:avLst/>
          </a:prstGeom>
          <a:solidFill>
            <a:srgbClr val="00B4D8"/>
          </a:solidFill>
          <a:ln w="12700">
            <a:solidFill>
              <a:srgbClr val="00B4D8"/>
            </a:solidFill>
            <a:prstDash val="solid"/>
          </a:ln>
        </p:spPr>
      </p:sp>
      <p:sp>
        <p:nvSpPr>
          <p:cNvPr id="7" name="Text 5"/>
          <p:cNvSpPr/>
          <p:nvPr/>
        </p:nvSpPr>
        <p:spPr>
          <a:xfrm>
            <a:off x="320040" y="1261872"/>
            <a:ext cx="1920240" cy="502920"/>
          </a:xfrm>
          <a:prstGeom prst="rect">
            <a:avLst/>
          </a:prstGeom>
          <a:noFill/>
          <a:ln/>
        </p:spPr>
        <p:txBody>
          <a:bodyPr wrap="square" rtlCol="0" anchor="ctr"/>
          <a:lstStyle/>
          <a:p>
            <a:pPr algn="ctr" indent="0" marL="0">
              <a:buNone/>
            </a:pPr>
            <a:r>
              <a:rPr lang="en-US" sz="2800" b="1" dirty="0">
                <a:solidFill>
                  <a:srgbClr val="00B4D8"/>
                </a:solidFill>
                <a:latin typeface="Calibri" pitchFamily="34" charset="0"/>
                <a:ea typeface="Calibri" pitchFamily="34" charset="-122"/>
                <a:cs typeface="Calibri" pitchFamily="34" charset="-120"/>
              </a:rPr>
              <a:t>01</a:t>
            </a:r>
            <a:endParaRPr lang="en-US" sz="2800" dirty="0"/>
          </a:p>
        </p:txBody>
      </p:sp>
      <p:sp>
        <p:nvSpPr>
          <p:cNvPr id="8" name="Text 6"/>
          <p:cNvSpPr/>
          <p:nvPr/>
        </p:nvSpPr>
        <p:spPr>
          <a:xfrm>
            <a:off x="320040" y="1764792"/>
            <a:ext cx="1920240" cy="347472"/>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INGESTA</a:t>
            </a:r>
            <a:endParaRPr lang="en-US" sz="1100" dirty="0"/>
          </a:p>
        </p:txBody>
      </p:sp>
      <p:sp>
        <p:nvSpPr>
          <p:cNvPr id="9" name="Shape 7"/>
          <p:cNvSpPr/>
          <p:nvPr/>
        </p:nvSpPr>
        <p:spPr>
          <a:xfrm>
            <a:off x="411480" y="2148840"/>
            <a:ext cx="1737360" cy="36576"/>
          </a:xfrm>
          <a:prstGeom prst="rect">
            <a:avLst/>
          </a:prstGeom>
          <a:solidFill>
            <a:srgbClr val="00B4D8">
              <a:alpha val="30000"/>
            </a:srgbClr>
          </a:solidFill>
          <a:ln w="12700">
            <a:solidFill>
              <a:srgbClr val="00B4D8">
                <a:alpha val="30000"/>
              </a:srgbClr>
            </a:solidFill>
            <a:prstDash val="solid"/>
          </a:ln>
        </p:spPr>
      </p:sp>
      <p:sp>
        <p:nvSpPr>
          <p:cNvPr id="10" name="Text 8"/>
          <p:cNvSpPr/>
          <p:nvPr/>
        </p:nvSpPr>
        <p:spPr>
          <a:xfrm>
            <a:off x="411480" y="2240280"/>
            <a:ext cx="1737360" cy="1463040"/>
          </a:xfrm>
          <a:prstGeom prst="rect">
            <a:avLst/>
          </a:prstGeom>
          <a:noFill/>
          <a:ln/>
        </p:spPr>
        <p:txBody>
          <a:bodyPr wrap="square" rtlCol="0" anchor="ctr"/>
          <a:lstStyle/>
          <a:p>
            <a:pPr algn="ctr" indent="0" marL="0">
              <a:buNone/>
            </a:pPr>
            <a:r>
              <a:rPr lang="en-US" sz="1150" dirty="0">
                <a:solidFill>
                  <a:srgbClr val="E8F4F8"/>
                </a:solidFill>
                <a:latin typeface="Calibri" pitchFamily="34" charset="0"/>
                <a:ea typeface="Calibri" pitchFamily="34" charset="-122"/>
                <a:cs typeface="Calibri" pitchFamily="34" charset="-120"/>
              </a:rPr>
              <a:t>OpenSky API</a:t>
            </a:r>
            <a:endParaRPr lang="en-US" sz="1150" dirty="0"/>
          </a:p>
          <a:p>
            <a:pPr algn="ctr" indent="0" marL="0">
              <a:buNone/>
            </a:pPr>
            <a:r>
              <a:rPr lang="en-US" sz="1150" dirty="0">
                <a:solidFill>
                  <a:srgbClr val="E8F4F8"/>
                </a:solidFill>
                <a:latin typeface="Calibri" pitchFamily="34" charset="0"/>
                <a:ea typeface="Calibri" pitchFamily="34" charset="-122"/>
                <a:cs typeface="Calibri" pitchFamily="34" charset="-120"/>
              </a:rPr>
              <a:t>Sensores IoT</a:t>
            </a:r>
            <a:endParaRPr lang="en-US" sz="1150" dirty="0"/>
          </a:p>
          <a:p>
            <a:pPr algn="ctr" indent="0" marL="0">
              <a:buNone/>
            </a:pPr>
            <a:r>
              <a:rPr lang="en-US" sz="1150" dirty="0">
                <a:solidFill>
                  <a:srgbClr val="E8F4F8"/>
                </a:solidFill>
                <a:latin typeface="Calibri" pitchFamily="34" charset="0"/>
                <a:ea typeface="Calibri" pitchFamily="34" charset="-122"/>
                <a:cs typeface="Calibri" pitchFamily="34" charset="-120"/>
              </a:rPr>
              <a:t>Python consumer</a:t>
            </a:r>
            <a:endParaRPr lang="en-US" sz="1150" dirty="0"/>
          </a:p>
        </p:txBody>
      </p:sp>
      <p:sp>
        <p:nvSpPr>
          <p:cNvPr id="11" name="Shape 9"/>
          <p:cNvSpPr/>
          <p:nvPr/>
        </p:nvSpPr>
        <p:spPr>
          <a:xfrm>
            <a:off x="2258568" y="2459736"/>
            <a:ext cx="164592" cy="64008"/>
          </a:xfrm>
          <a:prstGeom prst="rect">
            <a:avLst/>
          </a:prstGeom>
          <a:solidFill>
            <a:srgbClr val="00B4D8"/>
          </a:solidFill>
          <a:ln w="12700">
            <a:solidFill>
              <a:srgbClr val="00B4D8"/>
            </a:solidFill>
            <a:prstDash val="solid"/>
          </a:ln>
        </p:spPr>
      </p:sp>
      <p:sp>
        <p:nvSpPr>
          <p:cNvPr id="12" name="Shape 10"/>
          <p:cNvSpPr/>
          <p:nvPr/>
        </p:nvSpPr>
        <p:spPr>
          <a:xfrm>
            <a:off x="2468880" y="1188720"/>
            <a:ext cx="1920240" cy="2651760"/>
          </a:xfrm>
          <a:prstGeom prst="rect">
            <a:avLst/>
          </a:prstGeom>
          <a:solidFill>
            <a:srgbClr val="112236"/>
          </a:solidFill>
          <a:ln w="12700">
            <a:solidFill>
              <a:srgbClr val="FF4444"/>
            </a:solidFill>
            <a:prstDash val="solid"/>
          </a:ln>
          <a:effectLst>
            <a:outerShdw sx="100000" sy="100000" kx="0" ky="0" algn="bl" rotWithShape="0" blurRad="101600" dist="38100" dir="8100000">
              <a:srgbClr val="000000">
                <a:alpha val="25000"/>
              </a:srgbClr>
            </a:outerShdw>
          </a:effectLst>
        </p:spPr>
      </p:sp>
      <p:sp>
        <p:nvSpPr>
          <p:cNvPr id="13" name="Shape 11"/>
          <p:cNvSpPr/>
          <p:nvPr/>
        </p:nvSpPr>
        <p:spPr>
          <a:xfrm>
            <a:off x="2468880" y="1188720"/>
            <a:ext cx="1920240" cy="54864"/>
          </a:xfrm>
          <a:prstGeom prst="rect">
            <a:avLst/>
          </a:prstGeom>
          <a:solidFill>
            <a:srgbClr val="FF4444"/>
          </a:solidFill>
          <a:ln w="12700">
            <a:solidFill>
              <a:srgbClr val="FF4444"/>
            </a:solidFill>
            <a:prstDash val="solid"/>
          </a:ln>
        </p:spPr>
      </p:sp>
      <p:sp>
        <p:nvSpPr>
          <p:cNvPr id="14" name="Text 12"/>
          <p:cNvSpPr/>
          <p:nvPr/>
        </p:nvSpPr>
        <p:spPr>
          <a:xfrm>
            <a:off x="2468880" y="1261872"/>
            <a:ext cx="1920240" cy="502920"/>
          </a:xfrm>
          <a:prstGeom prst="rect">
            <a:avLst/>
          </a:prstGeom>
          <a:noFill/>
          <a:ln/>
        </p:spPr>
        <p:txBody>
          <a:bodyPr wrap="square" rtlCol="0" anchor="ctr"/>
          <a:lstStyle/>
          <a:p>
            <a:pPr algn="ctr" indent="0" marL="0">
              <a:buNone/>
            </a:pPr>
            <a:r>
              <a:rPr lang="en-US" sz="2800" b="1" dirty="0">
                <a:solidFill>
                  <a:srgbClr val="FF4444"/>
                </a:solidFill>
                <a:latin typeface="Calibri" pitchFamily="34" charset="0"/>
                <a:ea typeface="Calibri" pitchFamily="34" charset="-122"/>
                <a:cs typeface="Calibri" pitchFamily="34" charset="-120"/>
              </a:rPr>
              <a:t>02</a:t>
            </a:r>
            <a:endParaRPr lang="en-US" sz="2800" dirty="0"/>
          </a:p>
        </p:txBody>
      </p:sp>
      <p:sp>
        <p:nvSpPr>
          <p:cNvPr id="15" name="Text 13"/>
          <p:cNvSpPr/>
          <p:nvPr/>
        </p:nvSpPr>
        <p:spPr>
          <a:xfrm>
            <a:off x="2468880" y="1764792"/>
            <a:ext cx="1920240" cy="347472"/>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PROCESAMIENTO</a:t>
            </a:r>
            <a:endParaRPr lang="en-US" sz="1100" dirty="0"/>
          </a:p>
        </p:txBody>
      </p:sp>
      <p:sp>
        <p:nvSpPr>
          <p:cNvPr id="16" name="Shape 14"/>
          <p:cNvSpPr/>
          <p:nvPr/>
        </p:nvSpPr>
        <p:spPr>
          <a:xfrm>
            <a:off x="2560320" y="2148840"/>
            <a:ext cx="1737360" cy="36576"/>
          </a:xfrm>
          <a:prstGeom prst="rect">
            <a:avLst/>
          </a:prstGeom>
          <a:solidFill>
            <a:srgbClr val="FF4444">
              <a:alpha val="30000"/>
            </a:srgbClr>
          </a:solidFill>
          <a:ln w="12700">
            <a:solidFill>
              <a:srgbClr val="FF4444">
                <a:alpha val="30000"/>
              </a:srgbClr>
            </a:solidFill>
            <a:prstDash val="solid"/>
          </a:ln>
        </p:spPr>
      </p:sp>
      <p:sp>
        <p:nvSpPr>
          <p:cNvPr id="17" name="Text 15"/>
          <p:cNvSpPr/>
          <p:nvPr/>
        </p:nvSpPr>
        <p:spPr>
          <a:xfrm>
            <a:off x="2560320" y="2240280"/>
            <a:ext cx="1737360" cy="1463040"/>
          </a:xfrm>
          <a:prstGeom prst="rect">
            <a:avLst/>
          </a:prstGeom>
          <a:noFill/>
          <a:ln/>
        </p:spPr>
        <p:txBody>
          <a:bodyPr wrap="square" rtlCol="0" anchor="ctr"/>
          <a:lstStyle/>
          <a:p>
            <a:pPr algn="ctr" indent="0" marL="0">
              <a:buNone/>
            </a:pPr>
            <a:r>
              <a:rPr lang="en-US" sz="1150" dirty="0">
                <a:solidFill>
                  <a:srgbClr val="E8F4F8"/>
                </a:solidFill>
                <a:latin typeface="Calibri" pitchFamily="34" charset="0"/>
                <a:ea typeface="Calibri" pitchFamily="34" charset="-122"/>
                <a:cs typeface="Calibri" pitchFamily="34" charset="-120"/>
              </a:rPr>
              <a:t>Redis Cache Live</a:t>
            </a:r>
            <a:endParaRPr lang="en-US" sz="1150" dirty="0"/>
          </a:p>
          <a:p>
            <a:pPr algn="ctr" indent="0" marL="0">
              <a:buNone/>
            </a:pPr>
            <a:r>
              <a:rPr lang="en-US" sz="1150" dirty="0">
                <a:solidFill>
                  <a:srgbClr val="E8F4F8"/>
                </a:solidFill>
                <a:latin typeface="Calibri" pitchFamily="34" charset="0"/>
                <a:ea typeface="Calibri" pitchFamily="34" charset="-122"/>
                <a:cs typeface="Calibri" pitchFamily="34" charset="-120"/>
              </a:rPr>
              <a:t>GPS activo &lt;10ms</a:t>
            </a:r>
            <a:endParaRPr lang="en-US" sz="1150" dirty="0"/>
          </a:p>
          <a:p>
            <a:pPr algn="ctr" indent="0" marL="0">
              <a:buNone/>
            </a:pPr>
            <a:r>
              <a:rPr lang="en-US" sz="1150" dirty="0">
                <a:solidFill>
                  <a:srgbClr val="E8F4F8"/>
                </a:solidFill>
                <a:latin typeface="Calibri" pitchFamily="34" charset="0"/>
                <a:ea typeface="Calibri" pitchFamily="34" charset="-122"/>
                <a:cs typeface="Calibri" pitchFamily="34" charset="-120"/>
              </a:rPr>
              <a:t>Pub/Sub alertas</a:t>
            </a:r>
            <a:endParaRPr lang="en-US" sz="1150" dirty="0"/>
          </a:p>
        </p:txBody>
      </p:sp>
      <p:sp>
        <p:nvSpPr>
          <p:cNvPr id="18" name="Shape 16"/>
          <p:cNvSpPr/>
          <p:nvPr/>
        </p:nvSpPr>
        <p:spPr>
          <a:xfrm>
            <a:off x="4407408" y="2459736"/>
            <a:ext cx="164592" cy="64008"/>
          </a:xfrm>
          <a:prstGeom prst="rect">
            <a:avLst/>
          </a:prstGeom>
          <a:solidFill>
            <a:srgbClr val="00B4D8"/>
          </a:solidFill>
          <a:ln w="12700">
            <a:solidFill>
              <a:srgbClr val="00B4D8"/>
            </a:solidFill>
            <a:prstDash val="solid"/>
          </a:ln>
        </p:spPr>
      </p:sp>
      <p:sp>
        <p:nvSpPr>
          <p:cNvPr id="19" name="Shape 17"/>
          <p:cNvSpPr/>
          <p:nvPr/>
        </p:nvSpPr>
        <p:spPr>
          <a:xfrm>
            <a:off x="4617720" y="1188720"/>
            <a:ext cx="1920240" cy="2651760"/>
          </a:xfrm>
          <a:prstGeom prst="rect">
            <a:avLst/>
          </a:prstGeom>
          <a:solidFill>
            <a:srgbClr val="112236"/>
          </a:solidFill>
          <a:ln w="12700">
            <a:solidFill>
              <a:srgbClr val="00ED64"/>
            </a:solidFill>
            <a:prstDash val="solid"/>
          </a:ln>
          <a:effectLst>
            <a:outerShdw sx="100000" sy="100000" kx="0" ky="0" algn="bl" rotWithShape="0" blurRad="101600" dist="38100" dir="8100000">
              <a:srgbClr val="000000">
                <a:alpha val="25000"/>
              </a:srgbClr>
            </a:outerShdw>
          </a:effectLst>
        </p:spPr>
      </p:sp>
      <p:sp>
        <p:nvSpPr>
          <p:cNvPr id="20" name="Shape 18"/>
          <p:cNvSpPr/>
          <p:nvPr/>
        </p:nvSpPr>
        <p:spPr>
          <a:xfrm>
            <a:off x="4617720" y="1188720"/>
            <a:ext cx="1920240" cy="54864"/>
          </a:xfrm>
          <a:prstGeom prst="rect">
            <a:avLst/>
          </a:prstGeom>
          <a:solidFill>
            <a:srgbClr val="00ED64"/>
          </a:solidFill>
          <a:ln w="12700">
            <a:solidFill>
              <a:srgbClr val="00ED64"/>
            </a:solidFill>
            <a:prstDash val="solid"/>
          </a:ln>
        </p:spPr>
      </p:sp>
      <p:sp>
        <p:nvSpPr>
          <p:cNvPr id="21" name="Text 19"/>
          <p:cNvSpPr/>
          <p:nvPr/>
        </p:nvSpPr>
        <p:spPr>
          <a:xfrm>
            <a:off x="4617720" y="1261872"/>
            <a:ext cx="1920240" cy="502920"/>
          </a:xfrm>
          <a:prstGeom prst="rect">
            <a:avLst/>
          </a:prstGeom>
          <a:noFill/>
          <a:ln/>
        </p:spPr>
        <p:txBody>
          <a:bodyPr wrap="square" rtlCol="0" anchor="ctr"/>
          <a:lstStyle/>
          <a:p>
            <a:pPr algn="ctr" indent="0" marL="0">
              <a:buNone/>
            </a:pPr>
            <a:r>
              <a:rPr lang="en-US" sz="2800" b="1" dirty="0">
                <a:solidFill>
                  <a:srgbClr val="00ED64"/>
                </a:solidFill>
                <a:latin typeface="Calibri" pitchFamily="34" charset="0"/>
                <a:ea typeface="Calibri" pitchFamily="34" charset="-122"/>
                <a:cs typeface="Calibri" pitchFamily="34" charset="-120"/>
              </a:rPr>
              <a:t>03</a:t>
            </a:r>
            <a:endParaRPr lang="en-US" sz="2800" dirty="0"/>
          </a:p>
        </p:txBody>
      </p:sp>
      <p:sp>
        <p:nvSpPr>
          <p:cNvPr id="22" name="Text 20"/>
          <p:cNvSpPr/>
          <p:nvPr/>
        </p:nvSpPr>
        <p:spPr>
          <a:xfrm>
            <a:off x="4617720" y="1764792"/>
            <a:ext cx="1920240" cy="347472"/>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PERSISTENCIA</a:t>
            </a:r>
            <a:endParaRPr lang="en-US" sz="1100" dirty="0"/>
          </a:p>
        </p:txBody>
      </p:sp>
      <p:sp>
        <p:nvSpPr>
          <p:cNvPr id="23" name="Shape 21"/>
          <p:cNvSpPr/>
          <p:nvPr/>
        </p:nvSpPr>
        <p:spPr>
          <a:xfrm>
            <a:off x="4709160" y="2148840"/>
            <a:ext cx="1737360" cy="36576"/>
          </a:xfrm>
          <a:prstGeom prst="rect">
            <a:avLst/>
          </a:prstGeom>
          <a:solidFill>
            <a:srgbClr val="00ED64">
              <a:alpha val="30000"/>
            </a:srgbClr>
          </a:solidFill>
          <a:ln w="12700">
            <a:solidFill>
              <a:srgbClr val="00ED64">
                <a:alpha val="30000"/>
              </a:srgbClr>
            </a:solidFill>
            <a:prstDash val="solid"/>
          </a:ln>
        </p:spPr>
      </p:sp>
      <p:sp>
        <p:nvSpPr>
          <p:cNvPr id="24" name="Text 22"/>
          <p:cNvSpPr/>
          <p:nvPr/>
        </p:nvSpPr>
        <p:spPr>
          <a:xfrm>
            <a:off x="4709160" y="2240280"/>
            <a:ext cx="1737360" cy="1463040"/>
          </a:xfrm>
          <a:prstGeom prst="rect">
            <a:avLst/>
          </a:prstGeom>
          <a:noFill/>
          <a:ln/>
        </p:spPr>
        <p:txBody>
          <a:bodyPr wrap="square" rtlCol="0" anchor="ctr"/>
          <a:lstStyle/>
          <a:p>
            <a:pPr algn="ctr" indent="0" marL="0">
              <a:buNone/>
            </a:pPr>
            <a:r>
              <a:rPr lang="en-US" sz="1150" dirty="0">
                <a:solidFill>
                  <a:srgbClr val="E8F4F8"/>
                </a:solidFill>
                <a:latin typeface="Calibri" pitchFamily="34" charset="0"/>
                <a:ea typeface="Calibri" pitchFamily="34" charset="-122"/>
                <a:cs typeface="Calibri" pitchFamily="34" charset="-120"/>
              </a:rPr>
              <a:t>MongoDB BSON</a:t>
            </a:r>
            <a:endParaRPr lang="en-US" sz="1150" dirty="0"/>
          </a:p>
          <a:p>
            <a:pPr algn="ctr" indent="0" marL="0">
              <a:buNone/>
            </a:pPr>
            <a:r>
              <a:rPr lang="en-US" sz="1150" dirty="0">
                <a:solidFill>
                  <a:srgbClr val="E8F4F8"/>
                </a:solidFill>
                <a:latin typeface="Calibri" pitchFamily="34" charset="0"/>
                <a:ea typeface="Calibri" pitchFamily="34" charset="-122"/>
                <a:cs typeface="Calibri" pitchFamily="34" charset="-120"/>
              </a:rPr>
              <a:t>Snapshot histórico</a:t>
            </a:r>
            <a:endParaRPr lang="en-US" sz="1150" dirty="0"/>
          </a:p>
          <a:p>
            <a:pPr algn="ctr" indent="0" marL="0">
              <a:buNone/>
            </a:pPr>
            <a:r>
              <a:rPr lang="en-US" sz="1150" dirty="0">
                <a:solidFill>
                  <a:srgbClr val="E8F4F8"/>
                </a:solidFill>
                <a:latin typeface="Calibri" pitchFamily="34" charset="0"/>
                <a:ea typeface="Calibri" pitchFamily="34" charset="-122"/>
                <a:cs typeface="Calibri" pitchFamily="34" charset="-120"/>
              </a:rPr>
              <a:t>Índices GEO</a:t>
            </a:r>
            <a:endParaRPr lang="en-US" sz="1150" dirty="0"/>
          </a:p>
        </p:txBody>
      </p:sp>
      <p:sp>
        <p:nvSpPr>
          <p:cNvPr id="25" name="Shape 23"/>
          <p:cNvSpPr/>
          <p:nvPr/>
        </p:nvSpPr>
        <p:spPr>
          <a:xfrm>
            <a:off x="6556248" y="2459736"/>
            <a:ext cx="164592" cy="64008"/>
          </a:xfrm>
          <a:prstGeom prst="rect">
            <a:avLst/>
          </a:prstGeom>
          <a:solidFill>
            <a:srgbClr val="00B4D8"/>
          </a:solidFill>
          <a:ln w="12700">
            <a:solidFill>
              <a:srgbClr val="00B4D8"/>
            </a:solidFill>
            <a:prstDash val="solid"/>
          </a:ln>
        </p:spPr>
      </p:sp>
      <p:sp>
        <p:nvSpPr>
          <p:cNvPr id="26" name="Shape 24"/>
          <p:cNvSpPr/>
          <p:nvPr/>
        </p:nvSpPr>
        <p:spPr>
          <a:xfrm>
            <a:off x="6766560" y="1188720"/>
            <a:ext cx="1920240" cy="2651760"/>
          </a:xfrm>
          <a:prstGeom prst="rect">
            <a:avLst/>
          </a:prstGeom>
          <a:solidFill>
            <a:srgbClr val="112236"/>
          </a:solidFill>
          <a:ln w="12700">
            <a:solidFill>
              <a:srgbClr val="FFB703"/>
            </a:solidFill>
            <a:prstDash val="solid"/>
          </a:ln>
          <a:effectLst>
            <a:outerShdw sx="100000" sy="100000" kx="0" ky="0" algn="bl" rotWithShape="0" blurRad="101600" dist="38100" dir="8100000">
              <a:srgbClr val="000000">
                <a:alpha val="25000"/>
              </a:srgbClr>
            </a:outerShdw>
          </a:effectLst>
        </p:spPr>
      </p:sp>
      <p:sp>
        <p:nvSpPr>
          <p:cNvPr id="27" name="Shape 25"/>
          <p:cNvSpPr/>
          <p:nvPr/>
        </p:nvSpPr>
        <p:spPr>
          <a:xfrm>
            <a:off x="6766560" y="1188720"/>
            <a:ext cx="1920240" cy="54864"/>
          </a:xfrm>
          <a:prstGeom prst="rect">
            <a:avLst/>
          </a:prstGeom>
          <a:solidFill>
            <a:srgbClr val="FFB703"/>
          </a:solidFill>
          <a:ln w="12700">
            <a:solidFill>
              <a:srgbClr val="FFB703"/>
            </a:solidFill>
            <a:prstDash val="solid"/>
          </a:ln>
        </p:spPr>
      </p:sp>
      <p:sp>
        <p:nvSpPr>
          <p:cNvPr id="28" name="Text 26"/>
          <p:cNvSpPr/>
          <p:nvPr/>
        </p:nvSpPr>
        <p:spPr>
          <a:xfrm>
            <a:off x="6766560" y="1261872"/>
            <a:ext cx="1920240" cy="502920"/>
          </a:xfrm>
          <a:prstGeom prst="rect">
            <a:avLst/>
          </a:prstGeom>
          <a:noFill/>
          <a:ln/>
        </p:spPr>
        <p:txBody>
          <a:bodyPr wrap="square" rtlCol="0" anchor="ctr"/>
          <a:lstStyle/>
          <a:p>
            <a:pPr algn="ctr" indent="0" marL="0">
              <a:buNone/>
            </a:pPr>
            <a:r>
              <a:rPr lang="en-US" sz="2800" b="1" dirty="0">
                <a:solidFill>
                  <a:srgbClr val="FFB703"/>
                </a:solidFill>
                <a:latin typeface="Calibri" pitchFamily="34" charset="0"/>
                <a:ea typeface="Calibri" pitchFamily="34" charset="-122"/>
                <a:cs typeface="Calibri" pitchFamily="34" charset="-120"/>
              </a:rPr>
              <a:t>04</a:t>
            </a:r>
            <a:endParaRPr lang="en-US" sz="2800" dirty="0"/>
          </a:p>
        </p:txBody>
      </p:sp>
      <p:sp>
        <p:nvSpPr>
          <p:cNvPr id="29" name="Text 27"/>
          <p:cNvSpPr/>
          <p:nvPr/>
        </p:nvSpPr>
        <p:spPr>
          <a:xfrm>
            <a:off x="6766560" y="1764792"/>
            <a:ext cx="1920240" cy="347472"/>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DISTRIBUCIÓN</a:t>
            </a:r>
            <a:endParaRPr lang="en-US" sz="1100" dirty="0"/>
          </a:p>
        </p:txBody>
      </p:sp>
      <p:sp>
        <p:nvSpPr>
          <p:cNvPr id="30" name="Shape 28"/>
          <p:cNvSpPr/>
          <p:nvPr/>
        </p:nvSpPr>
        <p:spPr>
          <a:xfrm>
            <a:off x="6858000" y="2148840"/>
            <a:ext cx="1737360" cy="36576"/>
          </a:xfrm>
          <a:prstGeom prst="rect">
            <a:avLst/>
          </a:prstGeom>
          <a:solidFill>
            <a:srgbClr val="FFB703">
              <a:alpha val="30000"/>
            </a:srgbClr>
          </a:solidFill>
          <a:ln w="12700">
            <a:solidFill>
              <a:srgbClr val="FFB703">
                <a:alpha val="30000"/>
              </a:srgbClr>
            </a:solidFill>
            <a:prstDash val="solid"/>
          </a:ln>
        </p:spPr>
      </p:sp>
      <p:sp>
        <p:nvSpPr>
          <p:cNvPr id="31" name="Text 29"/>
          <p:cNvSpPr/>
          <p:nvPr/>
        </p:nvSpPr>
        <p:spPr>
          <a:xfrm>
            <a:off x="6858000" y="2240280"/>
            <a:ext cx="1737360" cy="1463040"/>
          </a:xfrm>
          <a:prstGeom prst="rect">
            <a:avLst/>
          </a:prstGeom>
          <a:noFill/>
          <a:ln/>
        </p:spPr>
        <p:txBody>
          <a:bodyPr wrap="square" rtlCol="0" anchor="ctr"/>
          <a:lstStyle/>
          <a:p>
            <a:pPr algn="ctr" indent="0" marL="0">
              <a:buNone/>
            </a:pPr>
            <a:r>
              <a:rPr lang="en-US" sz="1150" dirty="0">
                <a:solidFill>
                  <a:srgbClr val="E8F4F8"/>
                </a:solidFill>
                <a:latin typeface="Calibri" pitchFamily="34" charset="0"/>
                <a:ea typeface="Calibri" pitchFamily="34" charset="-122"/>
                <a:cs typeface="Calibri" pitchFamily="34" charset="-120"/>
              </a:rPr>
              <a:t>WebSocket UI</a:t>
            </a:r>
            <a:endParaRPr lang="en-US" sz="1150" dirty="0"/>
          </a:p>
          <a:p>
            <a:pPr algn="ctr" indent="0" marL="0">
              <a:buNone/>
            </a:pPr>
            <a:r>
              <a:rPr lang="en-US" sz="1150" dirty="0">
                <a:solidFill>
                  <a:srgbClr val="E8F4F8"/>
                </a:solidFill>
                <a:latin typeface="Calibri" pitchFamily="34" charset="0"/>
                <a:ea typeface="Calibri" pitchFamily="34" charset="-122"/>
                <a:cs typeface="Calibri" pitchFamily="34" charset="-120"/>
              </a:rPr>
              <a:t>Push notification</a:t>
            </a:r>
            <a:endParaRPr lang="en-US" sz="1150" dirty="0"/>
          </a:p>
          <a:p>
            <a:pPr algn="ctr" indent="0" marL="0">
              <a:buNone/>
            </a:pPr>
            <a:r>
              <a:rPr lang="en-US" sz="1150" dirty="0">
                <a:solidFill>
                  <a:srgbClr val="E8F4F8"/>
                </a:solidFill>
                <a:latin typeface="Calibri" pitchFamily="34" charset="0"/>
                <a:ea typeface="Calibri" pitchFamily="34" charset="-122"/>
                <a:cs typeface="Calibri" pitchFamily="34" charset="-120"/>
              </a:rPr>
              <a:t>ETA predictivo</a:t>
            </a:r>
            <a:endParaRPr lang="en-US" sz="1150" dirty="0"/>
          </a:p>
        </p:txBody>
      </p:sp>
      <p:sp>
        <p:nvSpPr>
          <p:cNvPr id="32" name="Text 30"/>
          <p:cNvSpPr/>
          <p:nvPr/>
        </p:nvSpPr>
        <p:spPr>
          <a:xfrm>
            <a:off x="365760" y="3977640"/>
            <a:ext cx="8412480" cy="347472"/>
          </a:xfrm>
          <a:prstGeom prst="rect">
            <a:avLst/>
          </a:prstGeom>
          <a:noFill/>
          <a:ln/>
        </p:spPr>
        <p:txBody>
          <a:bodyPr wrap="square" rtlCol="0" anchor="ctr"/>
          <a:lstStyle/>
          <a:p>
            <a:pPr indent="0" marL="0">
              <a:buNone/>
            </a:pPr>
            <a:r>
              <a:rPr lang="en-US" sz="1300" b="1" dirty="0">
                <a:solidFill>
                  <a:srgbClr val="00B4D8"/>
                </a:solidFill>
                <a:latin typeface="Calibri" pitchFamily="34" charset="0"/>
                <a:ea typeface="Calibri" pitchFamily="34" charset="-122"/>
                <a:cs typeface="Calibri" pitchFamily="34" charset="-120"/>
              </a:rPr>
              <a:t>SERVICIOS DE DOMINIO IMPLEMENTADOS</a:t>
            </a:r>
            <a:endParaRPr lang="en-US" sz="1300" dirty="0"/>
          </a:p>
        </p:txBody>
      </p:sp>
      <p:sp>
        <p:nvSpPr>
          <p:cNvPr id="33" name="Shape 31"/>
          <p:cNvSpPr/>
          <p:nvPr/>
        </p:nvSpPr>
        <p:spPr>
          <a:xfrm>
            <a:off x="365760" y="4370832"/>
            <a:ext cx="2743200" cy="640080"/>
          </a:xfrm>
          <a:prstGeom prst="rect">
            <a:avLst/>
          </a:prstGeom>
          <a:solidFill>
            <a:srgbClr val="112236"/>
          </a:solidFill>
          <a:ln w="12700">
            <a:solidFill>
              <a:srgbClr val="00B4D8"/>
            </a:solidFill>
            <a:prstDash val="solid"/>
          </a:ln>
        </p:spPr>
      </p:sp>
      <p:sp>
        <p:nvSpPr>
          <p:cNvPr id="34" name="Text 32"/>
          <p:cNvSpPr/>
          <p:nvPr/>
        </p:nvSpPr>
        <p:spPr>
          <a:xfrm>
            <a:off x="457200" y="4407408"/>
            <a:ext cx="2560320" cy="274320"/>
          </a:xfrm>
          <a:prstGeom prst="rect">
            <a:avLst/>
          </a:prstGeom>
          <a:noFill/>
          <a:ln/>
        </p:spPr>
        <p:txBody>
          <a:bodyPr wrap="square" rtlCol="0" anchor="ctr"/>
          <a:lstStyle/>
          <a:p>
            <a:pPr indent="0" marL="0">
              <a:buNone/>
            </a:pPr>
            <a:r>
              <a:rPr lang="en-US" sz="900" b="1" dirty="0">
                <a:solidFill>
                  <a:srgbClr val="00B4D8"/>
                </a:solidFill>
                <a:latin typeface="Consolas" pitchFamily="34" charset="0"/>
                <a:ea typeface="Consolas" pitchFamily="34" charset="-122"/>
                <a:cs typeface="Consolas" pitchFamily="34" charset="-120"/>
              </a:rPr>
              <a:t>SyncRedisToMongoService</a:t>
            </a:r>
            <a:endParaRPr lang="en-US" sz="900" dirty="0"/>
          </a:p>
        </p:txBody>
      </p:sp>
      <p:sp>
        <p:nvSpPr>
          <p:cNvPr id="35" name="Text 33"/>
          <p:cNvSpPr/>
          <p:nvPr/>
        </p:nvSpPr>
        <p:spPr>
          <a:xfrm>
            <a:off x="457200" y="4645152"/>
            <a:ext cx="2560320" cy="320040"/>
          </a:xfrm>
          <a:prstGeom prst="rect">
            <a:avLst/>
          </a:prstGeom>
          <a:noFill/>
          <a:ln/>
        </p:spPr>
        <p:txBody>
          <a:bodyPr wrap="square" rtlCol="0" anchor="ctr"/>
          <a:lstStyle/>
          <a:p>
            <a:pPr indent="0" marL="0">
              <a:buNone/>
            </a:pPr>
            <a:r>
              <a:rPr lang="en-US" sz="1000" dirty="0">
                <a:solidFill>
                  <a:srgbClr val="8BA8BE"/>
                </a:solidFill>
                <a:latin typeface="Calibri" pitchFamily="34" charset="0"/>
                <a:ea typeface="Calibri" pitchFamily="34" charset="-122"/>
                <a:cs typeface="Calibri" pitchFamily="34" charset="-120"/>
              </a:rPr>
              <a:t>Orquesta snapshot Redis → MongoDB sin pérdida de datos</a:t>
            </a:r>
            <a:endParaRPr lang="en-US" sz="1000" dirty="0"/>
          </a:p>
        </p:txBody>
      </p:sp>
      <p:sp>
        <p:nvSpPr>
          <p:cNvPr id="36" name="Shape 34"/>
          <p:cNvSpPr/>
          <p:nvPr/>
        </p:nvSpPr>
        <p:spPr>
          <a:xfrm>
            <a:off x="3291840" y="4370832"/>
            <a:ext cx="2743200" cy="640080"/>
          </a:xfrm>
          <a:prstGeom prst="rect">
            <a:avLst/>
          </a:prstGeom>
          <a:solidFill>
            <a:srgbClr val="112236"/>
          </a:solidFill>
          <a:ln w="12700">
            <a:solidFill>
              <a:srgbClr val="FF4444"/>
            </a:solidFill>
            <a:prstDash val="solid"/>
          </a:ln>
        </p:spPr>
      </p:sp>
      <p:sp>
        <p:nvSpPr>
          <p:cNvPr id="37" name="Text 35"/>
          <p:cNvSpPr/>
          <p:nvPr/>
        </p:nvSpPr>
        <p:spPr>
          <a:xfrm>
            <a:off x="3383280" y="4407408"/>
            <a:ext cx="2560320" cy="274320"/>
          </a:xfrm>
          <a:prstGeom prst="rect">
            <a:avLst/>
          </a:prstGeom>
          <a:noFill/>
          <a:ln/>
        </p:spPr>
        <p:txBody>
          <a:bodyPr wrap="square" rtlCol="0" anchor="ctr"/>
          <a:lstStyle/>
          <a:p>
            <a:pPr indent="0" marL="0">
              <a:buNone/>
            </a:pPr>
            <a:r>
              <a:rPr lang="en-US" sz="900" b="1" dirty="0">
                <a:solidFill>
                  <a:srgbClr val="FF4444"/>
                </a:solidFill>
                <a:latin typeface="Consolas" pitchFamily="34" charset="0"/>
                <a:ea typeface="Consolas" pitchFamily="34" charset="-122"/>
                <a:cs typeface="Consolas" pitchFamily="34" charset="-120"/>
              </a:rPr>
              <a:t>GeofencingAlertService</a:t>
            </a:r>
            <a:endParaRPr lang="en-US" sz="900" dirty="0"/>
          </a:p>
        </p:txBody>
      </p:sp>
      <p:sp>
        <p:nvSpPr>
          <p:cNvPr id="38" name="Text 36"/>
          <p:cNvSpPr/>
          <p:nvPr/>
        </p:nvSpPr>
        <p:spPr>
          <a:xfrm>
            <a:off x="3383280" y="4645152"/>
            <a:ext cx="2560320" cy="320040"/>
          </a:xfrm>
          <a:prstGeom prst="rect">
            <a:avLst/>
          </a:prstGeom>
          <a:noFill/>
          <a:ln/>
        </p:spPr>
        <p:txBody>
          <a:bodyPr wrap="square" rtlCol="0" anchor="ctr"/>
          <a:lstStyle/>
          <a:p>
            <a:pPr indent="0" marL="0">
              <a:buNone/>
            </a:pPr>
            <a:r>
              <a:rPr lang="en-US" sz="1000" dirty="0">
                <a:solidFill>
                  <a:srgbClr val="8BA8BE"/>
                </a:solidFill>
                <a:latin typeface="Calibri" pitchFamily="34" charset="0"/>
                <a:ea typeface="Calibri" pitchFamily="34" charset="-122"/>
                <a:cs typeface="Calibri" pitchFamily="34" charset="-120"/>
              </a:rPr>
              <a:t>Detección de desvío + alerta Pub/Sub en tiempo real</a:t>
            </a:r>
            <a:endParaRPr lang="en-US" sz="1000" dirty="0"/>
          </a:p>
        </p:txBody>
      </p:sp>
      <p:sp>
        <p:nvSpPr>
          <p:cNvPr id="39" name="Shape 37"/>
          <p:cNvSpPr/>
          <p:nvPr/>
        </p:nvSpPr>
        <p:spPr>
          <a:xfrm>
            <a:off x="6217920" y="4370832"/>
            <a:ext cx="2743200" cy="640080"/>
          </a:xfrm>
          <a:prstGeom prst="rect">
            <a:avLst/>
          </a:prstGeom>
          <a:solidFill>
            <a:srgbClr val="112236"/>
          </a:solidFill>
          <a:ln w="12700">
            <a:solidFill>
              <a:srgbClr val="00ED64"/>
            </a:solidFill>
            <a:prstDash val="solid"/>
          </a:ln>
        </p:spPr>
      </p:sp>
      <p:sp>
        <p:nvSpPr>
          <p:cNvPr id="40" name="Text 38"/>
          <p:cNvSpPr/>
          <p:nvPr/>
        </p:nvSpPr>
        <p:spPr>
          <a:xfrm>
            <a:off x="6309360" y="4407408"/>
            <a:ext cx="2560320" cy="274320"/>
          </a:xfrm>
          <a:prstGeom prst="rect">
            <a:avLst/>
          </a:prstGeom>
          <a:noFill/>
          <a:ln/>
        </p:spPr>
        <p:txBody>
          <a:bodyPr wrap="square" rtlCol="0" anchor="ctr"/>
          <a:lstStyle/>
          <a:p>
            <a:pPr indent="0" marL="0">
              <a:buNone/>
            </a:pPr>
            <a:r>
              <a:rPr lang="en-US" sz="900" b="1" dirty="0">
                <a:solidFill>
                  <a:srgbClr val="00ED64"/>
                </a:solidFill>
                <a:latin typeface="Consolas" pitchFamily="34" charset="0"/>
                <a:ea typeface="Consolas" pitchFamily="34" charset="-122"/>
                <a:cs typeface="Consolas" pitchFamily="34" charset="-120"/>
              </a:rPr>
              <a:t>ETAOptimizationService</a:t>
            </a:r>
            <a:endParaRPr lang="en-US" sz="900" dirty="0"/>
          </a:p>
        </p:txBody>
      </p:sp>
      <p:sp>
        <p:nvSpPr>
          <p:cNvPr id="41" name="Text 39"/>
          <p:cNvSpPr/>
          <p:nvPr/>
        </p:nvSpPr>
        <p:spPr>
          <a:xfrm>
            <a:off x="6309360" y="4645152"/>
            <a:ext cx="2560320" cy="320040"/>
          </a:xfrm>
          <a:prstGeom prst="rect">
            <a:avLst/>
          </a:prstGeom>
          <a:noFill/>
          <a:ln/>
        </p:spPr>
        <p:txBody>
          <a:bodyPr wrap="square" rtlCol="0" anchor="ctr"/>
          <a:lstStyle/>
          <a:p>
            <a:pPr indent="0" marL="0">
              <a:buNone/>
            </a:pPr>
            <a:r>
              <a:rPr lang="en-US" sz="1000" dirty="0">
                <a:solidFill>
                  <a:srgbClr val="8BA8BE"/>
                </a:solidFill>
                <a:latin typeface="Calibri" pitchFamily="34" charset="0"/>
                <a:ea typeface="Calibri" pitchFamily="34" charset="-122"/>
                <a:cs typeface="Calibri" pitchFamily="34" charset="-120"/>
              </a:rPr>
              <a:t>IA logística: consulta históricos MongoDB → predice ETA</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9144000" cy="91440"/>
          </a:xfrm>
          <a:prstGeom prst="rect">
            <a:avLst/>
          </a:prstGeom>
          <a:solidFill>
            <a:srgbClr val="00B4D8"/>
          </a:solidFill>
          <a:ln w="12700">
            <a:solidFill>
              <a:srgbClr val="00B4D8"/>
            </a:solidFill>
            <a:prstDash val="solid"/>
          </a:ln>
        </p:spPr>
      </p:sp>
      <p:sp>
        <p:nvSpPr>
          <p:cNvPr id="3" name="Text 1"/>
          <p:cNvSpPr/>
          <p:nvPr/>
        </p:nvSpPr>
        <p:spPr>
          <a:xfrm>
            <a:off x="457200" y="201168"/>
            <a:ext cx="8229600" cy="548640"/>
          </a:xfrm>
          <a:prstGeom prst="rect">
            <a:avLst/>
          </a:prstGeom>
          <a:noFill/>
          <a:ln/>
        </p:spPr>
        <p:txBody>
          <a:bodyPr wrap="square"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CONCLUSIÓN Y ESCALABILIDAD</a:t>
            </a:r>
            <a:endParaRPr lang="en-US" sz="3000" dirty="0"/>
          </a:p>
        </p:txBody>
      </p:sp>
      <p:sp>
        <p:nvSpPr>
          <p:cNvPr id="4" name="Text 2"/>
          <p:cNvSpPr/>
          <p:nvPr/>
        </p:nvSpPr>
        <p:spPr>
          <a:xfrm>
            <a:off x="457200" y="749808"/>
            <a:ext cx="8229600" cy="320040"/>
          </a:xfrm>
          <a:prstGeom prst="rect">
            <a:avLst/>
          </a:prstGeom>
          <a:noFill/>
          <a:ln/>
        </p:spPr>
        <p:txBody>
          <a:bodyPr wrap="square" rtlCol="0" anchor="ctr"/>
          <a:lstStyle/>
          <a:p>
            <a:pPr indent="0" marL="0">
              <a:buNone/>
            </a:pPr>
            <a:r>
              <a:rPr lang="en-US" sz="1300" dirty="0">
                <a:solidFill>
                  <a:srgbClr val="8BA8BE"/>
                </a:solidFill>
                <a:latin typeface="Calibri" pitchFamily="34" charset="0"/>
                <a:ea typeface="Calibri" pitchFamily="34" charset="-122"/>
                <a:cs typeface="Calibri" pitchFamily="34" charset="-120"/>
              </a:rPr>
              <a:t>Impacto técnico del proyecto y visión de crecimiento</a:t>
            </a:r>
            <a:endParaRPr lang="en-US" sz="1300" dirty="0"/>
          </a:p>
        </p:txBody>
      </p:sp>
      <p:sp>
        <p:nvSpPr>
          <p:cNvPr id="5" name="Shape 3"/>
          <p:cNvSpPr/>
          <p:nvPr/>
        </p:nvSpPr>
        <p:spPr>
          <a:xfrm>
            <a:off x="320040" y="1143000"/>
            <a:ext cx="4114800" cy="3657600"/>
          </a:xfrm>
          <a:prstGeom prst="rect">
            <a:avLst/>
          </a:prstGeom>
          <a:solidFill>
            <a:srgbClr val="112236"/>
          </a:solidFill>
          <a:ln w="12700">
            <a:solidFill>
              <a:srgbClr val="00B4D8"/>
            </a:solidFill>
            <a:prstDash val="solid"/>
          </a:ln>
          <a:effectLst>
            <a:outerShdw sx="100000" sy="100000" kx="0" ky="0" algn="bl" rotWithShape="0" blurRad="101600" dist="38100" dir="8100000">
              <a:srgbClr val="000000">
                <a:alpha val="25000"/>
              </a:srgbClr>
            </a:outerShdw>
          </a:effectLst>
        </p:spPr>
      </p:sp>
      <p:sp>
        <p:nvSpPr>
          <p:cNvPr id="6" name="Text 4"/>
          <p:cNvSpPr/>
          <p:nvPr/>
        </p:nvSpPr>
        <p:spPr>
          <a:xfrm>
            <a:off x="457200" y="1234440"/>
            <a:ext cx="3840480" cy="347472"/>
          </a:xfrm>
          <a:prstGeom prst="rect">
            <a:avLst/>
          </a:prstGeom>
          <a:noFill/>
          <a:ln/>
        </p:spPr>
        <p:txBody>
          <a:bodyPr wrap="square" rtlCol="0" anchor="ctr"/>
          <a:lstStyle/>
          <a:p>
            <a:pPr indent="0" marL="0">
              <a:buNone/>
            </a:pPr>
            <a:r>
              <a:rPr lang="en-US" sz="1400" b="1" dirty="0">
                <a:solidFill>
                  <a:srgbClr val="00B4D8"/>
                </a:solidFill>
                <a:latin typeface="Calibri" pitchFamily="34" charset="0"/>
                <a:ea typeface="Calibri" pitchFamily="34" charset="-122"/>
                <a:cs typeface="Calibri" pitchFamily="34" charset="-120"/>
              </a:rPr>
              <a:t>LOGROS DEL PROYECTO</a:t>
            </a:r>
            <a:endParaRPr lang="en-US" sz="1400" dirty="0"/>
          </a:p>
        </p:txBody>
      </p:sp>
      <p:sp>
        <p:nvSpPr>
          <p:cNvPr id="7" name="Shape 5"/>
          <p:cNvSpPr/>
          <p:nvPr/>
        </p:nvSpPr>
        <p:spPr>
          <a:xfrm>
            <a:off x="457200" y="1719072"/>
            <a:ext cx="3840480" cy="667512"/>
          </a:xfrm>
          <a:prstGeom prst="rect">
            <a:avLst/>
          </a:prstGeom>
          <a:solidFill>
            <a:srgbClr val="0A1628"/>
          </a:solidFill>
          <a:ln w="12700">
            <a:solidFill>
              <a:srgbClr val="1A3A5C"/>
            </a:solidFill>
            <a:prstDash val="solid"/>
          </a:ln>
        </p:spPr>
      </p:sp>
      <p:sp>
        <p:nvSpPr>
          <p:cNvPr id="8" name="Text 6"/>
          <p:cNvSpPr/>
          <p:nvPr/>
        </p:nvSpPr>
        <p:spPr>
          <a:xfrm>
            <a:off x="548640" y="1755648"/>
            <a:ext cx="1005840" cy="594360"/>
          </a:xfrm>
          <a:prstGeom prst="rect">
            <a:avLst/>
          </a:prstGeom>
          <a:noFill/>
          <a:ln/>
        </p:spPr>
        <p:txBody>
          <a:bodyPr wrap="square" rtlCol="0" anchor="ctr"/>
          <a:lstStyle/>
          <a:p>
            <a:pPr algn="ctr" indent="0" marL="0">
              <a:buNone/>
            </a:pPr>
            <a:r>
              <a:rPr lang="en-US" sz="2000" b="1" dirty="0">
                <a:solidFill>
                  <a:srgbClr val="00B4D8"/>
                </a:solidFill>
                <a:latin typeface="Calibri" pitchFamily="34" charset="0"/>
                <a:ea typeface="Calibri" pitchFamily="34" charset="-122"/>
                <a:cs typeface="Calibri" pitchFamily="34" charset="-120"/>
              </a:rPr>
              <a:t>&lt;10ms</a:t>
            </a:r>
            <a:endParaRPr lang="en-US" sz="2000" dirty="0"/>
          </a:p>
        </p:txBody>
      </p:sp>
      <p:sp>
        <p:nvSpPr>
          <p:cNvPr id="9" name="Shape 7"/>
          <p:cNvSpPr/>
          <p:nvPr/>
        </p:nvSpPr>
        <p:spPr>
          <a:xfrm>
            <a:off x="1600200" y="1856232"/>
            <a:ext cx="36576" cy="365760"/>
          </a:xfrm>
          <a:prstGeom prst="rect">
            <a:avLst/>
          </a:prstGeom>
          <a:solidFill>
            <a:srgbClr val="00B4D8">
              <a:alpha val="50000"/>
            </a:srgbClr>
          </a:solidFill>
          <a:ln w="12700">
            <a:solidFill>
              <a:srgbClr val="00B4D8">
                <a:alpha val="50000"/>
              </a:srgbClr>
            </a:solidFill>
            <a:prstDash val="solid"/>
          </a:ln>
        </p:spPr>
      </p:sp>
      <p:sp>
        <p:nvSpPr>
          <p:cNvPr id="10" name="Text 8"/>
          <p:cNvSpPr/>
          <p:nvPr/>
        </p:nvSpPr>
        <p:spPr>
          <a:xfrm>
            <a:off x="1691640" y="1792224"/>
            <a:ext cx="2468880" cy="530352"/>
          </a:xfrm>
          <a:prstGeom prst="rect">
            <a:avLst/>
          </a:prstGeom>
          <a:noFill/>
          <a:ln/>
        </p:spPr>
        <p:txBody>
          <a:bodyPr wrap="square" rtlCol="0" anchor="ctr"/>
          <a:lstStyle/>
          <a:p>
            <a:pPr indent="0" marL="0">
              <a:buNone/>
            </a:pPr>
            <a:r>
              <a:rPr lang="en-US" sz="1200" dirty="0">
                <a:solidFill>
                  <a:srgbClr val="E8F4F8"/>
                </a:solidFill>
                <a:latin typeface="Calibri" pitchFamily="34" charset="0"/>
                <a:ea typeface="Calibri" pitchFamily="34" charset="-122"/>
                <a:cs typeface="Calibri" pitchFamily="34" charset="-120"/>
              </a:rPr>
              <a:t>Latencia de rastreo activo con Redis</a:t>
            </a:r>
            <a:endParaRPr lang="en-US" sz="1200" dirty="0"/>
          </a:p>
        </p:txBody>
      </p:sp>
      <p:sp>
        <p:nvSpPr>
          <p:cNvPr id="11" name="Shape 9"/>
          <p:cNvSpPr/>
          <p:nvPr/>
        </p:nvSpPr>
        <p:spPr>
          <a:xfrm>
            <a:off x="457200" y="2478024"/>
            <a:ext cx="3840480" cy="667512"/>
          </a:xfrm>
          <a:prstGeom prst="rect">
            <a:avLst/>
          </a:prstGeom>
          <a:solidFill>
            <a:srgbClr val="0A1628"/>
          </a:solidFill>
          <a:ln w="12700">
            <a:solidFill>
              <a:srgbClr val="1A3A5C"/>
            </a:solidFill>
            <a:prstDash val="solid"/>
          </a:ln>
        </p:spPr>
      </p:sp>
      <p:sp>
        <p:nvSpPr>
          <p:cNvPr id="12" name="Text 10"/>
          <p:cNvSpPr/>
          <p:nvPr/>
        </p:nvSpPr>
        <p:spPr>
          <a:xfrm>
            <a:off x="548640" y="2514600"/>
            <a:ext cx="1005840" cy="594360"/>
          </a:xfrm>
          <a:prstGeom prst="rect">
            <a:avLst/>
          </a:prstGeom>
          <a:noFill/>
          <a:ln/>
        </p:spPr>
        <p:txBody>
          <a:bodyPr wrap="square" rtlCol="0" anchor="ctr"/>
          <a:lstStyle/>
          <a:p>
            <a:pPr algn="ctr" indent="0" marL="0">
              <a:buNone/>
            </a:pPr>
            <a:r>
              <a:rPr lang="en-US" sz="2000" b="1" dirty="0">
                <a:solidFill>
                  <a:srgbClr val="00B4D8"/>
                </a:solidFill>
                <a:latin typeface="Calibri" pitchFamily="34" charset="0"/>
                <a:ea typeface="Calibri" pitchFamily="34" charset="-122"/>
                <a:cs typeface="Calibri" pitchFamily="34" charset="-120"/>
              </a:rPr>
              <a:t>3 BC</a:t>
            </a:r>
            <a:endParaRPr lang="en-US" sz="2000" dirty="0"/>
          </a:p>
        </p:txBody>
      </p:sp>
      <p:sp>
        <p:nvSpPr>
          <p:cNvPr id="13" name="Shape 11"/>
          <p:cNvSpPr/>
          <p:nvPr/>
        </p:nvSpPr>
        <p:spPr>
          <a:xfrm>
            <a:off x="1600200" y="2615184"/>
            <a:ext cx="36576" cy="365760"/>
          </a:xfrm>
          <a:prstGeom prst="rect">
            <a:avLst/>
          </a:prstGeom>
          <a:solidFill>
            <a:srgbClr val="00B4D8">
              <a:alpha val="50000"/>
            </a:srgbClr>
          </a:solidFill>
          <a:ln w="12700">
            <a:solidFill>
              <a:srgbClr val="00B4D8">
                <a:alpha val="50000"/>
              </a:srgbClr>
            </a:solidFill>
            <a:prstDash val="solid"/>
          </a:ln>
        </p:spPr>
      </p:sp>
      <p:sp>
        <p:nvSpPr>
          <p:cNvPr id="14" name="Text 12"/>
          <p:cNvSpPr/>
          <p:nvPr/>
        </p:nvSpPr>
        <p:spPr>
          <a:xfrm>
            <a:off x="1691640" y="2551176"/>
            <a:ext cx="2468880" cy="530352"/>
          </a:xfrm>
          <a:prstGeom prst="rect">
            <a:avLst/>
          </a:prstGeom>
          <a:noFill/>
          <a:ln/>
        </p:spPr>
        <p:txBody>
          <a:bodyPr wrap="square" rtlCol="0" anchor="ctr"/>
          <a:lstStyle/>
          <a:p>
            <a:pPr indent="0" marL="0">
              <a:buNone/>
            </a:pPr>
            <a:r>
              <a:rPr lang="en-US" sz="1200" dirty="0">
                <a:solidFill>
                  <a:srgbClr val="E8F4F8"/>
                </a:solidFill>
                <a:latin typeface="Calibri" pitchFamily="34" charset="0"/>
                <a:ea typeface="Calibri" pitchFamily="34" charset="-122"/>
                <a:cs typeface="Calibri" pitchFamily="34" charset="-120"/>
              </a:rPr>
              <a:t>Bounded Contexts DDD correctamente separados</a:t>
            </a:r>
            <a:endParaRPr lang="en-US" sz="1200" dirty="0"/>
          </a:p>
        </p:txBody>
      </p:sp>
      <p:sp>
        <p:nvSpPr>
          <p:cNvPr id="15" name="Shape 13"/>
          <p:cNvSpPr/>
          <p:nvPr/>
        </p:nvSpPr>
        <p:spPr>
          <a:xfrm>
            <a:off x="457200" y="3236976"/>
            <a:ext cx="3840480" cy="667512"/>
          </a:xfrm>
          <a:prstGeom prst="rect">
            <a:avLst/>
          </a:prstGeom>
          <a:solidFill>
            <a:srgbClr val="0A1628"/>
          </a:solidFill>
          <a:ln w="12700">
            <a:solidFill>
              <a:srgbClr val="1A3A5C"/>
            </a:solidFill>
            <a:prstDash val="solid"/>
          </a:ln>
        </p:spPr>
      </p:sp>
      <p:sp>
        <p:nvSpPr>
          <p:cNvPr id="16" name="Text 14"/>
          <p:cNvSpPr/>
          <p:nvPr/>
        </p:nvSpPr>
        <p:spPr>
          <a:xfrm>
            <a:off x="548640" y="3273552"/>
            <a:ext cx="1005840" cy="594360"/>
          </a:xfrm>
          <a:prstGeom prst="rect">
            <a:avLst/>
          </a:prstGeom>
          <a:noFill/>
          <a:ln/>
        </p:spPr>
        <p:txBody>
          <a:bodyPr wrap="square" rtlCol="0" anchor="ctr"/>
          <a:lstStyle/>
          <a:p>
            <a:pPr algn="ctr" indent="0" marL="0">
              <a:buNone/>
            </a:pPr>
            <a:r>
              <a:rPr lang="en-US" sz="2000" b="1" dirty="0">
                <a:solidFill>
                  <a:srgbClr val="00B4D8"/>
                </a:solidFill>
                <a:latin typeface="Calibri" pitchFamily="34" charset="0"/>
                <a:ea typeface="Calibri" pitchFamily="34" charset="-122"/>
                <a:cs typeface="Calibri" pitchFamily="34" charset="-120"/>
              </a:rPr>
              <a:t>100%</a:t>
            </a:r>
            <a:endParaRPr lang="en-US" sz="2000" dirty="0"/>
          </a:p>
        </p:txBody>
      </p:sp>
      <p:sp>
        <p:nvSpPr>
          <p:cNvPr id="17" name="Shape 15"/>
          <p:cNvSpPr/>
          <p:nvPr/>
        </p:nvSpPr>
        <p:spPr>
          <a:xfrm>
            <a:off x="1600200" y="3374136"/>
            <a:ext cx="36576" cy="365760"/>
          </a:xfrm>
          <a:prstGeom prst="rect">
            <a:avLst/>
          </a:prstGeom>
          <a:solidFill>
            <a:srgbClr val="00B4D8">
              <a:alpha val="50000"/>
            </a:srgbClr>
          </a:solidFill>
          <a:ln w="12700">
            <a:solidFill>
              <a:srgbClr val="00B4D8">
                <a:alpha val="50000"/>
              </a:srgbClr>
            </a:solidFill>
            <a:prstDash val="solid"/>
          </a:ln>
        </p:spPr>
      </p:sp>
      <p:sp>
        <p:nvSpPr>
          <p:cNvPr id="18" name="Text 16"/>
          <p:cNvSpPr/>
          <p:nvPr/>
        </p:nvSpPr>
        <p:spPr>
          <a:xfrm>
            <a:off x="1691640" y="3310128"/>
            <a:ext cx="2468880" cy="530352"/>
          </a:xfrm>
          <a:prstGeom prst="rect">
            <a:avLst/>
          </a:prstGeom>
          <a:noFill/>
          <a:ln/>
        </p:spPr>
        <p:txBody>
          <a:bodyPr wrap="square" rtlCol="0" anchor="ctr"/>
          <a:lstStyle/>
          <a:p>
            <a:pPr indent="0" marL="0">
              <a:buNone/>
            </a:pPr>
            <a:r>
              <a:rPr lang="en-US" sz="1200" dirty="0">
                <a:solidFill>
                  <a:srgbClr val="E8F4F8"/>
                </a:solidFill>
                <a:latin typeface="Calibri" pitchFamily="34" charset="0"/>
                <a:ea typeface="Calibri" pitchFamily="34" charset="-122"/>
                <a:cs typeface="Calibri" pitchFamily="34" charset="-120"/>
              </a:rPr>
              <a:t>Trazabilidad de carga con MongoDB documental</a:t>
            </a:r>
            <a:endParaRPr lang="en-US" sz="1200" dirty="0"/>
          </a:p>
        </p:txBody>
      </p:sp>
      <p:sp>
        <p:nvSpPr>
          <p:cNvPr id="19" name="Shape 17"/>
          <p:cNvSpPr/>
          <p:nvPr/>
        </p:nvSpPr>
        <p:spPr>
          <a:xfrm>
            <a:off x="457200" y="3995928"/>
            <a:ext cx="3840480" cy="667512"/>
          </a:xfrm>
          <a:prstGeom prst="rect">
            <a:avLst/>
          </a:prstGeom>
          <a:solidFill>
            <a:srgbClr val="0A1628"/>
          </a:solidFill>
          <a:ln w="12700">
            <a:solidFill>
              <a:srgbClr val="1A3A5C"/>
            </a:solidFill>
            <a:prstDash val="solid"/>
          </a:ln>
        </p:spPr>
      </p:sp>
      <p:sp>
        <p:nvSpPr>
          <p:cNvPr id="20" name="Text 18"/>
          <p:cNvSpPr/>
          <p:nvPr/>
        </p:nvSpPr>
        <p:spPr>
          <a:xfrm>
            <a:off x="548640" y="4032504"/>
            <a:ext cx="1005840" cy="594360"/>
          </a:xfrm>
          <a:prstGeom prst="rect">
            <a:avLst/>
          </a:prstGeom>
          <a:noFill/>
          <a:ln/>
        </p:spPr>
        <p:txBody>
          <a:bodyPr wrap="square" rtlCol="0" anchor="ctr"/>
          <a:lstStyle/>
          <a:p>
            <a:pPr algn="ctr" indent="0" marL="0">
              <a:buNone/>
            </a:pPr>
            <a:r>
              <a:rPr lang="en-US" sz="2000" b="1" dirty="0">
                <a:solidFill>
                  <a:srgbClr val="00B4D8"/>
                </a:solidFill>
                <a:latin typeface="Calibri" pitchFamily="34" charset="0"/>
                <a:ea typeface="Calibri" pitchFamily="34" charset="-122"/>
                <a:cs typeface="Calibri" pitchFamily="34" charset="-120"/>
              </a:rPr>
              <a:t>3 SVC</a:t>
            </a:r>
            <a:endParaRPr lang="en-US" sz="2000" dirty="0"/>
          </a:p>
        </p:txBody>
      </p:sp>
      <p:sp>
        <p:nvSpPr>
          <p:cNvPr id="21" name="Shape 19"/>
          <p:cNvSpPr/>
          <p:nvPr/>
        </p:nvSpPr>
        <p:spPr>
          <a:xfrm>
            <a:off x="1600200" y="4133088"/>
            <a:ext cx="36576" cy="365760"/>
          </a:xfrm>
          <a:prstGeom prst="rect">
            <a:avLst/>
          </a:prstGeom>
          <a:solidFill>
            <a:srgbClr val="00B4D8">
              <a:alpha val="50000"/>
            </a:srgbClr>
          </a:solidFill>
          <a:ln w="12700">
            <a:solidFill>
              <a:srgbClr val="00B4D8">
                <a:alpha val="50000"/>
              </a:srgbClr>
            </a:solidFill>
            <a:prstDash val="solid"/>
          </a:ln>
        </p:spPr>
      </p:sp>
      <p:sp>
        <p:nvSpPr>
          <p:cNvPr id="22" name="Text 20"/>
          <p:cNvSpPr/>
          <p:nvPr/>
        </p:nvSpPr>
        <p:spPr>
          <a:xfrm>
            <a:off x="1691640" y="4069080"/>
            <a:ext cx="2468880" cy="530352"/>
          </a:xfrm>
          <a:prstGeom prst="rect">
            <a:avLst/>
          </a:prstGeom>
          <a:noFill/>
          <a:ln/>
        </p:spPr>
        <p:txBody>
          <a:bodyPr wrap="square" rtlCol="0" anchor="ctr"/>
          <a:lstStyle/>
          <a:p>
            <a:pPr indent="0" marL="0">
              <a:buNone/>
            </a:pPr>
            <a:r>
              <a:rPr lang="en-US" sz="1200" dirty="0">
                <a:solidFill>
                  <a:srgbClr val="E8F4F8"/>
                </a:solidFill>
                <a:latin typeface="Calibri" pitchFamily="34" charset="0"/>
                <a:ea typeface="Calibri" pitchFamily="34" charset="-122"/>
                <a:cs typeface="Calibri" pitchFamily="34" charset="-120"/>
              </a:rPr>
              <a:t>Servicios de dominio: Sync, Geo, ETA</a:t>
            </a:r>
            <a:endParaRPr lang="en-US" sz="1200" dirty="0"/>
          </a:p>
        </p:txBody>
      </p:sp>
      <p:sp>
        <p:nvSpPr>
          <p:cNvPr id="23" name="Shape 21"/>
          <p:cNvSpPr/>
          <p:nvPr/>
        </p:nvSpPr>
        <p:spPr>
          <a:xfrm>
            <a:off x="4663440" y="1143000"/>
            <a:ext cx="4160520" cy="3657600"/>
          </a:xfrm>
          <a:prstGeom prst="rect">
            <a:avLst/>
          </a:prstGeom>
          <a:solidFill>
            <a:srgbClr val="112236"/>
          </a:solidFill>
          <a:ln w="12700">
            <a:solidFill>
              <a:srgbClr val="00ED64"/>
            </a:solidFill>
            <a:prstDash val="solid"/>
          </a:ln>
          <a:effectLst>
            <a:outerShdw sx="100000" sy="100000" kx="0" ky="0" algn="bl" rotWithShape="0" blurRad="101600" dist="38100" dir="8100000">
              <a:srgbClr val="000000">
                <a:alpha val="25000"/>
              </a:srgbClr>
            </a:outerShdw>
          </a:effectLst>
        </p:spPr>
      </p:sp>
      <p:sp>
        <p:nvSpPr>
          <p:cNvPr id="24" name="Text 22"/>
          <p:cNvSpPr/>
          <p:nvPr/>
        </p:nvSpPr>
        <p:spPr>
          <a:xfrm>
            <a:off x="4800600" y="1234440"/>
            <a:ext cx="3840480" cy="347472"/>
          </a:xfrm>
          <a:prstGeom prst="rect">
            <a:avLst/>
          </a:prstGeom>
          <a:noFill/>
          <a:ln/>
        </p:spPr>
        <p:txBody>
          <a:bodyPr wrap="square" rtlCol="0" anchor="ctr"/>
          <a:lstStyle/>
          <a:p>
            <a:pPr indent="0" marL="0">
              <a:buNone/>
            </a:pPr>
            <a:r>
              <a:rPr lang="en-US" sz="1400" b="1" dirty="0">
                <a:solidFill>
                  <a:srgbClr val="00ED64"/>
                </a:solidFill>
                <a:latin typeface="Calibri" pitchFamily="34" charset="0"/>
                <a:ea typeface="Calibri" pitchFamily="34" charset="-122"/>
                <a:cs typeface="Calibri" pitchFamily="34" charset="-120"/>
              </a:rPr>
              <a:t>VISIÓN DE ESCALABILIDAD</a:t>
            </a:r>
            <a:endParaRPr lang="en-US" sz="1400" dirty="0"/>
          </a:p>
        </p:txBody>
      </p:sp>
      <p:sp>
        <p:nvSpPr>
          <p:cNvPr id="25" name="Shape 23"/>
          <p:cNvSpPr/>
          <p:nvPr/>
        </p:nvSpPr>
        <p:spPr>
          <a:xfrm>
            <a:off x="4800600" y="1719072"/>
            <a:ext cx="3840480" cy="667512"/>
          </a:xfrm>
          <a:prstGeom prst="rect">
            <a:avLst/>
          </a:prstGeom>
          <a:solidFill>
            <a:srgbClr val="0A1628"/>
          </a:solidFill>
          <a:ln w="12700">
            <a:solidFill>
              <a:srgbClr val="FF4444"/>
            </a:solidFill>
            <a:prstDash val="solid"/>
          </a:ln>
        </p:spPr>
      </p:sp>
      <p:sp>
        <p:nvSpPr>
          <p:cNvPr id="26" name="Shape 24"/>
          <p:cNvSpPr/>
          <p:nvPr/>
        </p:nvSpPr>
        <p:spPr>
          <a:xfrm>
            <a:off x="4800600" y="1719072"/>
            <a:ext cx="64008" cy="667512"/>
          </a:xfrm>
          <a:prstGeom prst="rect">
            <a:avLst/>
          </a:prstGeom>
          <a:solidFill>
            <a:srgbClr val="FF4444"/>
          </a:solidFill>
          <a:ln w="12700">
            <a:solidFill>
              <a:srgbClr val="FF4444"/>
            </a:solidFill>
            <a:prstDash val="solid"/>
          </a:ln>
        </p:spPr>
      </p:sp>
      <p:sp>
        <p:nvSpPr>
          <p:cNvPr id="27" name="Text 25"/>
          <p:cNvSpPr/>
          <p:nvPr/>
        </p:nvSpPr>
        <p:spPr>
          <a:xfrm>
            <a:off x="4919472" y="1755648"/>
            <a:ext cx="640080" cy="256032"/>
          </a:xfrm>
          <a:prstGeom prst="rect">
            <a:avLst/>
          </a:prstGeom>
          <a:noFill/>
          <a:ln/>
        </p:spPr>
        <p:txBody>
          <a:bodyPr wrap="square" rtlCol="0" anchor="ctr"/>
          <a:lstStyle/>
          <a:p>
            <a:pPr indent="0" marL="0">
              <a:buNone/>
            </a:pPr>
            <a:r>
              <a:rPr lang="en-US" sz="900" b="1" dirty="0">
                <a:solidFill>
                  <a:srgbClr val="FF4444"/>
                </a:solidFill>
                <a:latin typeface="Calibri" pitchFamily="34" charset="0"/>
                <a:ea typeface="Calibri" pitchFamily="34" charset="-122"/>
                <a:cs typeface="Calibri" pitchFamily="34" charset="-120"/>
              </a:rPr>
              <a:t>v2.0</a:t>
            </a:r>
            <a:endParaRPr lang="en-US" sz="900" dirty="0"/>
          </a:p>
        </p:txBody>
      </p:sp>
      <p:sp>
        <p:nvSpPr>
          <p:cNvPr id="28" name="Text 26"/>
          <p:cNvSpPr/>
          <p:nvPr/>
        </p:nvSpPr>
        <p:spPr>
          <a:xfrm>
            <a:off x="5596128" y="1755648"/>
            <a:ext cx="2926080" cy="256032"/>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Redis Cluster</a:t>
            </a:r>
            <a:endParaRPr lang="en-US" sz="1200" dirty="0"/>
          </a:p>
        </p:txBody>
      </p:sp>
      <p:sp>
        <p:nvSpPr>
          <p:cNvPr id="29" name="Text 27"/>
          <p:cNvSpPr/>
          <p:nvPr/>
        </p:nvSpPr>
        <p:spPr>
          <a:xfrm>
            <a:off x="4919472" y="2048256"/>
            <a:ext cx="3611880" cy="292608"/>
          </a:xfrm>
          <a:prstGeom prst="rect">
            <a:avLst/>
          </a:prstGeom>
          <a:noFill/>
          <a:ln/>
        </p:spPr>
        <p:txBody>
          <a:bodyPr wrap="square" rtlCol="0" anchor="ctr"/>
          <a:lstStyle/>
          <a:p>
            <a:pPr indent="0" marL="0">
              <a:buNone/>
            </a:pPr>
            <a:r>
              <a:rPr lang="en-US" sz="1050" dirty="0">
                <a:solidFill>
                  <a:srgbClr val="8BA8BE"/>
                </a:solidFill>
                <a:latin typeface="Calibri" pitchFamily="34" charset="0"/>
                <a:ea typeface="Calibri" pitchFamily="34" charset="-122"/>
                <a:cs typeface="Calibri" pitchFamily="34" charset="-120"/>
              </a:rPr>
              <a:t>Escalado horizontal sin downtime para miles de aeronaves concurrentes</a:t>
            </a:r>
            <a:endParaRPr lang="en-US" sz="1050" dirty="0"/>
          </a:p>
        </p:txBody>
      </p:sp>
      <p:sp>
        <p:nvSpPr>
          <p:cNvPr id="30" name="Shape 28"/>
          <p:cNvSpPr/>
          <p:nvPr/>
        </p:nvSpPr>
        <p:spPr>
          <a:xfrm>
            <a:off x="4800600" y="2478024"/>
            <a:ext cx="3840480" cy="667512"/>
          </a:xfrm>
          <a:prstGeom prst="rect">
            <a:avLst/>
          </a:prstGeom>
          <a:solidFill>
            <a:srgbClr val="0A1628"/>
          </a:solidFill>
          <a:ln w="12700">
            <a:solidFill>
              <a:srgbClr val="00ED64"/>
            </a:solidFill>
            <a:prstDash val="solid"/>
          </a:ln>
        </p:spPr>
      </p:sp>
      <p:sp>
        <p:nvSpPr>
          <p:cNvPr id="31" name="Shape 29"/>
          <p:cNvSpPr/>
          <p:nvPr/>
        </p:nvSpPr>
        <p:spPr>
          <a:xfrm>
            <a:off x="4800600" y="2478024"/>
            <a:ext cx="64008" cy="667512"/>
          </a:xfrm>
          <a:prstGeom prst="rect">
            <a:avLst/>
          </a:prstGeom>
          <a:solidFill>
            <a:srgbClr val="00ED64"/>
          </a:solidFill>
          <a:ln w="12700">
            <a:solidFill>
              <a:srgbClr val="00ED64"/>
            </a:solidFill>
            <a:prstDash val="solid"/>
          </a:ln>
        </p:spPr>
      </p:sp>
      <p:sp>
        <p:nvSpPr>
          <p:cNvPr id="32" name="Text 30"/>
          <p:cNvSpPr/>
          <p:nvPr/>
        </p:nvSpPr>
        <p:spPr>
          <a:xfrm>
            <a:off x="4919472" y="2514600"/>
            <a:ext cx="640080" cy="256032"/>
          </a:xfrm>
          <a:prstGeom prst="rect">
            <a:avLst/>
          </a:prstGeom>
          <a:noFill/>
          <a:ln/>
        </p:spPr>
        <p:txBody>
          <a:bodyPr wrap="square" rtlCol="0" anchor="ctr"/>
          <a:lstStyle/>
          <a:p>
            <a:pPr indent="0" marL="0">
              <a:buNone/>
            </a:pPr>
            <a:r>
              <a:rPr lang="en-US" sz="900" b="1" dirty="0">
                <a:solidFill>
                  <a:srgbClr val="00ED64"/>
                </a:solidFill>
                <a:latin typeface="Calibri" pitchFamily="34" charset="0"/>
                <a:ea typeface="Calibri" pitchFamily="34" charset="-122"/>
                <a:cs typeface="Calibri" pitchFamily="34" charset="-120"/>
              </a:rPr>
              <a:t>v2.1</a:t>
            </a:r>
            <a:endParaRPr lang="en-US" sz="900" dirty="0"/>
          </a:p>
        </p:txBody>
      </p:sp>
      <p:sp>
        <p:nvSpPr>
          <p:cNvPr id="33" name="Text 31"/>
          <p:cNvSpPr/>
          <p:nvPr/>
        </p:nvSpPr>
        <p:spPr>
          <a:xfrm>
            <a:off x="5596128" y="2514600"/>
            <a:ext cx="2926080" cy="256032"/>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MongoDB Atlas</a:t>
            </a:r>
            <a:endParaRPr lang="en-US" sz="1200" dirty="0"/>
          </a:p>
        </p:txBody>
      </p:sp>
      <p:sp>
        <p:nvSpPr>
          <p:cNvPr id="34" name="Text 32"/>
          <p:cNvSpPr/>
          <p:nvPr/>
        </p:nvSpPr>
        <p:spPr>
          <a:xfrm>
            <a:off x="4919472" y="2807208"/>
            <a:ext cx="3611880" cy="292608"/>
          </a:xfrm>
          <a:prstGeom prst="rect">
            <a:avLst/>
          </a:prstGeom>
          <a:noFill/>
          <a:ln/>
        </p:spPr>
        <p:txBody>
          <a:bodyPr wrap="square" rtlCol="0" anchor="ctr"/>
          <a:lstStyle/>
          <a:p>
            <a:pPr indent="0" marL="0">
              <a:buNone/>
            </a:pPr>
            <a:r>
              <a:rPr lang="en-US" sz="1050" dirty="0">
                <a:solidFill>
                  <a:srgbClr val="8BA8BE"/>
                </a:solidFill>
                <a:latin typeface="Calibri" pitchFamily="34" charset="0"/>
                <a:ea typeface="Calibri" pitchFamily="34" charset="-122"/>
                <a:cs typeface="Calibri" pitchFamily="34" charset="-120"/>
              </a:rPr>
              <a:t>Replicación geográfica multi-región para alta disponibilidad global</a:t>
            </a:r>
            <a:endParaRPr lang="en-US" sz="1050" dirty="0"/>
          </a:p>
        </p:txBody>
      </p:sp>
      <p:sp>
        <p:nvSpPr>
          <p:cNvPr id="35" name="Shape 33"/>
          <p:cNvSpPr/>
          <p:nvPr/>
        </p:nvSpPr>
        <p:spPr>
          <a:xfrm>
            <a:off x="4800600" y="3236976"/>
            <a:ext cx="3840480" cy="667512"/>
          </a:xfrm>
          <a:prstGeom prst="rect">
            <a:avLst/>
          </a:prstGeom>
          <a:solidFill>
            <a:srgbClr val="0A1628"/>
          </a:solidFill>
          <a:ln w="12700">
            <a:solidFill>
              <a:srgbClr val="FFD43B"/>
            </a:solidFill>
            <a:prstDash val="solid"/>
          </a:ln>
        </p:spPr>
      </p:sp>
      <p:sp>
        <p:nvSpPr>
          <p:cNvPr id="36" name="Shape 34"/>
          <p:cNvSpPr/>
          <p:nvPr/>
        </p:nvSpPr>
        <p:spPr>
          <a:xfrm>
            <a:off x="4800600" y="3236976"/>
            <a:ext cx="64008" cy="667512"/>
          </a:xfrm>
          <a:prstGeom prst="rect">
            <a:avLst/>
          </a:prstGeom>
          <a:solidFill>
            <a:srgbClr val="FFD43B"/>
          </a:solidFill>
          <a:ln w="12700">
            <a:solidFill>
              <a:srgbClr val="FFD43B"/>
            </a:solidFill>
            <a:prstDash val="solid"/>
          </a:ln>
        </p:spPr>
      </p:sp>
      <p:sp>
        <p:nvSpPr>
          <p:cNvPr id="37" name="Text 35"/>
          <p:cNvSpPr/>
          <p:nvPr/>
        </p:nvSpPr>
        <p:spPr>
          <a:xfrm>
            <a:off x="4919472" y="3273552"/>
            <a:ext cx="640080" cy="256032"/>
          </a:xfrm>
          <a:prstGeom prst="rect">
            <a:avLst/>
          </a:prstGeom>
          <a:noFill/>
          <a:ln/>
        </p:spPr>
        <p:txBody>
          <a:bodyPr wrap="square" rtlCol="0" anchor="ctr"/>
          <a:lstStyle/>
          <a:p>
            <a:pPr indent="0" marL="0">
              <a:buNone/>
            </a:pPr>
            <a:r>
              <a:rPr lang="en-US" sz="900" b="1" dirty="0">
                <a:solidFill>
                  <a:srgbClr val="FFD43B"/>
                </a:solidFill>
                <a:latin typeface="Calibri" pitchFamily="34" charset="0"/>
                <a:ea typeface="Calibri" pitchFamily="34" charset="-122"/>
                <a:cs typeface="Calibri" pitchFamily="34" charset="-120"/>
              </a:rPr>
              <a:t>v3.0</a:t>
            </a:r>
            <a:endParaRPr lang="en-US" sz="900" dirty="0"/>
          </a:p>
        </p:txBody>
      </p:sp>
      <p:sp>
        <p:nvSpPr>
          <p:cNvPr id="38" name="Text 36"/>
          <p:cNvSpPr/>
          <p:nvPr/>
        </p:nvSpPr>
        <p:spPr>
          <a:xfrm>
            <a:off x="5596128" y="3273552"/>
            <a:ext cx="2926080" cy="256032"/>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ML Predictivo</a:t>
            </a:r>
            <a:endParaRPr lang="en-US" sz="1200" dirty="0"/>
          </a:p>
        </p:txBody>
      </p:sp>
      <p:sp>
        <p:nvSpPr>
          <p:cNvPr id="39" name="Text 37"/>
          <p:cNvSpPr/>
          <p:nvPr/>
        </p:nvSpPr>
        <p:spPr>
          <a:xfrm>
            <a:off x="4919472" y="3566160"/>
            <a:ext cx="3611880" cy="292608"/>
          </a:xfrm>
          <a:prstGeom prst="rect">
            <a:avLst/>
          </a:prstGeom>
          <a:noFill/>
          <a:ln/>
        </p:spPr>
        <p:txBody>
          <a:bodyPr wrap="square" rtlCol="0" anchor="ctr"/>
          <a:lstStyle/>
          <a:p>
            <a:pPr indent="0" marL="0">
              <a:buNone/>
            </a:pPr>
            <a:r>
              <a:rPr lang="en-US" sz="1050" dirty="0">
                <a:solidFill>
                  <a:srgbClr val="8BA8BE"/>
                </a:solidFill>
                <a:latin typeface="Calibri" pitchFamily="34" charset="0"/>
                <a:ea typeface="Calibri" pitchFamily="34" charset="-122"/>
                <a:cs typeface="Calibri" pitchFamily="34" charset="-120"/>
              </a:rPr>
              <a:t>Modelos de aprendizaje sobre históricos de MongoDB para ETA preciso</a:t>
            </a:r>
            <a:endParaRPr lang="en-US" sz="1050" dirty="0"/>
          </a:p>
        </p:txBody>
      </p:sp>
      <p:sp>
        <p:nvSpPr>
          <p:cNvPr id="40" name="Shape 38"/>
          <p:cNvSpPr/>
          <p:nvPr/>
        </p:nvSpPr>
        <p:spPr>
          <a:xfrm>
            <a:off x="4800600" y="3995928"/>
            <a:ext cx="3840480" cy="667512"/>
          </a:xfrm>
          <a:prstGeom prst="rect">
            <a:avLst/>
          </a:prstGeom>
          <a:solidFill>
            <a:srgbClr val="0A1628"/>
          </a:solidFill>
          <a:ln w="12700">
            <a:solidFill>
              <a:srgbClr val="00B4D8"/>
            </a:solidFill>
            <a:prstDash val="solid"/>
          </a:ln>
        </p:spPr>
      </p:sp>
      <p:sp>
        <p:nvSpPr>
          <p:cNvPr id="41" name="Shape 39"/>
          <p:cNvSpPr/>
          <p:nvPr/>
        </p:nvSpPr>
        <p:spPr>
          <a:xfrm>
            <a:off x="4800600" y="3995928"/>
            <a:ext cx="64008" cy="667512"/>
          </a:xfrm>
          <a:prstGeom prst="rect">
            <a:avLst/>
          </a:prstGeom>
          <a:solidFill>
            <a:srgbClr val="00B4D8"/>
          </a:solidFill>
          <a:ln w="12700">
            <a:solidFill>
              <a:srgbClr val="00B4D8"/>
            </a:solidFill>
            <a:prstDash val="solid"/>
          </a:ln>
        </p:spPr>
      </p:sp>
      <p:sp>
        <p:nvSpPr>
          <p:cNvPr id="42" name="Text 40"/>
          <p:cNvSpPr/>
          <p:nvPr/>
        </p:nvSpPr>
        <p:spPr>
          <a:xfrm>
            <a:off x="4919472" y="4032504"/>
            <a:ext cx="640080" cy="256032"/>
          </a:xfrm>
          <a:prstGeom prst="rect">
            <a:avLst/>
          </a:prstGeom>
          <a:noFill/>
          <a:ln/>
        </p:spPr>
        <p:txBody>
          <a:bodyPr wrap="square" rtlCol="0" anchor="ctr"/>
          <a:lstStyle/>
          <a:p>
            <a:pPr indent="0" marL="0">
              <a:buNone/>
            </a:pPr>
            <a:r>
              <a:rPr lang="en-US" sz="900" b="1" dirty="0">
                <a:solidFill>
                  <a:srgbClr val="00B4D8"/>
                </a:solidFill>
                <a:latin typeface="Calibri" pitchFamily="34" charset="0"/>
                <a:ea typeface="Calibri" pitchFamily="34" charset="-122"/>
                <a:cs typeface="Calibri" pitchFamily="34" charset="-120"/>
              </a:rPr>
              <a:t>v3.5</a:t>
            </a:r>
            <a:endParaRPr lang="en-US" sz="900" dirty="0"/>
          </a:p>
        </p:txBody>
      </p:sp>
      <p:sp>
        <p:nvSpPr>
          <p:cNvPr id="43" name="Text 41"/>
          <p:cNvSpPr/>
          <p:nvPr/>
        </p:nvSpPr>
        <p:spPr>
          <a:xfrm>
            <a:off x="5596128" y="4032504"/>
            <a:ext cx="2926080" cy="256032"/>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Microservicios</a:t>
            </a:r>
            <a:endParaRPr lang="en-US" sz="1200" dirty="0"/>
          </a:p>
        </p:txBody>
      </p:sp>
      <p:sp>
        <p:nvSpPr>
          <p:cNvPr id="44" name="Text 42"/>
          <p:cNvSpPr/>
          <p:nvPr/>
        </p:nvSpPr>
        <p:spPr>
          <a:xfrm>
            <a:off x="4919472" y="4325112"/>
            <a:ext cx="3611880" cy="292608"/>
          </a:xfrm>
          <a:prstGeom prst="rect">
            <a:avLst/>
          </a:prstGeom>
          <a:noFill/>
          <a:ln/>
        </p:spPr>
        <p:txBody>
          <a:bodyPr wrap="square" rtlCol="0" anchor="ctr"/>
          <a:lstStyle/>
          <a:p>
            <a:pPr indent="0" marL="0">
              <a:buNone/>
            </a:pPr>
            <a:r>
              <a:rPr lang="en-US" sz="1050" dirty="0">
                <a:solidFill>
                  <a:srgbClr val="8BA8BE"/>
                </a:solidFill>
                <a:latin typeface="Calibri" pitchFamily="34" charset="0"/>
                <a:ea typeface="Calibri" pitchFamily="34" charset="-122"/>
                <a:cs typeface="Calibri" pitchFamily="34" charset="-120"/>
              </a:rPr>
              <a:t>Descomposición de Bounded Contexts en servicios Kubernetes-native</a:t>
            </a:r>
            <a:endParaRPr lang="en-US" sz="1050" dirty="0"/>
          </a:p>
        </p:txBody>
      </p:sp>
      <p:sp>
        <p:nvSpPr>
          <p:cNvPr id="45" name="Shape 43"/>
          <p:cNvSpPr/>
          <p:nvPr/>
        </p:nvSpPr>
        <p:spPr>
          <a:xfrm>
            <a:off x="0" y="4800600"/>
            <a:ext cx="9144000" cy="342900"/>
          </a:xfrm>
          <a:prstGeom prst="rect">
            <a:avLst/>
          </a:prstGeom>
          <a:solidFill>
            <a:srgbClr val="00B4D8"/>
          </a:solidFill>
          <a:ln w="12700">
            <a:solidFill>
              <a:srgbClr val="00B4D8"/>
            </a:solidFill>
            <a:prstDash val="solid"/>
          </a:ln>
        </p:spPr>
      </p:sp>
      <p:sp>
        <p:nvSpPr>
          <p:cNvPr id="46" name="Text 44"/>
          <p:cNvSpPr/>
          <p:nvPr/>
        </p:nvSpPr>
        <p:spPr>
          <a:xfrm>
            <a:off x="274320" y="4818888"/>
            <a:ext cx="8595360" cy="301752"/>
          </a:xfrm>
          <a:prstGeom prst="rect">
            <a:avLst/>
          </a:prstGeom>
          <a:noFill/>
          <a:ln/>
        </p:spPr>
        <p:txBody>
          <a:bodyPr wrap="square" rtlCol="0" anchor="ctr"/>
          <a:lstStyle/>
          <a:p>
            <a:pPr algn="ctr" indent="0" marL="0">
              <a:buNone/>
            </a:pPr>
            <a:r>
              <a:rPr lang="en-US" sz="1300" b="1" dirty="0">
                <a:solidFill>
                  <a:srgbClr val="0A1628"/>
                </a:solidFill>
                <a:latin typeface="Calibri" pitchFamily="34" charset="0"/>
                <a:ea typeface="Calibri" pitchFamily="34" charset="-122"/>
                <a:cs typeface="Calibri" pitchFamily="34" charset="-120"/>
              </a:rPr>
              <a:t>La arquitectura híbrida Redis + MongoDB + DDD es la base para un sistema de clase mundial en rastreo aéreo</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Rastreo Global de Vuelos y Logística en Tiempo Real</dc:title>
  <dc:subject>PptxGenJS Presentation</dc:subject>
  <dc:creator>PptxGenJS</dc:creator>
  <cp:lastModifiedBy>PptxGenJS</cp:lastModifiedBy>
  <cp:revision>1</cp:revision>
  <dcterms:created xsi:type="dcterms:W3CDTF">2026-04-24T19:33:10Z</dcterms:created>
  <dcterms:modified xsi:type="dcterms:W3CDTF">2026-04-24T19:33:10Z</dcterms:modified>
</cp:coreProperties>
</file>